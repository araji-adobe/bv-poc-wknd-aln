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everyone. Today I'll walk you through scheduled publishing in Edge Delivery Services: what it is, why marketers need it, how we did it manually, how Ema did it, and what happened when we tried the same task with Experience Workspace. After that I'll cover the three additional investigations Abhishek and Mohit asked for: what happens to assets when a page is unpublished, whether fragments and assets are published with a scheduled page, and whether assets can be unpublished based on expiry metadata. Everything I show was tested on our sandbox site, bv-poc-wknd-aln, between 19 and 22 October. Wherever something is only documented or not yet tested, I'll say so explicitly.
HOW TO EXPLAIN THE FINDINGS:
Set expectations: green "Tested" means we proved it on the site; blue "Documented" means Adobe's docs say it; amber "Limitation" is an observed constraint; grey "Unknown" means not tested yet.
TRANSITION:
"Let's start with what scheduling actually means in EDS."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Edge Delivery Services an author edits content in the editor, da.live. Clicking Preview creates a draft version on the .aem.page address. Clicking Publish copies that preview to the .aem.live address, which is what the public sees. Scheduled publishing simply automates that second step: it copies preview to live at a time you choose, so nobody has to be online at go-live.
CLICK / DEMONSTRATE:
Open the preview URL of /us/en/scheduled-publish-test, then the live URL. Point at the host names in the address bar.
AUDIENCE SHOULD OBSERVE:
The same page served from two hosts: .aem.page (preview) and .aem.live (live).
HOW TO EXPLAIN THE FINDINGS:
There are two independent schedulers on the same site. The editor's Schedule Publish is the author-facing one we enabled for the manual test. The schedule sheet, called the crontab, is an admin sheet of "when" and "command" rows; that is what Ema used on 19 October. Both were proven on our site.
EVIDENCE LABELS:
Tested: both mechanisms. Documented: preview/publish model (aem.live docs).
TRANSITION:
"So why does the business need this?"
LIKELY QUESTIONS AND ANSWERS:
Q: Are the two schedulers the same thing?
A: No. Our crontab tests on 19 October ran while the editor scheduler wasn't even registered for the site.
Q: Which one should authors use?
A: The editor one for single pages; the sheet for bulk publishing and scheduled unpublishing, which the editor dialog doesn't offer.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business problem is simple: content has to appear, and sometimes disappear, at an exact moment. Think of a product launch at midnight, an embargoed press release, a launch timed for another market, or a promotion that must end on time. Without scheduling, someone has to be online to click Publish. These four scenarios are illustrative, but every requirement in the table maps to something we actually tested.
HOW TO EXPLAIN THE FINDINGS:
Point out that "take content down on time" is only covered by the schedule sheet, which Ema used. The editor dialog we tested offers no scheduled unpublish.
EVIDENCE LABELS:
Scenarios: illustrative. Requirements table: Tested, except Snapshots (Documented).
TRANSITION:
"Let's look at the manual way first, without Ema."
LIKELY QUESTIONS AND ANSWERS:
Q: Can an author schedule an unpublish in the UI?
A: Not in the editor dialog we tested. Scheduled unpublish worked through the schedule sheet.
Q: What are Snapshots?
A: Adobe's documented way to publish a set of pages and resources together after review. We did not test scheduling a snapshot.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Schedule Publish is off by default. When we started, the site had no configuration at all and the editor had no Schedule Publish option. Enabling it took two switches. First, one row in the site configuration: a "prepare" tab with a row titled Schedule Publish. That makes the menu item appear. Second, registering the site in Adobe's scheduler app, so the background service actually runs jobs for us.
CLICK / DEMONSTRATE:
Open the site config and show the "prepare" tab with the row. Then open the scheduler app, enter /araji-adobe/bv-poc-wknd-aln/ and click Load schedules.
AUDIENCE SHOULD OBSERVE:
A one-row configuration, and the scheduler app showing the site's queue.
HOW TO EXPLAIN THE FINDINGS:
Two observations not in the docs: registration shows no success message, it simply switches to the queue view; and the audit log shows that registering created an admin API key for the site.
EVIDENCE LABELS:
Tested: before state, config row, registration. Documented: setup steps (link to the references, don't repeat them).
TRANSITION:
"With that in place, scheduling a page takes four clicks."
LIKELY QUESTIONS AND ANSWERS:
Q: Site or org level?
A: We used site level so only this site is affected. The docs allow either.
Q: Can it be limited to some users?
A: The docs mention the "ref" column for that. We left it empty and didn't test it.
Q: How do you unregister?
A: Not documented. Unknown.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Scheduling itself is four clicks: open the page, click the Prepare icon, choose Schedule Publish, set the time and click Schedule. Note the Prepare button is just an icon with no label, so people looking for the word "Prepare" won't find it. The docs claim that scheduling previews the page automatically. We tested that with a brand-new page that had never been previewed. The moment we clicked Schedule, a preview appeared.
CLICK / DEMONSTRATE:
Open the editor for /us/en/scheduled-publish-test, click the Prepare icon and show the menu. Optionally open Schedule Publish to show the dialog, then close it with X. Don't click Schedule.
AUDIENCE SHOULD OBSERVE:
The menu with Preflight, Unpublish and Schedule Publish; the dialog label "Schedule (Asia/Calcutta)" and the "Scheduled by… Reschedule?" text on a page that is already scheduled.
HOW TO EXPLAIN THE FINDINGS:
The auto-preview is important: you don't have to preview before the first schedule. The time zone comes from the author's browser, which matters for global teams.
EVIDENCE LABELS:
Tested: auto-preview, re-preview on reschedule, browser time zone. Documented: auto-preview claim.
TRANSITION:
"So what actually went live?"
LIKELY QUESTIONS AND ANSWERS:
Q: Do I need to preview before scheduling?
A: Not for the first schedule; it previews for you. But if you edit afterwards, see the next slide.
Q: What if authors are in different time zones?
A: The dialog uses each author's browser time zone and shows its name, so check that label.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we verified. The page went live 8 seconds after the scheduled minute, published by Adobe's system account. Then the key insight, which you can see in Figures 7 and 8: after scheduling, we added a V2 line in the editor without previewing it. At go-live, the live page showed only V1. The scheduler copies whatever is in preview; it doesn't re-preview the editor content. So the rule for authors is: edit, preview again, then let the schedule run.
CLICK / DEMONSTRATE:
Open the live test page. It now shows V1 and V2, because the later reschedule test re-previewed it.
AUDIENCE SHOULD OBSERVE:
Figure 7: the editor with two lines. Figure 8: the live page with only one.
HOW TO EXPLAIN THE FINDINGS:
The docs say scheduled publishing uses "the content as it exists at the time of the scheduled publish". Our test clarifies that this means the PREVIEWED content at that time, not the editor content.
EVIDENCE LABELS:
Tested: publish run, preview-only content, reschedule, delete. Limitation: no cancel inside the dialog; no scheduled unpublish in the dialog.
TRANSITION:
"We also checked the queue, rescheduling and cancelling."
LIKELY QUESTIONS AND ANSWERS:
Q: Why does the doc say "content as it exists at publish time"?
A: It means the previewed content at that time. We proved that editor-only changes don't go live.
Q: How precise is it?
A: Runs were 7–8 seconds after the minute (12:00:08, 12:30:07).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scheduler app is the central queue. It shows each scheduled item, when it will publish including the time zone and a countdown, and who requested it. To reschedule, you reopen the dialog on the page; the old time is prefilled, and only the new time runs. To cancel, you click Delete in the list. There's no confirmation prompt, the entry disappears, and the page never went live.
CLICK / DEMONSTRATE:
Open the scheduler app and click Load schedules. The queue is empty now, since all jobs ran or were deleted.
AUDIENCE SHOULD OBSERVE:
The queue columns and the Open / Delete actions.
HOW TO EXPLAIN THE FINDINGS:
Cancel lives only in the scheduler list, not in the page dialog. Be careful in a live demo: Delete has no confirmation.
EVIDENCE LABELS:
Tested: queue view (Figure 9), reschedule, delete (Figures 10 and 11).
TRANSITION:
"Now the same use case, done with Ema."
LIKELY QUESTIONS AND ANSWERS:
Q: Can a Delete be undone?
A: There's no confirmation and no undo that we saw; you would schedule again.
Q: Does the queue show crontab jobs?
A: Unknown. When we checked, the crontab only held past rows.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19 October Ema handled the same use case through the site's schedule sheet. It started read-only: it listed all 28 pages, checked which were unpublished, and worked out on its own that the site schedules through a crontab sheet. It proposed a timed plan, and it only changed anything after I approved. Then it wrote the rows, activated them by previewing the sheet, and checked every result itself by polling page status and Adobe's audit log. It also produced an evidence workbook.
CLICK / DEMONSTRATE:
Open the crontab sheet and show the five rows: when (UTC) and command.
AUDIENCE SHOULD OBSERVE:
Plain-language rows such as "at 10:30 am on the 19th day of October in 2026 | publish /us/en/adventures/beervana-portland".
HOW TO EXPLAIN THE FINDINGS:
Be transparent: we don't have the exact prompt text; the 19 October chat wasn't retained. This flow is reconstructed from Ema's own test log, which records 20 user entries and 24 Ema actions.
EVIDENCE LABELS:
Tested: flow and results (workbook + audit log). Reconstructed: interaction flow.
TRANSITION:
"And here are the results."
LIKELY QUESTIONS AND ANSWERS:
Q: Can we see the prompt?
A: It wasn't retained. The workbook records every approval and choice instead.
Q: Why the crontab and not the editor plugin?
A: On 19 October the editor plugin wasn't enabled yet. Ema found the mechanism that was available.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five tasks passed. A single publish, a cancellation, a reschedule, a bulk publish of four pages from one row, and a publish followed by a scheduled unpublish. Every run happened 4 to 6 seconds after its five-minute tick. And we verified it twice: Ema's own workbook, and independently, Adobe's audit log and page status, which I re-checked on 22 October.
CLICK / DEMONSTRATE:
Open the beervana-portland live page.
AUDIENCE SHOULD OBSERVE:
A page that went live purely from a schedule row.
HOW TO EXPLAIN THE FINDINGS:
Bulk and scheduled unpublish are things the editor dialog can't do, which is Ema's main functional advantage in this test.
EVIDENCE LABELS:
Tested: all five tasks.
TRANSITION:
"So what does Ema really add, and where are its limits?"
LIKELY QUESTIONS AND ANSWERS:
Q: How do we know Ema didn't just publish directly?
A: The audit log shows only sheet previews and system indexing entries; there are no direct publish calls.
Q: Are the pages still live?
A: Yes, except napa-wine-tasting (cancelled) and arctic-surfing (unpublished), as planned.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Comparing the two: Ema removes the setup and the mechanics, and adds bulk publishing and scheduled unpublishing. But it doesn't remove the human: I approved every change, and I had to stay in the session while it verified, because it can't wake up between messages. Its scheduling method also doesn't auto-preview, there's no queue view, and in the audit log its actions appear under my account, so you can't tell Ema from me.
HOW TO EXPLAIN THE FINDINGS:
Be careful not to claim speed: the 74-minute window on 19 October was set by the scheduled times, not by Ema's performance. The recorded facts are 20 user entries and 24 Ema actions.
EVIDENCE LABELS:
Tested: all rows. Limitation: no auto-preview, no queue, attribution, in-session monitoring, shared-sheet risk.
TRANSITION:
"We then asked Experience Workspace to do the same task."
LIKELY QUESTIONS AND ANSWERS:
Q: Is Ema faster than doing it manually?
A: We didn't measure that. For a single page, the editor is a few clicks; Ema's value is bulk, unpublish and built-in verification.
Q: Who is accountable for Ema's changes?
A: In the log they appear under the approving user's account, which is why the approval gates matter.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Mohit asked whether Experience Workspace could do the same thing, so I gave Experience Workspace the same five-task prompt, on eight equivalent pages, including hints about how scheduling works on this site. It didn't complete the task. It told us it has no real-time clock, so it couldn't calculate the times. When I gave it an exact time, 6:45 PM IST, it failed with errors reading and writing the schedule sheet. Its fallback advice also contained a past date and a wrong activation step. In the end, no schedule was created and no page was published.
CLICK / DEMONSTRATE:
If the Experience Workspace chat is still open, scroll to the "I cannot schedule a publish action" answer. Otherwise use Figures 13 and 14.
AUDIENCE SHOULD OBSERVE:
Experience Workspace itself stating the limitation, and the Bad Request errors.
HOW TO EXPLAIN THE FINDINGS:
Be precise: this was unsuccessful in our environment. Experience Workspace reported tool limitations (no clock, sheet read/write errors). We are not claiming Workspace can never schedule. Also mention: during its "no changes" pre-check it actually re-previewed all eight pages twice; harmless (preview only), but an unrequested change.
EVIDENCE LABELS:
Tested: all findings (screenshots + audit log). Not claimed: general unsupported status.
TRANSITION:
"Here's how it compares with Ema side by side."
LIKELY QUESTIONS AND ANSWERS:
Q: So Workspace can't schedule?
A: In our environment, with the tools it had on 22 October, it couldn't. We didn't test other configurations.
Q: Did it break anything?
A: No. It re-previewed eight pages; nothing went live. I added an incomplete row to the sheet myself while trying its fallback; it was never activated and I've since removed it.
Q: Was it given an advantage?
A: Yes, the prompt included hints Ema didn't have, and it still didn't complete it.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Ema completed all five tasks and proved it. Experience Workspace created no schedule. It needed fewer messages, four, but that's because it stopped early. It also produced six Bad Request errors, contradicted itself about reading the sheet, and made one unrequested change.
HOW TO EXPLAIN THE FINDINGS:
Don't over-interpret "4 messages vs 20": Ema's 20 include approvals and verification waits for five tasks that completed; Experience Workspace's 4 ended without a schedule.
EVIDENCE LABELS:
Tested: both columns. Limitation: Experience Workspace in our environment.
TRANSITION:
"Beyond the core demo, Abhishek and Mohit asked for three additional investigations."
LIKELY QUESTIONS AND ANSWERS:
Q: Would Experience Workspace work with a clock tool?
A: Possibly, but even with an exact time it failed on sheet access, so that alone wouldn't fix it. It's worth re-testing when the tools change.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additional investigation: what happens to assets when a page is unpublished. We created a page with a brand-new image, published it on schedule, then clicked Unpublish in the editor. The page disappeared from live, and also from preview, since the editor's Unpublish removes both. But the image did not disappear. Its address still loads the full original file, and it even loads under other folder paths.
CLICK / DEMONSTRATE:
Open the image URL. It still loads.
AUDIENCE SHOULD OBSERVE:
An image from a page that no longer exists.
HOW TO EXPLAIN THE FINDINGS:
EDS stores images in a permanent, content-addressed media store shared by preview and live. Unpublishing removes the page, not the media. The address is long and practically unguessable, but anyone who has it can still open it. On sitemaps: a page unpublished by schedule was removed from the sitemap. Our 22 October test pages were never in the sitemap because the index only covers adventures and magazine pages. Side note: the sitemap still points at the old site host, which needs a config fix.
EVIDENCE LABELS:
Tested: unpublish behaviour, sitemap removal. Limitation: image persists. Unknown: image removal.
TRANSITION:
"Second: when a page is scheduled, do its fragments and assets go with it?"
LIKELY QUESTIONS AND ANSWERS:
Q: Is this a security issue?
A: It's an embargo consideration: don't place sensitive images on previewed pages before launch. The URLs are unguessable but shareable.
Q: Can we delete the image?
A: We found no option in the editor. Other routes weren't tested.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Second: dependencies. We created a fragment and a page that uses it, and scheduled only the page. Neither preview nor scheduling noticed the fragment. The page went live without it, and visitors saw the raw fragment address as a yellow call-to-action button that leads to a 404. In preview it was a plain blue link, so the live site actually looked worse than what the author saw. When we then scheduled the fragment on its own, the page fixed itself without being republished, because fragments are fetched by the browser when the page loads. Images behaved differently: they're inside the page, so they went live with it.
CLICK / DEMONSTRATE:
Open the live fragment page. It now shows "Fragment test FRAG-V1" correctly.
AUDIENCE SHOULD OBSERVE:
The fixed page (as in Figure 19); contrast it with the yellow button in Figure 18.
HOW TO EXPLAIN THE FINDINGS:
EDS doesn't do dependency management. Content inside a page travels with it; anything referenced, like a fragment, has its own lifecycle. If several items must go live together, Snapshots are the documented bundle mechanism. We didn't test scheduling a snapshot.
EVIDENCE LABELS:
Tested: fragment and image tests. Documented: Snapshots. Unknown: snapshot scheduling. Out of scope: AEM Content Fragments.
TRANSITION:
"Finally, Abhishek's question: can an asset be unpublished based on its expiry metadata?"
LIKELY QUESTIONS AND ANSWERS:
Q: What about AEM Content Fragments?
A: This project has no AEM Content Fragment integration, so we tested EDS document fragments only.
Q: Why the 2-hour delay?
A: The fragment's earlier 404 response is cacheable for 7,200 seconds, so a browser that saw it may keep it. Our second check showed it refreshed sooner.
Q: How do we avoid this?
A: Publish or schedule fragments before, or at the same time as, the pages that use them.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Abhishek's question was: can I schedule an unpublish of an asset based on metadata? First, three things that sound alike: expiry metadata is just a label; publication status is what the system records; and availability is whether the URL still loads. In 7A we saw those can disagree. In EDS, assets carry no expiry metadata. Images can't be unpublished at all. PDFs can, since they have their own Preview and Publish buttons, but the editor only lets you schedule a publish for them. Its Unpublish option works immediately, not on a schedule. EDS can unpublish on a schedule by time, through the schedule sheet's unpublish command; we proved that for a page. So the answer is: by time, yes; by metadata, not natively. Something has to read the expiry date and turn it into a scheduled unpublish, for example Ema with approval, or a script.
CLICK / DEMONSTRATE:
Open the PDF in the editor's media viewer and point at Preview / Publish and the Prepare icon.
AUDIENCE SHOULD OBSERVE:
A PDF with its own publish controls, unlike an image.
HOW TO EXPLAIN THE FINDINGS:
AEM Assets has its own documented Off Time feature that withdraws assets from AEM delivery, but this site doesn't deliver assets from AEM, so it doesn't apply here and we didn't test it. The PDF unpublish run itself was not executed; that remains to validate.
EVIDENCE LABELS:
Tested: image unpublish, PDF controls, page unpublish via the sheet. Documented: no metadata-driven unpublishing; AEM Off Time. Still to validate: PDF scheduled unpublish; AEM Assets path.
TRANSITION:
"Let me bring it all together."
LIKELY QUESTIONS AND ANSWERS:
Q: So can Abhishek do it?
A: For PDFs, yes by time, using the schedule sheet. For metadata-driven expiry he needs automation that writes those rows. For images, no.
Q: Would AEM Assets solve it?
A: Off Time is documented for AEM-delivered assets. The site would first need to use assets from AEM; not tested here.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Everything on the left we proved on the site. Scheduling is easy to enable and reliable, it auto-previews, but it publishes the preview, so authors must preview again after editing. Ema completed every task, including bulk and unpublish, with approvals. Experience Workspace didn't complete the task in our environment. Fragments need their own publishing, images travel with the page but outlive it. My five recommendations are on the right.
TRANSITION:
"I'm happy to take questions. The full test logs are in the appendix."
LIKELY QUESTIONS AND ANSWERS:
Q: What would you do next?
A: Run the PDF scheduled-unpublish test, test scheduling a snapshot, fix the sitemap host, and re-test Experience Workspace when its tools change.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Happy to take questions.
HOW TO EXPLAIN THE FINDINGS:
Use the appendix to answer detail questions: A2 manual log, A3 Ema log, A4 Workspace log, A5–A7 additional investigations, A8 capability register, A9 open items.
LIKELY QUESTIONS AND ANSWERS:
Q: Where is the evidence?
A: Appendix plus the evidence folder: screenshots, Ema's workbook and the audit-log references.
Q: Can other teams reuse this?
A: Yes. The appendix is written as a reusable reference: environment, steps, results and the capability register.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Maps every figure in the deck to the test it evidences.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B1000"/>
          </a:solidFill>
          <a:ln w="12700">
            <a:solidFill>
              <a:srgbClr val="EB1000"/>
            </a:solidFill>
            <a:prstDash val="solid"/>
          </a:ln>
        </p:spPr>
      </p:sp>
      <p:pic>
        <p:nvPicPr>
          <p:cNvPr id="3" name="Image 0" descr="Adobe">    </p:cNvPr>
          <p:cNvPicPr>
            <a:picLocks noChangeAspect="1"/>
          </p:cNvPicPr>
          <p:nvPr/>
        </p:nvPicPr>
        <p:blipFill>
          <a:blip r:embed="rId1"/>
          <a:stretch>
            <a:fillRect/>
          </a:stretch>
        </p:blipFill>
        <p:spPr>
          <a:xfrm>
            <a:off x="731520" y="548640"/>
            <a:ext cx="1892808" cy="457200"/>
          </a:xfrm>
          <a:prstGeom prst="rect">
            <a:avLst/>
          </a:prstGeom>
        </p:spPr>
      </p:pic>
      <p:sp>
        <p:nvSpPr>
          <p:cNvPr id="4" name="Text 1"/>
          <p:cNvSpPr/>
          <p:nvPr/>
        </p:nvSpPr>
        <p:spPr>
          <a:xfrm>
            <a:off x="731520" y="1600200"/>
            <a:ext cx="10058400" cy="365760"/>
          </a:xfrm>
          <a:prstGeom prst="rect">
            <a:avLst/>
          </a:prstGeom>
          <a:noFill/>
          <a:ln/>
        </p:spPr>
        <p:txBody>
          <a:bodyPr wrap="square" rtlCol="0" anchor="ctr"/>
          <a:lstStyle/>
          <a:p>
            <a:pPr indent="0" marL="0">
              <a:buNone/>
            </a:pPr>
            <a:r>
              <a:rPr lang="en-US" sz="1400" b="1" spc="100" kern="0" dirty="0">
                <a:solidFill>
                  <a:srgbClr val="EB1000"/>
                </a:solidFill>
                <a:latin typeface="Arial" pitchFamily="34" charset="0"/>
                <a:ea typeface="Arial" pitchFamily="34" charset="-122"/>
                <a:cs typeface="Arial" pitchFamily="34" charset="-120"/>
              </a:rPr>
              <a:t>EDS  ·  Experience Workspace  ·  EMA</a:t>
            </a:r>
            <a:endParaRPr lang="en-US" sz="1400" dirty="0"/>
          </a:p>
        </p:txBody>
      </p:sp>
      <p:sp>
        <p:nvSpPr>
          <p:cNvPr id="5" name="Text 2"/>
          <p:cNvSpPr/>
          <p:nvPr/>
        </p:nvSpPr>
        <p:spPr>
          <a:xfrm>
            <a:off x="731520" y="2011680"/>
            <a:ext cx="10515600" cy="1005840"/>
          </a:xfrm>
          <a:prstGeom prst="rect">
            <a:avLst/>
          </a:prstGeom>
          <a:noFill/>
          <a:ln/>
        </p:spPr>
        <p:txBody>
          <a:bodyPr wrap="square" rtlCol="0" anchor="ctr"/>
          <a:lstStyle/>
          <a:p>
            <a:pPr indent="0" marL="0">
              <a:buNone/>
            </a:pPr>
            <a:r>
              <a:rPr lang="en-US" sz="3800" b="1" dirty="0">
                <a:solidFill>
                  <a:srgbClr val="2C2C2C"/>
                </a:solidFill>
                <a:latin typeface="Arial" pitchFamily="34" charset="0"/>
                <a:ea typeface="Arial" pitchFamily="34" charset="-122"/>
                <a:cs typeface="Arial" pitchFamily="34" charset="-120"/>
              </a:rPr>
              <a:t>Scheduled Publishing in Edge Delivery Services</a:t>
            </a:r>
            <a:endParaRPr lang="en-US" sz="3800" dirty="0"/>
          </a:p>
        </p:txBody>
      </p:sp>
      <p:sp>
        <p:nvSpPr>
          <p:cNvPr id="6" name="Text 3"/>
          <p:cNvSpPr/>
          <p:nvPr/>
        </p:nvSpPr>
        <p:spPr>
          <a:xfrm>
            <a:off x="731520" y="3017520"/>
            <a:ext cx="10515600" cy="457200"/>
          </a:xfrm>
          <a:prstGeom prst="rect">
            <a:avLst/>
          </a:prstGeom>
          <a:noFill/>
          <a:ln/>
        </p:spPr>
        <p:txBody>
          <a:bodyPr wrap="square" rtlCol="0" anchor="ctr"/>
          <a:lstStyle/>
          <a:p>
            <a:pPr indent="0" marL="0">
              <a:buNone/>
            </a:pPr>
            <a:r>
              <a:rPr lang="en-US" sz="1800" dirty="0">
                <a:solidFill>
                  <a:srgbClr val="6E6E6E"/>
                </a:solidFill>
                <a:latin typeface="Arial" pitchFamily="34" charset="0"/>
                <a:ea typeface="Arial" pitchFamily="34" charset="-122"/>
                <a:cs typeface="Arial" pitchFamily="34" charset="-120"/>
              </a:rPr>
              <a:t>Manual, Ema-assisted and Experience Workspace approaches, tested on a live sandbox</a:t>
            </a:r>
            <a:endParaRPr lang="en-US" sz="1800" dirty="0"/>
          </a:p>
        </p:txBody>
      </p:sp>
      <p:sp>
        <p:nvSpPr>
          <p:cNvPr id="7" name="Text 4"/>
          <p:cNvSpPr/>
          <p:nvPr/>
        </p:nvSpPr>
        <p:spPr>
          <a:xfrm>
            <a:off x="731520" y="3657600"/>
            <a:ext cx="10058400" cy="731520"/>
          </a:xfrm>
          <a:prstGeom prst="rect">
            <a:avLst/>
          </a:prstGeom>
          <a:noFill/>
          <a:ln/>
        </p:spPr>
        <p:txBody>
          <a:bodyPr wrap="square" rtlCol="0" anchor="ctr"/>
          <a:lstStyle/>
          <a:p>
            <a:pPr indent="0" marL="0">
              <a:buNone/>
            </a:pPr>
            <a:r>
              <a:rPr lang="en-US" sz="1400" dirty="0">
                <a:solidFill>
                  <a:srgbClr val="2C2C2C"/>
                </a:solidFill>
                <a:latin typeface="Arial" pitchFamily="34" charset="0"/>
                <a:ea typeface="Arial" pitchFamily="34" charset="-122"/>
                <a:cs typeface="Arial" pitchFamily="34" charset="-120"/>
              </a:rPr>
              <a:t>We enabled, ran and verified scheduled publishing on bv-poc-wknd-aln, compared Ema with Experience Workspace, and tested fragment, asset and expiry behaviour requested by the team.</a:t>
            </a:r>
            <a:endParaRPr lang="en-US" sz="1400" dirty="0"/>
          </a:p>
        </p:txBody>
      </p:sp>
      <p:sp>
        <p:nvSpPr>
          <p:cNvPr id="8" name="Text 5"/>
          <p:cNvSpPr/>
          <p:nvPr/>
        </p:nvSpPr>
        <p:spPr>
          <a:xfrm>
            <a:off x="731520" y="4754880"/>
            <a:ext cx="10058400" cy="73152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ALAN RAJI MANI</a:t>
            </a:r>
            <a:endParaRPr lang="en-US" sz="1400" dirty="0"/>
          </a:p>
          <a:p>
            <a:pPr indent="0" marL="0">
              <a:buNone/>
            </a:pPr>
            <a:r>
              <a:rPr lang="en-US" sz="1400" dirty="0">
                <a:solidFill>
                  <a:srgbClr val="6E6E6E"/>
                </a:solidFill>
                <a:latin typeface="Arial" pitchFamily="34" charset="0"/>
                <a:ea typeface="Arial" pitchFamily="34" charset="-122"/>
                <a:cs typeface="Arial" pitchFamily="34" charset="-120"/>
              </a:rPr>
              <a:t>araji@adobe.com  ·  23 Oct 2026</a:t>
            </a:r>
            <a:endParaRPr lang="en-US" sz="14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1 · EXPLAIN SCHEDULING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publishing and scheduling work in EDS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
        <p:nvSpPr>
          <p:cNvPr id="8" name="Shape 5"/>
          <p:cNvSpPr/>
          <p:nvPr/>
        </p:nvSpPr>
        <p:spPr>
          <a:xfrm>
            <a:off x="640080" y="1691640"/>
            <a:ext cx="2194560" cy="914400"/>
          </a:xfrm>
          <a:prstGeom prst="roundRect">
            <a:avLst>
              <a:gd name="adj" fmla="val 8000"/>
            </a:avLst>
          </a:prstGeom>
          <a:solidFill>
            <a:srgbClr val="2C2C2C"/>
          </a:solidFill>
          <a:ln w="12700">
            <a:solidFill>
              <a:srgbClr val="2C2C2C"/>
            </a:solidFill>
            <a:prstDash val="solid"/>
          </a:ln>
        </p:spPr>
      </p:sp>
      <p:sp>
        <p:nvSpPr>
          <p:cNvPr id="9" name="Text 6"/>
          <p:cNvSpPr/>
          <p:nvPr/>
        </p:nvSpPr>
        <p:spPr>
          <a:xfrm>
            <a:off x="64008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Editor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da.live</a:t>
            </a:r>
            <a:endParaRPr lang="en-US" sz="1200" dirty="0"/>
          </a:p>
        </p:txBody>
      </p:sp>
      <p:sp>
        <p:nvSpPr>
          <p:cNvPr id="10" name="Shape 7"/>
          <p:cNvSpPr/>
          <p:nvPr/>
        </p:nvSpPr>
        <p:spPr>
          <a:xfrm>
            <a:off x="2880360" y="2148840"/>
            <a:ext cx="1097280" cy="0"/>
          </a:xfrm>
          <a:prstGeom prst="line">
            <a:avLst/>
          </a:prstGeom>
          <a:noFill/>
          <a:ln w="19050">
            <a:solidFill>
              <a:srgbClr val="6E6E6E"/>
            </a:solidFill>
            <a:prstDash val="solid"/>
            <a:tailEnd type="triangle"/>
          </a:ln>
        </p:spPr>
      </p:sp>
      <p:sp>
        <p:nvSpPr>
          <p:cNvPr id="11" name="Text 8"/>
          <p:cNvSpPr/>
          <p:nvPr/>
        </p:nvSpPr>
        <p:spPr>
          <a:xfrm>
            <a:off x="283464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Preview</a:t>
            </a:r>
            <a:endParaRPr lang="en-US" sz="1100" dirty="0"/>
          </a:p>
        </p:txBody>
      </p:sp>
      <p:sp>
        <p:nvSpPr>
          <p:cNvPr id="12" name="Shape 9"/>
          <p:cNvSpPr/>
          <p:nvPr/>
        </p:nvSpPr>
        <p:spPr>
          <a:xfrm>
            <a:off x="4023360" y="1691640"/>
            <a:ext cx="2194560" cy="914400"/>
          </a:xfrm>
          <a:prstGeom prst="roundRect">
            <a:avLst>
              <a:gd name="adj" fmla="val 8000"/>
            </a:avLst>
          </a:prstGeom>
          <a:solidFill>
            <a:srgbClr val="505050"/>
          </a:solidFill>
          <a:ln w="12700">
            <a:solidFill>
              <a:srgbClr val="505050"/>
            </a:solidFill>
            <a:prstDash val="solid"/>
          </a:ln>
        </p:spPr>
      </p:sp>
      <p:sp>
        <p:nvSpPr>
          <p:cNvPr id="13" name="Text 10"/>
          <p:cNvSpPr/>
          <p:nvPr/>
        </p:nvSpPr>
        <p:spPr>
          <a:xfrm>
            <a:off x="402336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Preview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.aem.page</a:t>
            </a:r>
            <a:endParaRPr lang="en-US" sz="1200" dirty="0"/>
          </a:p>
        </p:txBody>
      </p:sp>
      <p:sp>
        <p:nvSpPr>
          <p:cNvPr id="14" name="Shape 11"/>
          <p:cNvSpPr/>
          <p:nvPr/>
        </p:nvSpPr>
        <p:spPr>
          <a:xfrm>
            <a:off x="6263640" y="2148840"/>
            <a:ext cx="1097280" cy="0"/>
          </a:xfrm>
          <a:prstGeom prst="line">
            <a:avLst/>
          </a:prstGeom>
          <a:noFill/>
          <a:ln w="19050">
            <a:solidFill>
              <a:srgbClr val="6E6E6E"/>
            </a:solidFill>
            <a:prstDash val="solid"/>
            <a:tailEnd type="triangle"/>
          </a:ln>
        </p:spPr>
      </p:sp>
      <p:sp>
        <p:nvSpPr>
          <p:cNvPr id="15" name="Text 12"/>
          <p:cNvSpPr/>
          <p:nvPr/>
        </p:nvSpPr>
        <p:spPr>
          <a:xfrm>
            <a:off x="621792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Publish</a:t>
            </a:r>
            <a:endParaRPr lang="en-US" sz="1100" dirty="0"/>
          </a:p>
        </p:txBody>
      </p:sp>
      <p:sp>
        <p:nvSpPr>
          <p:cNvPr id="16" name="Shape 13"/>
          <p:cNvSpPr/>
          <p:nvPr/>
        </p:nvSpPr>
        <p:spPr>
          <a:xfrm>
            <a:off x="7406640" y="1691640"/>
            <a:ext cx="2194560" cy="914400"/>
          </a:xfrm>
          <a:prstGeom prst="roundRect">
            <a:avLst>
              <a:gd name="adj" fmla="val 8000"/>
            </a:avLst>
          </a:prstGeom>
          <a:solidFill>
            <a:srgbClr val="EB1000"/>
          </a:solidFill>
          <a:ln w="12700">
            <a:solidFill>
              <a:srgbClr val="EB1000"/>
            </a:solidFill>
            <a:prstDash val="solid"/>
          </a:ln>
        </p:spPr>
      </p:sp>
      <p:sp>
        <p:nvSpPr>
          <p:cNvPr id="17" name="Text 14"/>
          <p:cNvSpPr/>
          <p:nvPr/>
        </p:nvSpPr>
        <p:spPr>
          <a:xfrm>
            <a:off x="740664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Live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.aem.live</a:t>
            </a:r>
            <a:endParaRPr lang="en-US" sz="1200" dirty="0"/>
          </a:p>
        </p:txBody>
      </p:sp>
      <p:sp>
        <p:nvSpPr>
          <p:cNvPr id="18" name="Text 15"/>
          <p:cNvSpPr/>
          <p:nvPr/>
        </p:nvSpPr>
        <p:spPr>
          <a:xfrm>
            <a:off x="640080" y="2743200"/>
            <a:ext cx="10972800" cy="36576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Publishing = copying the PREVIEW version to live.  </a:t>
            </a:r>
            <a:pPr indent="0" marL="0">
              <a:buNone/>
            </a:pPr>
            <a:r>
              <a:rPr lang="en-US" sz="1400" dirty="0">
                <a:solidFill>
                  <a:srgbClr val="2C2C2C"/>
                </a:solidFill>
                <a:latin typeface="Arial" pitchFamily="34" charset="0"/>
                <a:ea typeface="Arial" pitchFamily="34" charset="-122"/>
                <a:cs typeface="Arial" pitchFamily="34" charset="-120"/>
              </a:rPr>
              <a:t>Scheduling = doing that copy automatically at a chosen time.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47120" cy="914400"/>
        </p:xfrm>
        <a:graphic>
          <a:graphicData uri="http://schemas.openxmlformats.org/drawingml/2006/table">
            <a:tbl>
              <a:tblPr/>
              <a:tblGrid>
                <a:gridCol w="2011680"/>
                <a:gridCol w="4617720"/>
                <a:gridCol w="46177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Schedule sheet (crontab)</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Used by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inside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Admins and automation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Prepare menu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sheet: "when" + "command" rows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runs on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Status on our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19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https://main--bv-poc-wknd-aln--araji-adobe.aem.page/us/en/scheduled-publish-test   →   https://main--bv-poc-wknd-aln--araji-adobe.aem.live/us/en/scheduled-publish-test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2 · BUSINESS USE CASE</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Why marketers need scheduled 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
        <p:nvSpPr>
          <p:cNvPr id="8" name="Text 5"/>
          <p:cNvSpPr/>
          <p:nvPr/>
        </p:nvSpPr>
        <p:spPr>
          <a:xfrm>
            <a:off x="457200" y="1417320"/>
            <a:ext cx="11247120" cy="457200"/>
          </a:xfrm>
          <a:prstGeom prst="rect">
            <a:avLst/>
          </a:prstGeom>
          <a:noFill/>
          <a:ln/>
        </p:spPr>
        <p:txBody>
          <a:bodyPr wrap="square" rtlCol="0" anchor="ctr"/>
          <a:lstStyle/>
          <a:p>
            <a:pPr indent="0" marL="0">
              <a:buNone/>
            </a:pPr>
            <a:r>
              <a:rPr lang="en-US" sz="1500" dirty="0">
                <a:solidFill>
                  <a:srgbClr val="2C2C2C"/>
                </a:solidFill>
                <a:latin typeface="Arial" pitchFamily="34" charset="0"/>
                <a:ea typeface="Arial" pitchFamily="34" charset="-122"/>
                <a:cs typeface="Arial" pitchFamily="34" charset="-120"/>
              </a:rPr>
              <a:t>Content must go live at a precise moment, often outside working hours or in another time zone, without someone clicking Publish.</a:t>
            </a:r>
            <a:endParaRPr lang="en-US" sz="1500" dirty="0"/>
          </a:p>
        </p:txBody>
      </p:sp>
      <p:sp>
        <p:nvSpPr>
          <p:cNvPr id="9" name="Shape 6"/>
          <p:cNvSpPr/>
          <p:nvPr/>
        </p:nvSpPr>
        <p:spPr>
          <a:xfrm>
            <a:off x="457200" y="1965960"/>
            <a:ext cx="2651760" cy="1234440"/>
          </a:xfrm>
          <a:prstGeom prst="roundRect">
            <a:avLst>
              <a:gd name="adj" fmla="val 5926"/>
            </a:avLst>
          </a:prstGeom>
          <a:solidFill>
            <a:srgbClr val="F5F5F5"/>
          </a:solidFill>
          <a:ln w="15875">
            <a:solidFill>
              <a:srgbClr val="EB1000"/>
            </a:solidFill>
            <a:prstDash val="solid"/>
          </a:ln>
        </p:spPr>
      </p:sp>
      <p:sp>
        <p:nvSpPr>
          <p:cNvPr id="10" name="Text 7"/>
          <p:cNvSpPr/>
          <p:nvPr/>
        </p:nvSpPr>
        <p:spPr>
          <a:xfrm>
            <a:off x="54864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1. Campaign or product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at an exact time</a:t>
            </a:r>
            <a:endParaRPr lang="en-US" sz="1300" dirty="0"/>
          </a:p>
        </p:txBody>
      </p:sp>
      <p:sp>
        <p:nvSpPr>
          <p:cNvPr id="11" name="Shape 8"/>
          <p:cNvSpPr/>
          <p:nvPr/>
        </p:nvSpPr>
        <p:spPr>
          <a:xfrm>
            <a:off x="3291840" y="1965960"/>
            <a:ext cx="2651760" cy="1234440"/>
          </a:xfrm>
          <a:prstGeom prst="roundRect">
            <a:avLst>
              <a:gd name="adj" fmla="val 5926"/>
            </a:avLst>
          </a:prstGeom>
          <a:solidFill>
            <a:srgbClr val="F5F5F5"/>
          </a:solidFill>
          <a:ln w="15875">
            <a:solidFill>
              <a:srgbClr val="EB1000"/>
            </a:solidFill>
            <a:prstDash val="solid"/>
          </a:ln>
        </p:spPr>
      </p:sp>
      <p:sp>
        <p:nvSpPr>
          <p:cNvPr id="12" name="Text 9"/>
          <p:cNvSpPr/>
          <p:nvPr/>
        </p:nvSpPr>
        <p:spPr>
          <a:xfrm>
            <a:off x="338328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2. Embargoed announcement</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Publish when the embargo lifts</a:t>
            </a:r>
            <a:endParaRPr lang="en-US" sz="1300" dirty="0"/>
          </a:p>
        </p:txBody>
      </p:sp>
      <p:sp>
        <p:nvSpPr>
          <p:cNvPr id="13" name="Shape 10"/>
          <p:cNvSpPr/>
          <p:nvPr/>
        </p:nvSpPr>
        <p:spPr>
          <a:xfrm>
            <a:off x="6126480" y="1965960"/>
            <a:ext cx="2651760" cy="1234440"/>
          </a:xfrm>
          <a:prstGeom prst="roundRect">
            <a:avLst>
              <a:gd name="adj" fmla="val 5926"/>
            </a:avLst>
          </a:prstGeom>
          <a:solidFill>
            <a:srgbClr val="F5F5F5"/>
          </a:solidFill>
          <a:ln w="15875">
            <a:solidFill>
              <a:srgbClr val="EB1000"/>
            </a:solidFill>
            <a:prstDash val="solid"/>
          </a:ln>
        </p:spPr>
      </p:sp>
      <p:sp>
        <p:nvSpPr>
          <p:cNvPr id="14" name="Text 11"/>
          <p:cNvSpPr/>
          <p:nvPr/>
        </p:nvSpPr>
        <p:spPr>
          <a:xfrm>
            <a:off x="621792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3. Global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Target another time zone</a:t>
            </a:r>
            <a:endParaRPr lang="en-US" sz="1300" dirty="0"/>
          </a:p>
        </p:txBody>
      </p:sp>
      <p:sp>
        <p:nvSpPr>
          <p:cNvPr id="15" name="Shape 12"/>
          <p:cNvSpPr/>
          <p:nvPr/>
        </p:nvSpPr>
        <p:spPr>
          <a:xfrm>
            <a:off x="8961120" y="1965960"/>
            <a:ext cx="2651760" cy="1234440"/>
          </a:xfrm>
          <a:prstGeom prst="roundRect">
            <a:avLst>
              <a:gd name="adj" fmla="val 5926"/>
            </a:avLst>
          </a:prstGeom>
          <a:solidFill>
            <a:srgbClr val="F5F5F5"/>
          </a:solidFill>
          <a:ln w="15875">
            <a:solidFill>
              <a:srgbClr val="EB1000"/>
            </a:solidFill>
            <a:prstDash val="solid"/>
          </a:ln>
        </p:spPr>
      </p:sp>
      <p:sp>
        <p:nvSpPr>
          <p:cNvPr id="16" name="Text 13"/>
          <p:cNvSpPr/>
          <p:nvPr/>
        </p:nvSpPr>
        <p:spPr>
          <a:xfrm>
            <a:off x="905256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4. Time-limited promotion</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then come down</a:t>
            </a:r>
            <a:endParaRPr lang="en-US" sz="1300" dirty="0"/>
          </a:p>
        </p:txBody>
      </p:sp>
      <p:sp>
        <p:nvSpPr>
          <p:cNvPr id="17" name="Text 14"/>
          <p:cNvSpPr/>
          <p:nvPr/>
        </p:nvSpPr>
        <p:spPr>
          <a:xfrm>
            <a:off x="457200" y="3218688"/>
            <a:ext cx="11247120" cy="228600"/>
          </a:xfrm>
          <a:prstGeom prst="rect">
            <a:avLst/>
          </a:prstGeom>
          <a:noFill/>
          <a:ln/>
        </p:spPr>
        <p:txBody>
          <a:bodyPr wrap="square" rtlCol="0" anchor="ctr"/>
          <a:lstStyle/>
          <a:p>
            <a:pPr indent="0" marL="0">
              <a:buNone/>
            </a:pPr>
            <a:r>
              <a:rPr lang="en-US" sz="900" i="1" dirty="0">
                <a:solidFill>
                  <a:srgbClr val="6E6E6E"/>
                </a:solidFill>
                <a:latin typeface="Arial" pitchFamily="34" charset="0"/>
                <a:ea typeface="Arial" pitchFamily="34" charset="-122"/>
                <a:cs typeface="Arial" pitchFamily="34" charset="-120"/>
              </a:rPr>
              <a:t>Illustrative scenarios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3291840"/>
                <a:gridCol w="5120640"/>
                <a:gridCol w="28346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Marketer requirement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is covered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Pick a date and time in the UI</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Change or cancel the plan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 in the dialog; Delete in the scheduler list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Many pages at once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multi-command row (via Ema); Snapshots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 Snapshots documented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Take content down on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"unpublish" command (via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Proof that it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 audit log + page status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Setup: two switches to enable Schedule Publish</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
        <p:nvSpPr>
          <p:cNvPr id="8" name="Text 5"/>
          <p:cNvSpPr/>
          <p:nvPr/>
        </p:nvSpPr>
        <p:spPr>
          <a:xfrm>
            <a:off x="457200" y="1463040"/>
            <a:ext cx="512064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Before: no site config existed, and the menu item was absent</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22 Oct</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1: site config → "prepare" tab → row title = Schedule Publish</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path, icon and ref left empty (Adobe-provided plugin).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2: da.live/apps/scheduler → /araji-adobe/bv-poc-wknd-aln/ → Register site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No "success" message; the empty queue appears. The audit log shows an admin API key created.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Reference (link, not duplicated):</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aem.live/docs/ew/administering/schedule-publish</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demo.bbird.live/demo-docs/usecases/how-to-schedule-publish</a:t>
            </a:r>
            <a:endParaRPr lang="en-US" sz="1300" dirty="0"/>
          </a:p>
        </p:txBody>
      </p:sp>
      <p:pic>
        <p:nvPicPr>
          <p:cNvPr id="9" name="Image 1" descr="Figure 1: Site config before setup (empty)">    </p:cNvPr>
          <p:cNvPicPr>
            <a:picLocks noChangeAspect="1"/>
          </p:cNvPicPr>
          <p:nvPr/>
        </p:nvPicPr>
        <p:blipFill>
          <a:blip r:embed="rId2"/>
          <a:stretch>
            <a:fillRect/>
          </a:stretch>
        </p:blipFill>
        <p:spPr>
          <a:xfrm>
            <a:off x="6518766" y="1417320"/>
            <a:ext cx="1364269" cy="1920240"/>
          </a:xfrm>
          <a:prstGeom prst="rect">
            <a:avLst/>
          </a:prstGeom>
        </p:spPr>
      </p:pic>
      <p:sp>
        <p:nvSpPr>
          <p:cNvPr id="10" name="Shape 6"/>
          <p:cNvSpPr/>
          <p:nvPr/>
        </p:nvSpPr>
        <p:spPr>
          <a:xfrm>
            <a:off x="6518766" y="1417320"/>
            <a:ext cx="1364269" cy="1920240"/>
          </a:xfrm>
          <a:prstGeom prst="rect">
            <a:avLst/>
          </a:prstGeom>
          <a:ln w="9525">
            <a:solidFill>
              <a:srgbClr val="D9D9D9"/>
            </a:solidFill>
            <a:prstDash val="solid"/>
          </a:ln>
        </p:spPr>
      </p:sp>
      <p:sp>
        <p:nvSpPr>
          <p:cNvPr id="11" name="Text 7"/>
          <p:cNvSpPr/>
          <p:nvPr/>
        </p:nvSpPr>
        <p:spPr>
          <a:xfrm>
            <a:off x="576072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 Site config before setup (empty)</a:t>
            </a:r>
            <a:endParaRPr lang="en-US" sz="900" dirty="0"/>
          </a:p>
        </p:txBody>
      </p:sp>
      <p:pic>
        <p:nvPicPr>
          <p:cNvPr id="12" name="Image 2" descr="Figure 2: Switch 1: &quot;prepare&quot; row added">    </p:cNvPr>
          <p:cNvPicPr>
            <a:picLocks noChangeAspect="1"/>
          </p:cNvPicPr>
          <p:nvPr/>
        </p:nvPicPr>
        <p:blipFill>
          <a:blip r:embed="rId3"/>
          <a:stretch>
            <a:fillRect/>
          </a:stretch>
        </p:blipFill>
        <p:spPr>
          <a:xfrm>
            <a:off x="9067870" y="1417320"/>
            <a:ext cx="2483980" cy="1920240"/>
          </a:xfrm>
          <a:prstGeom prst="rect">
            <a:avLst/>
          </a:prstGeom>
        </p:spPr>
      </p:pic>
      <p:sp>
        <p:nvSpPr>
          <p:cNvPr id="13" name="Shape 8"/>
          <p:cNvSpPr/>
          <p:nvPr/>
        </p:nvSpPr>
        <p:spPr>
          <a:xfrm>
            <a:off x="9067870" y="1417320"/>
            <a:ext cx="2483980" cy="1920240"/>
          </a:xfrm>
          <a:prstGeom prst="rect">
            <a:avLst/>
          </a:prstGeom>
          <a:ln w="9525">
            <a:solidFill>
              <a:srgbClr val="D9D9D9"/>
            </a:solidFill>
            <a:prstDash val="solid"/>
          </a:ln>
        </p:spPr>
      </p:sp>
      <p:sp>
        <p:nvSpPr>
          <p:cNvPr id="14" name="Text 9"/>
          <p:cNvSpPr/>
          <p:nvPr/>
        </p:nvSpPr>
        <p:spPr>
          <a:xfrm>
            <a:off x="886968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 Switch 1: "prepare" row added</a:t>
            </a:r>
            <a:endParaRPr lang="en-US" sz="900" dirty="0"/>
          </a:p>
        </p:txBody>
      </p:sp>
      <p:pic>
        <p:nvPicPr>
          <p:cNvPr id="15" name="Image 3" descr="Figure 3: Scheduler app: site not registered">    </p:cNvPr>
          <p:cNvPicPr>
            <a:picLocks noChangeAspect="1"/>
          </p:cNvPicPr>
          <p:nvPr/>
        </p:nvPicPr>
        <p:blipFill>
          <a:blip r:embed="rId4"/>
          <a:stretch>
            <a:fillRect/>
          </a:stretch>
        </p:blipFill>
        <p:spPr>
          <a:xfrm>
            <a:off x="5760720" y="3703320"/>
            <a:ext cx="2880360" cy="1529422"/>
          </a:xfrm>
          <a:prstGeom prst="rect">
            <a:avLst/>
          </a:prstGeom>
        </p:spPr>
      </p:pic>
      <p:sp>
        <p:nvSpPr>
          <p:cNvPr id="16" name="Shape 10"/>
          <p:cNvSpPr/>
          <p:nvPr/>
        </p:nvSpPr>
        <p:spPr>
          <a:xfrm>
            <a:off x="5760720" y="3703320"/>
            <a:ext cx="2880360" cy="1529422"/>
          </a:xfrm>
          <a:prstGeom prst="rect">
            <a:avLst/>
          </a:prstGeom>
          <a:ln w="9525">
            <a:solidFill>
              <a:srgbClr val="D9D9D9"/>
            </a:solidFill>
            <a:prstDash val="solid"/>
          </a:ln>
        </p:spPr>
      </p:sp>
      <p:sp>
        <p:nvSpPr>
          <p:cNvPr id="17" name="Text 11"/>
          <p:cNvSpPr/>
          <p:nvPr/>
        </p:nvSpPr>
        <p:spPr>
          <a:xfrm>
            <a:off x="5760720" y="5260174"/>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3: Scheduler app: site not registered</a:t>
            </a:r>
            <a:endParaRPr lang="en-US" sz="900" dirty="0"/>
          </a:p>
        </p:txBody>
      </p:sp>
      <p:pic>
        <p:nvPicPr>
          <p:cNvPr id="18" name="Image 4" descr="Figure 4: Switch 2: site registered (empty queue)">    </p:cNvPr>
          <p:cNvPicPr>
            <a:picLocks noChangeAspect="1"/>
          </p:cNvPicPr>
          <p:nvPr/>
        </p:nvPicPr>
        <p:blipFill>
          <a:blip r:embed="rId5"/>
          <a:stretch>
            <a:fillRect/>
          </a:stretch>
        </p:blipFill>
        <p:spPr>
          <a:xfrm>
            <a:off x="9377740" y="3703320"/>
            <a:ext cx="1864239" cy="1920240"/>
          </a:xfrm>
          <a:prstGeom prst="rect">
            <a:avLst/>
          </a:prstGeom>
        </p:spPr>
      </p:pic>
      <p:sp>
        <p:nvSpPr>
          <p:cNvPr id="19" name="Shape 12"/>
          <p:cNvSpPr/>
          <p:nvPr/>
        </p:nvSpPr>
        <p:spPr>
          <a:xfrm>
            <a:off x="9377740" y="3703320"/>
            <a:ext cx="1864239" cy="1920240"/>
          </a:xfrm>
          <a:prstGeom prst="rect">
            <a:avLst/>
          </a:prstGeom>
          <a:ln w="9525">
            <a:solidFill>
              <a:srgbClr val="D9D9D9"/>
            </a:solidFill>
            <a:prstDash val="solid"/>
          </a:ln>
        </p:spPr>
      </p:sp>
      <p:sp>
        <p:nvSpPr>
          <p:cNvPr id="20" name="Text 13"/>
          <p:cNvSpPr/>
          <p:nvPr/>
        </p:nvSpPr>
        <p:spPr>
          <a:xfrm>
            <a:off x="8869680" y="5650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4: Switch 2: site registered (empty queue)</a:t>
            </a:r>
            <a:endParaRPr lang="en-US" sz="900" dirty="0"/>
          </a:p>
        </p:txBody>
      </p:sp>
      <p:sp>
        <p:nvSpPr>
          <p:cNvPr id="21" name="Text 14"/>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https://da.live/config#/araji-adobe/bv-poc-wknd-aln/   ·   https://da.live/apps/scheduler  (enter /araji-adobe/bv-poc-wknd-aln/)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Scheduling a page, and proof of auto-preview</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457200" y="1508760"/>
            <a:ext cx="132588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 page</a:t>
            </a:r>
            <a:endParaRPr lang="en-US" sz="1100" dirty="0"/>
          </a:p>
        </p:txBody>
      </p:sp>
      <p:sp>
        <p:nvSpPr>
          <p:cNvPr id="10" name="Shape 7"/>
          <p:cNvSpPr/>
          <p:nvPr/>
        </p:nvSpPr>
        <p:spPr>
          <a:xfrm>
            <a:off x="1810512" y="1783080"/>
            <a:ext cx="182880" cy="0"/>
          </a:xfrm>
          <a:prstGeom prst="line">
            <a:avLst/>
          </a:prstGeom>
          <a:noFill/>
          <a:ln w="19050">
            <a:solidFill>
              <a:srgbClr val="6E6E6E"/>
            </a:solidFill>
            <a:prstDash val="solid"/>
            <a:tailEnd type="triangle"/>
          </a:ln>
        </p:spPr>
      </p:sp>
      <p:sp>
        <p:nvSpPr>
          <p:cNvPr id="11" name="Shape 8"/>
          <p:cNvSpPr/>
          <p:nvPr/>
        </p:nvSpPr>
        <p:spPr>
          <a:xfrm>
            <a:off x="2011680" y="1508760"/>
            <a:ext cx="1325880" cy="548640"/>
          </a:xfrm>
          <a:prstGeom prst="roundRect">
            <a:avLst>
              <a:gd name="adj" fmla="val 13333"/>
            </a:avLst>
          </a:prstGeom>
          <a:solidFill>
            <a:srgbClr val="2C2C2C"/>
          </a:solidFill>
          <a:ln w="12700">
            <a:solidFill>
              <a:srgbClr val="2C2C2C"/>
            </a:solidFill>
            <a:prstDash val="solid"/>
          </a:ln>
        </p:spPr>
      </p:sp>
      <p:sp>
        <p:nvSpPr>
          <p:cNvPr id="12" name="Text 9"/>
          <p:cNvSpPr/>
          <p:nvPr/>
        </p:nvSpPr>
        <p:spPr>
          <a:xfrm>
            <a:off x="201168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Prepare (icon)</a:t>
            </a:r>
            <a:endParaRPr lang="en-US" sz="1100" dirty="0"/>
          </a:p>
        </p:txBody>
      </p:sp>
      <p:sp>
        <p:nvSpPr>
          <p:cNvPr id="13" name="Shape 10"/>
          <p:cNvSpPr/>
          <p:nvPr/>
        </p:nvSpPr>
        <p:spPr>
          <a:xfrm>
            <a:off x="3364992" y="1783080"/>
            <a:ext cx="182880" cy="0"/>
          </a:xfrm>
          <a:prstGeom prst="line">
            <a:avLst/>
          </a:prstGeom>
          <a:noFill/>
          <a:ln w="19050">
            <a:solidFill>
              <a:srgbClr val="6E6E6E"/>
            </a:solidFill>
            <a:prstDash val="solid"/>
            <a:tailEnd type="triangle"/>
          </a:ln>
        </p:spPr>
      </p:sp>
      <p:sp>
        <p:nvSpPr>
          <p:cNvPr id="14" name="Shape 11"/>
          <p:cNvSpPr/>
          <p:nvPr/>
        </p:nvSpPr>
        <p:spPr>
          <a:xfrm>
            <a:off x="3566160" y="1508760"/>
            <a:ext cx="1325880" cy="548640"/>
          </a:xfrm>
          <a:prstGeom prst="roundRect">
            <a:avLst>
              <a:gd name="adj" fmla="val 13333"/>
            </a:avLst>
          </a:prstGeom>
          <a:solidFill>
            <a:srgbClr val="2C2C2C"/>
          </a:solidFill>
          <a:ln w="12700">
            <a:solidFill>
              <a:srgbClr val="2C2C2C"/>
            </a:solidFill>
            <a:prstDash val="solid"/>
          </a:ln>
        </p:spPr>
      </p:sp>
      <p:sp>
        <p:nvSpPr>
          <p:cNvPr id="15" name="Text 12"/>
          <p:cNvSpPr/>
          <p:nvPr/>
        </p:nvSpPr>
        <p:spPr>
          <a:xfrm>
            <a:off x="356616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Schedule Publish</a:t>
            </a:r>
            <a:endParaRPr lang="en-US" sz="1100" dirty="0"/>
          </a:p>
        </p:txBody>
      </p:sp>
      <p:sp>
        <p:nvSpPr>
          <p:cNvPr id="16" name="Shape 13"/>
          <p:cNvSpPr/>
          <p:nvPr/>
        </p:nvSpPr>
        <p:spPr>
          <a:xfrm>
            <a:off x="4919472" y="1783080"/>
            <a:ext cx="182880" cy="0"/>
          </a:xfrm>
          <a:prstGeom prst="line">
            <a:avLst/>
          </a:prstGeom>
          <a:noFill/>
          <a:ln w="19050">
            <a:solidFill>
              <a:srgbClr val="6E6E6E"/>
            </a:solidFill>
            <a:prstDash val="solid"/>
            <a:tailEnd type="triangle"/>
          </a:ln>
        </p:spPr>
      </p:sp>
      <p:sp>
        <p:nvSpPr>
          <p:cNvPr id="17" name="Shape 14"/>
          <p:cNvSpPr/>
          <p:nvPr/>
        </p:nvSpPr>
        <p:spPr>
          <a:xfrm>
            <a:off x="5120640" y="1508760"/>
            <a:ext cx="1463040" cy="548640"/>
          </a:xfrm>
          <a:prstGeom prst="roundRect">
            <a:avLst>
              <a:gd name="adj" fmla="val 13333"/>
            </a:avLst>
          </a:prstGeom>
          <a:solidFill>
            <a:srgbClr val="EB1000"/>
          </a:solidFill>
          <a:ln w="12700">
            <a:solidFill>
              <a:srgbClr val="EB1000"/>
            </a:solidFill>
            <a:prstDash val="solid"/>
          </a:ln>
        </p:spPr>
      </p:sp>
      <p:sp>
        <p:nvSpPr>
          <p:cNvPr id="18" name="Text 15"/>
          <p:cNvSpPr/>
          <p:nvPr/>
        </p:nvSpPr>
        <p:spPr>
          <a:xfrm>
            <a:off x="5120640" y="1508760"/>
            <a:ext cx="14630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 time → Schedule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126480" cy="914400"/>
        </p:xfrm>
        <a:graphic>
          <a:graphicData uri="http://schemas.openxmlformats.org/drawingml/2006/table">
            <a:tbl>
              <a:tblPr/>
              <a:tblGrid>
                <a:gridCol w="2286000"/>
                <a:gridCol w="1920240"/>
                <a:gridCol w="19202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 page (never previewed)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 scheduling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Right after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created 11:50:58 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(correct)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3429000"/>
            <a:ext cx="6126480" cy="256032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Scheduling previews the page automatically</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Documented, and Tested</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Rescheduling previews it again</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Dialog uses the browser time zone: "Schedule (Asia/Calcutta)"</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not in the docs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The Prepare button is an icon with no "Prepare" label</a:t>
            </a:r>
            <a:endParaRPr lang="en-US" sz="1300" dirty="0"/>
          </a:p>
        </p:txBody>
      </p:sp>
      <p:pic>
        <p:nvPicPr>
          <p:cNvPr id="21" name="Image 1" descr="Figure 5: Prepare menu with Schedule Publish">    </p:cNvPr>
          <p:cNvPicPr>
            <a:picLocks noChangeAspect="1"/>
          </p:cNvPicPr>
          <p:nvPr/>
        </p:nvPicPr>
        <p:blipFill>
          <a:blip r:embed="rId2"/>
          <a:stretch>
            <a:fillRect/>
          </a:stretch>
        </p:blipFill>
        <p:spPr>
          <a:xfrm>
            <a:off x="6812280" y="1463040"/>
            <a:ext cx="2377440" cy="2450563"/>
          </a:xfrm>
          <a:prstGeom prst="rect">
            <a:avLst/>
          </a:prstGeom>
        </p:spPr>
      </p:pic>
      <p:sp>
        <p:nvSpPr>
          <p:cNvPr id="22" name="Shape 17"/>
          <p:cNvSpPr/>
          <p:nvPr/>
        </p:nvSpPr>
        <p:spPr>
          <a:xfrm>
            <a:off x="6812280" y="1463040"/>
            <a:ext cx="2377440" cy="2450563"/>
          </a:xfrm>
          <a:prstGeom prst="rect">
            <a:avLst/>
          </a:prstGeom>
          <a:ln w="9525">
            <a:solidFill>
              <a:srgbClr val="D9D9D9"/>
            </a:solidFill>
            <a:prstDash val="solid"/>
          </a:ln>
        </p:spPr>
      </p:sp>
      <p:sp>
        <p:nvSpPr>
          <p:cNvPr id="23" name="Text 18"/>
          <p:cNvSpPr/>
          <p:nvPr/>
        </p:nvSpPr>
        <p:spPr>
          <a:xfrm>
            <a:off x="6812280" y="3941035"/>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5: Prepare menu with Schedule Publish</a:t>
            </a:r>
            <a:endParaRPr lang="en-US" sz="900" dirty="0"/>
          </a:p>
        </p:txBody>
      </p:sp>
      <p:pic>
        <p:nvPicPr>
          <p:cNvPr id="24" name="Image 2" descr="Figure 6: Schedule dialog with browser time zone">    </p:cNvPr>
          <p:cNvPicPr>
            <a:picLocks noChangeAspect="1"/>
          </p:cNvPicPr>
          <p:nvPr/>
        </p:nvPicPr>
        <p:blipFill>
          <a:blip r:embed="rId3"/>
          <a:stretch>
            <a:fillRect/>
          </a:stretch>
        </p:blipFill>
        <p:spPr>
          <a:xfrm>
            <a:off x="9372600" y="1463040"/>
            <a:ext cx="2377440" cy="2425959"/>
          </a:xfrm>
          <a:prstGeom prst="rect">
            <a:avLst/>
          </a:prstGeom>
        </p:spPr>
      </p:pic>
      <p:sp>
        <p:nvSpPr>
          <p:cNvPr id="25" name="Shape 19"/>
          <p:cNvSpPr/>
          <p:nvPr/>
        </p:nvSpPr>
        <p:spPr>
          <a:xfrm>
            <a:off x="9372600" y="1463040"/>
            <a:ext cx="2377440" cy="2425959"/>
          </a:xfrm>
          <a:prstGeom prst="rect">
            <a:avLst/>
          </a:prstGeom>
          <a:ln w="9525">
            <a:solidFill>
              <a:srgbClr val="D9D9D9"/>
            </a:solidFill>
            <a:prstDash val="solid"/>
          </a:ln>
        </p:spPr>
      </p:sp>
      <p:sp>
        <p:nvSpPr>
          <p:cNvPr id="26" name="Text 20"/>
          <p:cNvSpPr/>
          <p:nvPr/>
        </p:nvSpPr>
        <p:spPr>
          <a:xfrm>
            <a:off x="9372600" y="3916431"/>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6: Schedule dialog with browser time zone</a:t>
            </a:r>
            <a:endParaRPr lang="en-US" sz="900" dirty="0"/>
          </a:p>
        </p:txBody>
      </p:sp>
      <p:sp>
        <p:nvSpPr>
          <p:cNvPr id="27" name="Text 2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https://da.live/edit#/araji-adobe/bv-poc-wknd-aln/us/en/scheduled-publish-test   (open the Prepare icon only; don't schedule)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results, and the key insight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1828800"/>
                <a:gridCol w="8229600"/>
                <a:gridCol w="11887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Time (IST,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12:00:08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published by the system account helix@adobe.com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Live = V1 only. The V2 edit made after scheduling, not previewed, did NOT go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7–8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12:25 → 12:30:07</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Rescheduled: nothing at the old time; live at the new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12:40 / 12:45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Deleted in the scheduler list (no confirmation): page never went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10–11</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Shape 5"/>
          <p:cNvSpPr/>
          <p:nvPr/>
        </p:nvSpPr>
        <p:spPr>
          <a:xfrm>
            <a:off x="457200" y="3429000"/>
            <a:ext cx="3931920" cy="1371600"/>
          </a:xfrm>
          <a:prstGeom prst="roundRect">
            <a:avLst>
              <a:gd name="adj" fmla="val 5333"/>
            </a:avLst>
          </a:prstGeom>
          <a:solidFill>
            <a:srgbClr val="FDECEA"/>
          </a:solidFill>
          <a:ln w="15875">
            <a:solidFill>
              <a:srgbClr val="EB1000"/>
            </a:solidFill>
            <a:prstDash val="solid"/>
          </a:ln>
        </p:spPr>
      </p:sp>
      <p:sp>
        <p:nvSpPr>
          <p:cNvPr id="10" name="Text 6"/>
          <p:cNvSpPr/>
          <p:nvPr/>
        </p:nvSpPr>
        <p:spPr>
          <a:xfrm>
            <a:off x="594360" y="3429000"/>
            <a:ext cx="3657600" cy="1371600"/>
          </a:xfrm>
          <a:prstGeom prst="rect">
            <a:avLst/>
          </a:prstGeom>
          <a:noFill/>
          <a:ln/>
        </p:spPr>
        <p:txBody>
          <a:bodyPr wrap="square" rtlCol="0" anchor="ctr"/>
          <a:lstStyle/>
          <a:p>
            <a:pPr indent="0" marL="0">
              <a:buNone/>
            </a:pPr>
            <a:r>
              <a:rPr lang="en-US" sz="1300" b="1" dirty="0">
                <a:solidFill>
                  <a:srgbClr val="EB1000"/>
                </a:solidFill>
                <a:latin typeface="Arial" pitchFamily="34" charset="0"/>
                <a:ea typeface="Arial" pitchFamily="34" charset="-122"/>
                <a:cs typeface="Arial" pitchFamily="34" charset="-120"/>
              </a:rPr>
              <a:t>KEY INSIGHT</a:t>
            </a:r>
            <a:endParaRPr lang="en-US" sz="1300" dirty="0"/>
          </a:p>
          <a:p>
            <a:pPr indent="0" marL="0">
              <a:buNone/>
            </a:pPr>
            <a:r>
              <a:rPr lang="en-US" sz="1300" b="1" dirty="0">
                <a:solidFill>
                  <a:srgbClr val="2C2C2C"/>
                </a:solidFill>
                <a:latin typeface="Arial" pitchFamily="34" charset="0"/>
                <a:ea typeface="Arial" pitchFamily="34" charset="-122"/>
                <a:cs typeface="Arial" pitchFamily="34" charset="-120"/>
              </a:rPr>
              <a:t>The scheduler publishes the PREVIEW, not later edits. Edit, then preview again, before go-live.</a:t>
            </a:r>
            <a:endParaRPr lang="en-US" sz="1300" dirty="0"/>
          </a:p>
        </p:txBody>
      </p:sp>
      <p:sp>
        <p:nvSpPr>
          <p:cNvPr id="11" name="Text 7"/>
          <p:cNvSpPr/>
          <p:nvPr/>
        </p:nvSpPr>
        <p:spPr>
          <a:xfrm>
            <a:off x="457200" y="4937760"/>
            <a:ext cx="3931920" cy="1005840"/>
          </a:xfrm>
          <a:prstGeom prst="rect">
            <a:avLst/>
          </a:prstGeom>
          <a:noFill/>
          <a:ln/>
        </p:spPr>
        <p:txBody>
          <a:bodyPr wrap="square" rtlCol="0" anchor="t"/>
          <a:lstStyle/>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cancel inside the dialog (only Schedule / X)</a:t>
            </a:r>
            <a:endParaRPr lang="en-US" sz="1100" dirty="0"/>
          </a:p>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scheduled unpublish in the dialog</a:t>
            </a:r>
            <a:endParaRPr lang="en-US" sz="1100" dirty="0"/>
          </a:p>
        </p:txBody>
      </p:sp>
      <p:pic>
        <p:nvPicPr>
          <p:cNvPr id="12" name="Image 1" descr="Figure 7: Editor: V1 + V2 (V2 not previewed)">    </p:cNvPr>
          <p:cNvPicPr>
            <a:picLocks noChangeAspect="1"/>
          </p:cNvPicPr>
          <p:nvPr/>
        </p:nvPicPr>
        <p:blipFill>
          <a:blip r:embed="rId2"/>
          <a:stretch>
            <a:fillRect/>
          </a:stretch>
        </p:blipFill>
        <p:spPr>
          <a:xfrm>
            <a:off x="4885599" y="3383280"/>
            <a:ext cx="2938962" cy="2377440"/>
          </a:xfrm>
          <a:prstGeom prst="rect">
            <a:avLst/>
          </a:prstGeom>
        </p:spPr>
      </p:pic>
      <p:sp>
        <p:nvSpPr>
          <p:cNvPr id="13" name="Shape 8"/>
          <p:cNvSpPr/>
          <p:nvPr/>
        </p:nvSpPr>
        <p:spPr>
          <a:xfrm>
            <a:off x="4885599" y="3383280"/>
            <a:ext cx="2938962" cy="2377440"/>
          </a:xfrm>
          <a:prstGeom prst="rect">
            <a:avLst/>
          </a:prstGeom>
          <a:ln w="9525">
            <a:solidFill>
              <a:srgbClr val="D9D9D9"/>
            </a:solidFill>
            <a:prstDash val="solid"/>
          </a:ln>
        </p:spPr>
      </p:sp>
      <p:sp>
        <p:nvSpPr>
          <p:cNvPr id="14" name="Text 9"/>
          <p:cNvSpPr/>
          <p:nvPr/>
        </p:nvSpPr>
        <p:spPr>
          <a:xfrm>
            <a:off x="4663440" y="5788152"/>
            <a:ext cx="33832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7: Editor: V1 + V2 (V2 not previewed)</a:t>
            </a:r>
            <a:endParaRPr lang="en-US" sz="900" dirty="0"/>
          </a:p>
        </p:txBody>
      </p:sp>
      <p:pic>
        <p:nvPicPr>
          <p:cNvPr id="15" name="Image 2" descr="Figure 8: Live page: V1 only">    </p:cNvPr>
          <p:cNvPicPr>
            <a:picLocks noChangeAspect="1"/>
          </p:cNvPicPr>
          <p:nvPr/>
        </p:nvPicPr>
        <p:blipFill>
          <a:blip r:embed="rId3"/>
          <a:stretch>
            <a:fillRect/>
          </a:stretch>
        </p:blipFill>
        <p:spPr>
          <a:xfrm>
            <a:off x="8275320" y="3383280"/>
            <a:ext cx="3474720" cy="1644354"/>
          </a:xfrm>
          <a:prstGeom prst="rect">
            <a:avLst/>
          </a:prstGeom>
        </p:spPr>
      </p:pic>
      <p:sp>
        <p:nvSpPr>
          <p:cNvPr id="16" name="Shape 10"/>
          <p:cNvSpPr/>
          <p:nvPr/>
        </p:nvSpPr>
        <p:spPr>
          <a:xfrm>
            <a:off x="8275320" y="3383280"/>
            <a:ext cx="3474720" cy="1644354"/>
          </a:xfrm>
          <a:prstGeom prst="rect">
            <a:avLst/>
          </a:prstGeom>
          <a:ln w="9525">
            <a:solidFill>
              <a:srgbClr val="D9D9D9"/>
            </a:solidFill>
            <a:prstDash val="solid"/>
          </a:ln>
        </p:spPr>
      </p:sp>
      <p:sp>
        <p:nvSpPr>
          <p:cNvPr id="17" name="Text 11"/>
          <p:cNvSpPr/>
          <p:nvPr/>
        </p:nvSpPr>
        <p:spPr>
          <a:xfrm>
            <a:off x="8275320" y="5055066"/>
            <a:ext cx="34747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8: Live page: V1 only</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https://main--bv-poc-wknd-aln--araji-adobe.aem.live/us/en/scheduled-publish-test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queue, reschedule and cancel</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
        <p:nvSpPr>
          <p:cNvPr id="8" name="Text 5"/>
          <p:cNvSpPr/>
          <p:nvPr/>
        </p:nvSpPr>
        <p:spPr>
          <a:xfrm>
            <a:off x="457200" y="1417320"/>
            <a:ext cx="11247120" cy="15544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Queue (scheduler app): Type, Item, "Publishes on" with time zone and countdown, Requested by, Open / Delete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Figure 9: "Oct 22, 2026, 12:30 PM GMT+5:30 · in 7m · araji@adobe.com".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Reschedule: reopen the dialog (old time prefilled) → re-preview → only the new time runs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Cancel: Delete in the list, with no confirmation prompt → entry gone → page never went live</a:t>
            </a:r>
            <a:endParaRPr lang="en-US" sz="1300" dirty="0"/>
          </a:p>
        </p:txBody>
      </p:sp>
      <p:pic>
        <p:nvPicPr>
          <p:cNvPr id="9" name="Image 1" descr="Figure 9: Queue with the pending job">    </p:cNvPr>
          <p:cNvPicPr>
            <a:picLocks noChangeAspect="1"/>
          </p:cNvPicPr>
          <p:nvPr/>
        </p:nvPicPr>
        <p:blipFill>
          <a:blip r:embed="rId2"/>
          <a:stretch>
            <a:fillRect/>
          </a:stretch>
        </p:blipFill>
        <p:spPr>
          <a:xfrm>
            <a:off x="457200" y="3017520"/>
            <a:ext cx="3611880" cy="2375729"/>
          </a:xfrm>
          <a:prstGeom prst="rect">
            <a:avLst/>
          </a:prstGeom>
        </p:spPr>
      </p:pic>
      <p:sp>
        <p:nvSpPr>
          <p:cNvPr id="10" name="Shape 6"/>
          <p:cNvSpPr/>
          <p:nvPr/>
        </p:nvSpPr>
        <p:spPr>
          <a:xfrm>
            <a:off x="457200" y="3017520"/>
            <a:ext cx="3611880" cy="2375729"/>
          </a:xfrm>
          <a:prstGeom prst="rect">
            <a:avLst/>
          </a:prstGeom>
          <a:ln w="9525">
            <a:solidFill>
              <a:srgbClr val="D9D9D9"/>
            </a:solidFill>
            <a:prstDash val="solid"/>
          </a:ln>
        </p:spPr>
      </p:sp>
      <p:sp>
        <p:nvSpPr>
          <p:cNvPr id="11" name="Text 7"/>
          <p:cNvSpPr/>
          <p:nvPr/>
        </p:nvSpPr>
        <p:spPr>
          <a:xfrm>
            <a:off x="457200" y="5420681"/>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9: Queue with the pending job</a:t>
            </a:r>
            <a:endParaRPr lang="en-US" sz="900" dirty="0"/>
          </a:p>
        </p:txBody>
      </p:sp>
      <p:pic>
        <p:nvPicPr>
          <p:cNvPr id="12" name="Image 2" descr="Figure 10: Queue empty after Delete">    </p:cNvPr>
          <p:cNvPicPr>
            <a:picLocks noChangeAspect="1"/>
          </p:cNvPicPr>
          <p:nvPr/>
        </p:nvPicPr>
        <p:blipFill>
          <a:blip r:embed="rId3"/>
          <a:stretch>
            <a:fillRect/>
          </a:stretch>
        </p:blipFill>
        <p:spPr>
          <a:xfrm>
            <a:off x="4279392" y="3017520"/>
            <a:ext cx="3611880" cy="2103412"/>
          </a:xfrm>
          <a:prstGeom prst="rect">
            <a:avLst/>
          </a:prstGeom>
        </p:spPr>
      </p:pic>
      <p:sp>
        <p:nvSpPr>
          <p:cNvPr id="13" name="Shape 8"/>
          <p:cNvSpPr/>
          <p:nvPr/>
        </p:nvSpPr>
        <p:spPr>
          <a:xfrm>
            <a:off x="4279392" y="3017520"/>
            <a:ext cx="3611880" cy="2103412"/>
          </a:xfrm>
          <a:prstGeom prst="rect">
            <a:avLst/>
          </a:prstGeom>
          <a:ln w="9525">
            <a:solidFill>
              <a:srgbClr val="D9D9D9"/>
            </a:solidFill>
            <a:prstDash val="solid"/>
          </a:ln>
        </p:spPr>
      </p:sp>
      <p:sp>
        <p:nvSpPr>
          <p:cNvPr id="14" name="Text 9"/>
          <p:cNvSpPr/>
          <p:nvPr/>
        </p:nvSpPr>
        <p:spPr>
          <a:xfrm>
            <a:off x="4279392" y="5148364"/>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10: Queue empty after Delete</a:t>
            </a:r>
            <a:endParaRPr lang="en-US" sz="900" dirty="0"/>
          </a:p>
        </p:txBody>
      </p:sp>
      <p:pic>
        <p:nvPicPr>
          <p:cNvPr id="15" name="Image 3" descr="Figure 11: Cancelled page still not live (404)">    </p:cNvPr>
          <p:cNvPicPr>
            <a:picLocks noChangeAspect="1"/>
          </p:cNvPicPr>
          <p:nvPr/>
        </p:nvPicPr>
        <p:blipFill>
          <a:blip r:embed="rId4"/>
          <a:stretch>
            <a:fillRect/>
          </a:stretch>
        </p:blipFill>
        <p:spPr>
          <a:xfrm>
            <a:off x="8403024" y="3017520"/>
            <a:ext cx="3009000" cy="2697480"/>
          </a:xfrm>
          <a:prstGeom prst="rect">
            <a:avLst/>
          </a:prstGeom>
        </p:spPr>
      </p:pic>
      <p:sp>
        <p:nvSpPr>
          <p:cNvPr id="16" name="Shape 10"/>
          <p:cNvSpPr/>
          <p:nvPr/>
        </p:nvSpPr>
        <p:spPr>
          <a:xfrm>
            <a:off x="8403024" y="3017520"/>
            <a:ext cx="3009000" cy="2697480"/>
          </a:xfrm>
          <a:prstGeom prst="rect">
            <a:avLst/>
          </a:prstGeom>
          <a:ln w="9525">
            <a:solidFill>
              <a:srgbClr val="D9D9D9"/>
            </a:solidFill>
            <a:prstDash val="solid"/>
          </a:ln>
        </p:spPr>
      </p:sp>
      <p:sp>
        <p:nvSpPr>
          <p:cNvPr id="17" name="Text 11"/>
          <p:cNvSpPr/>
          <p:nvPr/>
        </p:nvSpPr>
        <p:spPr>
          <a:xfrm>
            <a:off x="8101584" y="5742432"/>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11: Cancelled page still not live (404)</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https://da.live/apps/scheduler  (enter /araji-adobe/bv-poc-wknd-aln/)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Ema scheduled the pages (19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
        <p:nvSpPr>
          <p:cNvPr id="8" name="Shape 5"/>
          <p:cNvSpPr/>
          <p:nvPr/>
        </p:nvSpPr>
        <p:spPr>
          <a:xfrm>
            <a:off x="457200" y="1554480"/>
            <a:ext cx="141732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0" name="Text 7"/>
          <p:cNvSpPr/>
          <p:nvPr/>
        </p:nvSpPr>
        <p:spPr>
          <a:xfrm>
            <a:off x="41148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read-only: 28 pages, status, found the crontab</a:t>
            </a:r>
            <a:endParaRPr lang="en-US" sz="1000" dirty="0"/>
          </a:p>
        </p:txBody>
      </p:sp>
      <p:sp>
        <p:nvSpPr>
          <p:cNvPr id="11" name="Shape 8"/>
          <p:cNvSpPr/>
          <p:nvPr/>
        </p:nvSpPr>
        <p:spPr>
          <a:xfrm>
            <a:off x="1883664" y="1828800"/>
            <a:ext cx="192024" cy="0"/>
          </a:xfrm>
          <a:prstGeom prst="line">
            <a:avLst/>
          </a:prstGeom>
          <a:noFill/>
          <a:ln w="19050">
            <a:solidFill>
              <a:srgbClr val="6E6E6E"/>
            </a:solidFill>
            <a:prstDash val="solid"/>
            <a:tailEnd type="triangle"/>
          </a:ln>
        </p:spPr>
      </p:sp>
      <p:sp>
        <p:nvSpPr>
          <p:cNvPr id="12" name="Shape 9"/>
          <p:cNvSpPr/>
          <p:nvPr/>
        </p:nvSpPr>
        <p:spPr>
          <a:xfrm>
            <a:off x="2084832" y="1554480"/>
            <a:ext cx="1417320" cy="548640"/>
          </a:xfrm>
          <a:prstGeom prst="roundRect">
            <a:avLst>
              <a:gd name="adj" fmla="val 13333"/>
            </a:avLst>
          </a:prstGeom>
          <a:solidFill>
            <a:srgbClr val="2C2C2C"/>
          </a:solidFill>
          <a:ln w="12700">
            <a:solidFill>
              <a:srgbClr val="2C2C2C"/>
            </a:solidFill>
            <a:prstDash val="solid"/>
          </a:ln>
        </p:spPr>
      </p:sp>
      <p:sp>
        <p:nvSpPr>
          <p:cNvPr id="13" name="Text 10"/>
          <p:cNvSpPr/>
          <p:nvPr/>
        </p:nvSpPr>
        <p:spPr>
          <a:xfrm>
            <a:off x="208483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a:t>
            </a:r>
            <a:endParaRPr lang="en-US" sz="1200" dirty="0"/>
          </a:p>
        </p:txBody>
      </p:sp>
      <p:sp>
        <p:nvSpPr>
          <p:cNvPr id="14" name="Text 11"/>
          <p:cNvSpPr/>
          <p:nvPr/>
        </p:nvSpPr>
        <p:spPr>
          <a:xfrm>
            <a:off x="203911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timed test plan, IST + UTC</a:t>
            </a:r>
            <a:endParaRPr lang="en-US" sz="1000" dirty="0"/>
          </a:p>
        </p:txBody>
      </p:sp>
      <p:sp>
        <p:nvSpPr>
          <p:cNvPr id="15" name="Shape 12"/>
          <p:cNvSpPr/>
          <p:nvPr/>
        </p:nvSpPr>
        <p:spPr>
          <a:xfrm>
            <a:off x="3511296" y="1828800"/>
            <a:ext cx="192024" cy="0"/>
          </a:xfrm>
          <a:prstGeom prst="line">
            <a:avLst/>
          </a:prstGeom>
          <a:noFill/>
          <a:ln w="19050">
            <a:solidFill>
              <a:srgbClr val="6E6E6E"/>
            </a:solidFill>
            <a:prstDash val="solid"/>
            <a:tailEnd type="triangle"/>
          </a:ln>
        </p:spPr>
      </p:sp>
      <p:sp>
        <p:nvSpPr>
          <p:cNvPr id="16" name="Shape 13"/>
          <p:cNvSpPr/>
          <p:nvPr/>
        </p:nvSpPr>
        <p:spPr>
          <a:xfrm>
            <a:off x="3712464" y="1554480"/>
            <a:ext cx="1417320" cy="548640"/>
          </a:xfrm>
          <a:prstGeom prst="roundRect">
            <a:avLst>
              <a:gd name="adj" fmla="val 13333"/>
            </a:avLst>
          </a:prstGeom>
          <a:solidFill>
            <a:srgbClr val="EB1000"/>
          </a:solidFill>
          <a:ln w="12700">
            <a:solidFill>
              <a:srgbClr val="EB1000"/>
            </a:solidFill>
            <a:prstDash val="solid"/>
          </a:ln>
        </p:spPr>
      </p:sp>
      <p:sp>
        <p:nvSpPr>
          <p:cNvPr id="17" name="Text 14"/>
          <p:cNvSpPr/>
          <p:nvPr/>
        </p:nvSpPr>
        <p:spPr>
          <a:xfrm>
            <a:off x="3712464"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18" name="Text 15"/>
          <p:cNvSpPr/>
          <p:nvPr/>
        </p:nvSpPr>
        <p:spPr>
          <a:xfrm>
            <a:off x="3666744"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user approves every change</a:t>
            </a:r>
            <a:endParaRPr lang="en-US" sz="1000" dirty="0"/>
          </a:p>
        </p:txBody>
      </p:sp>
      <p:sp>
        <p:nvSpPr>
          <p:cNvPr id="19" name="Shape 16"/>
          <p:cNvSpPr/>
          <p:nvPr/>
        </p:nvSpPr>
        <p:spPr>
          <a:xfrm>
            <a:off x="5138928" y="1828800"/>
            <a:ext cx="192024" cy="0"/>
          </a:xfrm>
          <a:prstGeom prst="line">
            <a:avLst/>
          </a:prstGeom>
          <a:noFill/>
          <a:ln w="19050">
            <a:solidFill>
              <a:srgbClr val="6E6E6E"/>
            </a:solidFill>
            <a:prstDash val="solid"/>
            <a:tailEnd type="triangle"/>
          </a:ln>
        </p:spPr>
      </p:sp>
      <p:sp>
        <p:nvSpPr>
          <p:cNvPr id="20" name="Shape 17"/>
          <p:cNvSpPr/>
          <p:nvPr/>
        </p:nvSpPr>
        <p:spPr>
          <a:xfrm>
            <a:off x="5340096" y="1554480"/>
            <a:ext cx="1417320" cy="548640"/>
          </a:xfrm>
          <a:prstGeom prst="roundRect">
            <a:avLst>
              <a:gd name="adj" fmla="val 13333"/>
            </a:avLst>
          </a:prstGeom>
          <a:solidFill>
            <a:srgbClr val="2C2C2C"/>
          </a:solidFill>
          <a:ln w="12700">
            <a:solidFill>
              <a:srgbClr val="2C2C2C"/>
            </a:solidFill>
            <a:prstDash val="solid"/>
          </a:ln>
        </p:spPr>
      </p:sp>
      <p:sp>
        <p:nvSpPr>
          <p:cNvPr id="21" name="Text 18"/>
          <p:cNvSpPr/>
          <p:nvPr/>
        </p:nvSpPr>
        <p:spPr>
          <a:xfrm>
            <a:off x="5340096"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Write</a:t>
            </a:r>
            <a:endParaRPr lang="en-US" sz="1200" dirty="0"/>
          </a:p>
        </p:txBody>
      </p:sp>
      <p:sp>
        <p:nvSpPr>
          <p:cNvPr id="22" name="Text 19"/>
          <p:cNvSpPr/>
          <p:nvPr/>
        </p:nvSpPr>
        <p:spPr>
          <a:xfrm>
            <a:off x="5294376"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crontab rows via DA API</a:t>
            </a:r>
            <a:endParaRPr lang="en-US" sz="1000" dirty="0"/>
          </a:p>
        </p:txBody>
      </p:sp>
      <p:sp>
        <p:nvSpPr>
          <p:cNvPr id="23" name="Shape 20"/>
          <p:cNvSpPr/>
          <p:nvPr/>
        </p:nvSpPr>
        <p:spPr>
          <a:xfrm>
            <a:off x="6766560" y="1828800"/>
            <a:ext cx="192024" cy="0"/>
          </a:xfrm>
          <a:prstGeom prst="line">
            <a:avLst/>
          </a:prstGeom>
          <a:noFill/>
          <a:ln w="19050">
            <a:solidFill>
              <a:srgbClr val="6E6E6E"/>
            </a:solidFill>
            <a:prstDash val="solid"/>
            <a:tailEnd type="triangle"/>
          </a:ln>
        </p:spPr>
      </p:sp>
      <p:sp>
        <p:nvSpPr>
          <p:cNvPr id="24" name="Shape 21"/>
          <p:cNvSpPr/>
          <p:nvPr/>
        </p:nvSpPr>
        <p:spPr>
          <a:xfrm>
            <a:off x="6967728" y="1554480"/>
            <a:ext cx="1417320" cy="548640"/>
          </a:xfrm>
          <a:prstGeom prst="roundRect">
            <a:avLst>
              <a:gd name="adj" fmla="val 13333"/>
            </a:avLst>
          </a:prstGeom>
          <a:solidFill>
            <a:srgbClr val="2C2C2C"/>
          </a:solidFill>
          <a:ln w="12700">
            <a:solidFill>
              <a:srgbClr val="2C2C2C"/>
            </a:solidFill>
            <a:prstDash val="solid"/>
          </a:ln>
        </p:spPr>
      </p:sp>
      <p:sp>
        <p:nvSpPr>
          <p:cNvPr id="25" name="Text 22"/>
          <p:cNvSpPr/>
          <p:nvPr/>
        </p:nvSpPr>
        <p:spPr>
          <a:xfrm>
            <a:off x="6967728"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Activate</a:t>
            </a:r>
            <a:endParaRPr lang="en-US" sz="1200" dirty="0"/>
          </a:p>
        </p:txBody>
      </p:sp>
      <p:sp>
        <p:nvSpPr>
          <p:cNvPr id="26" name="Text 23"/>
          <p:cNvSpPr/>
          <p:nvPr/>
        </p:nvSpPr>
        <p:spPr>
          <a:xfrm>
            <a:off x="6922008"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preview the sheet</a:t>
            </a:r>
            <a:endParaRPr lang="en-US" sz="1000" dirty="0"/>
          </a:p>
        </p:txBody>
      </p:sp>
      <p:sp>
        <p:nvSpPr>
          <p:cNvPr id="27" name="Shape 24"/>
          <p:cNvSpPr/>
          <p:nvPr/>
        </p:nvSpPr>
        <p:spPr>
          <a:xfrm>
            <a:off x="8394192" y="1828800"/>
            <a:ext cx="192024" cy="0"/>
          </a:xfrm>
          <a:prstGeom prst="line">
            <a:avLst/>
          </a:prstGeom>
          <a:noFill/>
          <a:ln w="19050">
            <a:solidFill>
              <a:srgbClr val="6E6E6E"/>
            </a:solidFill>
            <a:prstDash val="solid"/>
            <a:tailEnd type="triangle"/>
          </a:ln>
        </p:spPr>
      </p:sp>
      <p:sp>
        <p:nvSpPr>
          <p:cNvPr id="28" name="Shape 25"/>
          <p:cNvSpPr/>
          <p:nvPr/>
        </p:nvSpPr>
        <p:spPr>
          <a:xfrm>
            <a:off x="8595360" y="1554480"/>
            <a:ext cx="1417320" cy="548640"/>
          </a:xfrm>
          <a:prstGeom prst="roundRect">
            <a:avLst>
              <a:gd name="adj" fmla="val 13333"/>
            </a:avLst>
          </a:prstGeom>
          <a:solidFill>
            <a:srgbClr val="2C2C2C"/>
          </a:solidFill>
          <a:ln w="12700">
            <a:solidFill>
              <a:srgbClr val="2C2C2C"/>
            </a:solidFill>
            <a:prstDash val="solid"/>
          </a:ln>
        </p:spPr>
      </p:sp>
      <p:sp>
        <p:nvSpPr>
          <p:cNvPr id="29" name="Text 26"/>
          <p:cNvSpPr/>
          <p:nvPr/>
        </p:nvSpPr>
        <p:spPr>
          <a:xfrm>
            <a:off x="859536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Verify</a:t>
            </a:r>
            <a:endParaRPr lang="en-US" sz="1200" dirty="0"/>
          </a:p>
        </p:txBody>
      </p:sp>
      <p:sp>
        <p:nvSpPr>
          <p:cNvPr id="30" name="Text 27"/>
          <p:cNvSpPr/>
          <p:nvPr/>
        </p:nvSpPr>
        <p:spPr>
          <a:xfrm>
            <a:off x="854964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status + audit-log polling</a:t>
            </a:r>
            <a:endParaRPr lang="en-US" sz="1000" dirty="0"/>
          </a:p>
        </p:txBody>
      </p:sp>
      <p:sp>
        <p:nvSpPr>
          <p:cNvPr id="31" name="Shape 28"/>
          <p:cNvSpPr/>
          <p:nvPr/>
        </p:nvSpPr>
        <p:spPr>
          <a:xfrm>
            <a:off x="10021824" y="1828800"/>
            <a:ext cx="192024" cy="0"/>
          </a:xfrm>
          <a:prstGeom prst="line">
            <a:avLst/>
          </a:prstGeom>
          <a:noFill/>
          <a:ln w="19050">
            <a:solidFill>
              <a:srgbClr val="6E6E6E"/>
            </a:solidFill>
            <a:prstDash val="solid"/>
            <a:tailEnd type="triangle"/>
          </a:ln>
        </p:spPr>
      </p:sp>
      <p:sp>
        <p:nvSpPr>
          <p:cNvPr id="32" name="Shape 29"/>
          <p:cNvSpPr/>
          <p:nvPr/>
        </p:nvSpPr>
        <p:spPr>
          <a:xfrm>
            <a:off x="10222992" y="1554480"/>
            <a:ext cx="1417320" cy="548640"/>
          </a:xfrm>
          <a:prstGeom prst="roundRect">
            <a:avLst>
              <a:gd name="adj" fmla="val 13333"/>
            </a:avLst>
          </a:prstGeom>
          <a:solidFill>
            <a:srgbClr val="2C2C2C"/>
          </a:solidFill>
          <a:ln w="12700">
            <a:solidFill>
              <a:srgbClr val="2C2C2C"/>
            </a:solidFill>
            <a:prstDash val="solid"/>
          </a:ln>
        </p:spPr>
      </p:sp>
      <p:sp>
        <p:nvSpPr>
          <p:cNvPr id="33" name="Text 30"/>
          <p:cNvSpPr/>
          <p:nvPr/>
        </p:nvSpPr>
        <p:spPr>
          <a:xfrm>
            <a:off x="1022299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4" name="Text 31"/>
          <p:cNvSpPr/>
          <p:nvPr/>
        </p:nvSpPr>
        <p:spPr>
          <a:xfrm>
            <a:off x="1017727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evidence workbook</a:t>
            </a:r>
            <a:endParaRPr lang="en-US" sz="1000" dirty="0"/>
          </a:p>
        </p:txBody>
      </p:sp>
      <p:sp>
        <p:nvSpPr>
          <p:cNvPr id="35" name="Text 32"/>
          <p:cNvSpPr/>
          <p:nvPr/>
        </p:nvSpPr>
        <p:spPr>
          <a:xfrm>
            <a:off x="457200" y="2971800"/>
            <a:ext cx="6766560" cy="29260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Interaction flow: reconstructed from the 19 Oct test log (the original prompt was not retained)</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20 recorded user entries (plan approval, page choices, per-task approvals, "wait for check") and 24 recorded Ema actions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Ema never published directly: every go-live came from the scheduler</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Audit log: only sheet previews (user account) and system indexing entries; no direct publish calls.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Mechanism: schedule sheet /.helix/crontab (UTC, 5-minute ticks), not the editor plugin</a:t>
            </a:r>
            <a:endParaRPr lang="en-US" sz="1300" dirty="0"/>
          </a:p>
        </p:txBody>
      </p:sp>
      <p:pic>
        <p:nvPicPr>
          <p:cNvPr id="36" name="Image 1" descr="Figure 12: Schedule sheet with Ema's 5 rows">    </p:cNvPr>
          <p:cNvPicPr>
            <a:picLocks noChangeAspect="1"/>
          </p:cNvPicPr>
          <p:nvPr/>
        </p:nvPicPr>
        <p:blipFill>
          <a:blip r:embed="rId2"/>
          <a:stretch>
            <a:fillRect/>
          </a:stretch>
        </p:blipFill>
        <p:spPr>
          <a:xfrm>
            <a:off x="7863514" y="2926080"/>
            <a:ext cx="3612532" cy="2788920"/>
          </a:xfrm>
          <a:prstGeom prst="rect">
            <a:avLst/>
          </a:prstGeom>
        </p:spPr>
      </p:pic>
      <p:sp>
        <p:nvSpPr>
          <p:cNvPr id="37" name="Shape 33"/>
          <p:cNvSpPr/>
          <p:nvPr/>
        </p:nvSpPr>
        <p:spPr>
          <a:xfrm>
            <a:off x="7863514" y="2926080"/>
            <a:ext cx="3612532" cy="2788920"/>
          </a:xfrm>
          <a:prstGeom prst="rect">
            <a:avLst/>
          </a:prstGeom>
          <a:ln w="9525">
            <a:solidFill>
              <a:srgbClr val="D9D9D9"/>
            </a:solidFill>
            <a:prstDash val="solid"/>
          </a:ln>
        </p:spPr>
      </p:sp>
      <p:sp>
        <p:nvSpPr>
          <p:cNvPr id="38" name="Text 34"/>
          <p:cNvSpPr/>
          <p:nvPr/>
        </p:nvSpPr>
        <p:spPr>
          <a:xfrm>
            <a:off x="7589520" y="5742432"/>
            <a:ext cx="41605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12: Schedule sheet with Ema's 5 rows</a:t>
            </a:r>
            <a:endParaRPr lang="en-US" sz="900" dirty="0"/>
          </a:p>
        </p:txBody>
      </p:sp>
      <p:sp>
        <p:nvSpPr>
          <p:cNvPr id="39" name="Text 3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https://da.live/sheet#/araji-adobe/bv-poc-wknd-aln/.helix/crontab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Results: 5 of 5 tasks passed</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560320"/>
                <a:gridCol w="3291840"/>
                <a:gridCol w="23774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Plan (IST,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1 · 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adventures/beervana-portland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16:00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16:00:04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2 · Schedule, then cancel</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adventures/napa-wine-tasting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row removed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Never published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3 · Reschedule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adventures/tahoe-skiing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16:20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16:20:04 only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4 · Bulk (4 pages, 1 row)</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 × magazine 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All 4 live 16:25:04–06</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5 · Publish +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magazine/arctic-surfing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 /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16:25, removed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4160520"/>
            <a:ext cx="11247120" cy="173736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Verified twice: Ema's evidence workbook AND Adobe's audit log (17 entries, re-checked 22 Oct)</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Live content was identical to preview for all 7 publishes (workbook)</a:t>
            </a:r>
            <a:endParaRPr lang="en-US" sz="1300" dirty="0"/>
          </a:p>
          <a:p>
            <a:pPr marL="177800" indent="-177800">
              <a:spcAft>
                <a:spcPts val="400"/>
              </a:spcAft>
              <a:buSzPct val="100000"/>
              <a:buChar char="■"/>
            </a:pPr>
            <a:r>
              <a:rPr lang="en-US" sz="1300" b="1" dirty="0">
                <a:solidFill>
                  <a:srgbClr val="2D9D78"/>
                </a:solidFill>
                <a:latin typeface="Arial" pitchFamily="34" charset="0"/>
                <a:ea typeface="Arial" pitchFamily="34" charset="-122"/>
                <a:cs typeface="Arial" pitchFamily="34" charset="-120"/>
              </a:rPr>
              <a:t>Two capabilities the editor dialog doesn't offer: bulk publishing and scheduled unpublish</a:t>
            </a:r>
            <a:endParaRPr lang="en-US" sz="1300" dirty="0"/>
          </a:p>
        </p:txBody>
      </p:sp>
      <p:sp>
        <p:nvSpPr>
          <p:cNvPr id="10" name="Text 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https://main--bv-poc-wknd-aln--araji-adobe.aem.live/us/en/adventures/beervana-portland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5 · EMA'S ADDED VALUE AND LIMITATIONS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vs Ema: what changes, what doesn't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194560"/>
                <a:gridCol w="4206240"/>
                <a:gridCol w="48463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Manual (editor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Ema (schedule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Config row + site registration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in the UI; Ema found and created the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Bulk publishing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One page per dialog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Many pages per instruction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Scheduled unpublish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Not offered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Auto-preview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No: publishes the existing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Queue 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Only the sheet itself</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 handling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Audit trail</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Explicit scheduled-publish entries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Side effects only; logged as the user account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Verification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Human checks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Ema polls status + audit log, writes 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4800600"/>
            <a:ext cx="11247120" cy="1234440"/>
          </a:xfrm>
          <a:prstGeom prst="rect">
            <a:avLst/>
          </a:prstGeom>
          <a:noFill/>
          <a:ln/>
        </p:spPr>
        <p:txBody>
          <a:bodyPr wrap="square" rtlCol="0" anchor="t"/>
          <a:lstStyle/>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Still needs the user: approvals (20 recorded entries) and staying in the session while Ema verifies (it can't monitor between turns)</a:t>
            </a:r>
            <a:endParaRPr lang="en-US" sz="1200" dirty="0"/>
          </a:p>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Risk: one syntax error in the shared sheet disables every job in it (Ema workbook)</a:t>
            </a:r>
            <a:endParaRPr lang="en-US" sz="1200" dirty="0"/>
          </a:p>
          <a:p>
            <a:pPr marL="177800" indent="-1778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No efficiency metrics claimed: the 74-minute test window was driven by the schedule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What we asked, what happened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11</a:t>
            </a:r>
            <a:endParaRPr lang="en-US" sz="900" dirty="0"/>
          </a:p>
        </p:txBody>
      </p:sp>
      <p:sp>
        <p:nvSpPr>
          <p:cNvPr id="8" name="Text 5"/>
          <p:cNvSpPr/>
          <p:nvPr/>
        </p:nvSpPr>
        <p:spPr>
          <a:xfrm>
            <a:off x="457200" y="1463040"/>
            <a:ext cx="667512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Same 5-task superprompt on 8 equivalent pages; hints included; 4 user messages</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Pre-check ("no changes yet") re-previewed all 8 pages, twice: 6:03 and 6:07 PM IST</a:t>
            </a:r>
            <a:endParaRPr lang="en-US" sz="1300" dirty="0"/>
          </a:p>
          <a:p>
            <a:pPr marL="177800" indent="-1778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Read the schedule sheet after errors and listed Ema's 5 rows correctly</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 cannot schedule a publish action": no real-time clock</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Given an exact time (6:45 PM IST): sheet read/write errors, then "cannot read or write"</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Fallback advice: a past date (14 Jul 2025) and a wrong activation step; claimed the scheduler app can create schedules</a:t>
            </a:r>
            <a:endParaRPr lang="en-US" sz="1300" dirty="0"/>
          </a:p>
          <a:p>
            <a:pPr marL="177800" indent="-177800">
              <a:spcAft>
                <a:spcPts val="400"/>
              </a:spcAft>
              <a:buSzPct val="100000"/>
              <a:buChar char="■"/>
            </a:pPr>
            <a:r>
              <a:rPr lang="en-US" sz="1300" b="1" dirty="0">
                <a:solidFill>
                  <a:srgbClr val="EB1000"/>
                </a:solidFill>
                <a:latin typeface="Arial" pitchFamily="34" charset="0"/>
                <a:ea typeface="Arial" pitchFamily="34" charset="-122"/>
                <a:cs typeface="Arial" pitchFamily="34" charset="-120"/>
              </a:rPr>
              <a:t>Outcome: no schedule created, no page published</a:t>
            </a:r>
            <a:endParaRPr lang="en-US" sz="1300" dirty="0"/>
          </a:p>
          <a:p>
            <a:pPr lvl="1" marL="457200" indent="-228600">
              <a:spcAft>
                <a:spcPts val="400"/>
              </a:spcAft>
              <a:buSzPct val="100000"/>
              <a:buChar char="•"/>
            </a:pPr>
            <a:r>
              <a:rPr lang="en-US" sz="1300" dirty="0">
                <a:solidFill>
                  <a:srgbClr val="6E6E6E"/>
                </a:solidFill>
                <a:latin typeface="Arial" pitchFamily="34" charset="0"/>
                <a:ea typeface="Arial" pitchFamily="34" charset="-122"/>
                <a:cs typeface="Arial" pitchFamily="34" charset="-120"/>
              </a:rPr>
              <a:t>Verified with Adobe's audit log and page status; the user's own incomplete sheet row (never activated) is noted in the appendix</a:t>
            </a:r>
            <a:endParaRPr lang="en-US" sz="1300" dirty="0"/>
          </a:p>
        </p:txBody>
      </p:sp>
      <p:pic>
        <p:nvPicPr>
          <p:cNvPr id="9" name="Image 1" descr="Figure 13: Experience Workspace: &quot;I cannot schedule&quot;">    </p:cNvPr>
          <p:cNvPicPr>
            <a:picLocks noChangeAspect="1"/>
          </p:cNvPicPr>
          <p:nvPr/>
        </p:nvPicPr>
        <p:blipFill>
          <a:blip r:embed="rId2"/>
          <a:stretch>
            <a:fillRect/>
          </a:stretch>
        </p:blipFill>
        <p:spPr>
          <a:xfrm>
            <a:off x="7511704" y="1417320"/>
            <a:ext cx="1664391" cy="4526280"/>
          </a:xfrm>
          <a:prstGeom prst="rect">
            <a:avLst/>
          </a:prstGeom>
        </p:spPr>
      </p:pic>
      <p:sp>
        <p:nvSpPr>
          <p:cNvPr id="10" name="Shape 6"/>
          <p:cNvSpPr/>
          <p:nvPr/>
        </p:nvSpPr>
        <p:spPr>
          <a:xfrm>
            <a:off x="7511704" y="1417320"/>
            <a:ext cx="1664391" cy="4526280"/>
          </a:xfrm>
          <a:prstGeom prst="rect">
            <a:avLst/>
          </a:prstGeom>
          <a:ln w="9525">
            <a:solidFill>
              <a:srgbClr val="D9D9D9"/>
            </a:solidFill>
            <a:prstDash val="solid"/>
          </a:ln>
        </p:spPr>
      </p:sp>
      <p:sp>
        <p:nvSpPr>
          <p:cNvPr id="11" name="Text 7"/>
          <p:cNvSpPr/>
          <p:nvPr/>
        </p:nvSpPr>
        <p:spPr>
          <a:xfrm>
            <a:off x="726948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13: Experience Workspace: "I cannot schedule"</a:t>
            </a:r>
            <a:endParaRPr lang="en-US" sz="900" dirty="0"/>
          </a:p>
        </p:txBody>
      </p:sp>
      <p:pic>
        <p:nvPicPr>
          <p:cNvPr id="12" name="Image 2" descr="Figure 14: Experience Workspace: sheet errors and a past date">    </p:cNvPr>
          <p:cNvPicPr>
            <a:picLocks noChangeAspect="1"/>
          </p:cNvPicPr>
          <p:nvPr/>
        </p:nvPicPr>
        <p:blipFill>
          <a:blip r:embed="rId3"/>
          <a:stretch>
            <a:fillRect/>
          </a:stretch>
        </p:blipFill>
        <p:spPr>
          <a:xfrm>
            <a:off x="9641346" y="1417320"/>
            <a:ext cx="2068547" cy="4526280"/>
          </a:xfrm>
          <a:prstGeom prst="rect">
            <a:avLst/>
          </a:prstGeom>
        </p:spPr>
      </p:pic>
      <p:sp>
        <p:nvSpPr>
          <p:cNvPr id="13" name="Shape 8"/>
          <p:cNvSpPr/>
          <p:nvPr/>
        </p:nvSpPr>
        <p:spPr>
          <a:xfrm>
            <a:off x="9641346" y="1417320"/>
            <a:ext cx="2068547" cy="4526280"/>
          </a:xfrm>
          <a:prstGeom prst="rect">
            <a:avLst/>
          </a:prstGeom>
          <a:ln w="9525">
            <a:solidFill>
              <a:srgbClr val="D9D9D9"/>
            </a:solidFill>
            <a:prstDash val="solid"/>
          </a:ln>
        </p:spPr>
      </p:sp>
      <p:sp>
        <p:nvSpPr>
          <p:cNvPr id="14" name="Text 9"/>
          <p:cNvSpPr/>
          <p:nvPr/>
        </p:nvSpPr>
        <p:spPr>
          <a:xfrm>
            <a:off x="960120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14: Experience Workspace: sheet errors and a past date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vs Experience Workspace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291840"/>
                <a:gridCol w="3566160"/>
                <a:gridCol w="4389120"/>
              </a:tblGrid>
              <a:tr h="0">
                <a:tc>
                  <a:txBody>
                    <a:bodyPr/>
                    <a:lstStyle/>
                    <a:p>
                      <a:pPr indent="0" marL="0">
                        <a:buNone/>
                      </a:pP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Ema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Experience Workspace (22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Schedules created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5 / 5 tasks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Pages published / unpublished on time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7 / 7 + 1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User messages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20 recorded entries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Found the mechanism</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By itself</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Given hints; read the sheet, couldn't write it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Verified results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Status + audit log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Not reached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Errors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 retry, 1 trimmed output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6 × Bad Request; contradictory answers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Unrequested changes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None recorded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8 pages re-previewed twice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Advice quality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Past date; wrong activation step; scheduler-app claim contradicts docs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5257800"/>
            <a:ext cx="11247120" cy="640080"/>
          </a:xfrm>
          <a:prstGeom prst="rect">
            <a:avLst/>
          </a:prstGeom>
          <a:noFill/>
          <a:ln/>
        </p:spPr>
        <p:txBody>
          <a:bodyPr wrap="square" rtlCol="0" anchor="ctr"/>
          <a:lstStyle/>
          <a:p>
            <a:pPr indent="0" marL="0">
              <a:buNone/>
            </a:pPr>
            <a:r>
              <a:rPr lang="en-US" sz="1300" b="1" dirty="0">
                <a:solidFill>
                  <a:srgbClr val="2C2C2C"/>
                </a:solidFill>
                <a:latin typeface="Arial" pitchFamily="34" charset="0"/>
                <a:ea typeface="Arial" pitchFamily="34" charset="-122"/>
                <a:cs typeface="Arial" pitchFamily="34" charset="-120"/>
              </a:rPr>
              <a:t>Characterisation: unsuccessful in our environment. Experience Workspace reported tool limitations (no time access, schedule-sheet read/write errors). Not shown to be unsupported in general.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Unpublishing a page: what happens to its assets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13</a:t>
            </a:r>
            <a:endParaRPr lang="en-US" sz="900" dirty="0"/>
          </a:p>
        </p:txBody>
      </p:sp>
      <p:sp>
        <p:nvSpPr>
          <p:cNvPr id="8" name="Text 5"/>
          <p:cNvSpPr/>
          <p:nvPr/>
        </p:nvSpPr>
        <p:spPr>
          <a:xfrm>
            <a:off x="457200" y="1417320"/>
            <a:ext cx="11247120" cy="320040"/>
          </a:xfrm>
          <a:prstGeom prst="rect">
            <a:avLst/>
          </a:prstGeom>
          <a:noFill/>
          <a:ln/>
        </p:spPr>
        <p:txBody>
          <a:bodyPr wrap="square" rtlCol="0" anchor="ctr"/>
          <a:lstStyle/>
          <a:p>
            <a:pPr indent="0" marL="0">
              <a:buNone/>
            </a:pPr>
            <a:r>
              <a:rPr lang="en-US" sz="1300" dirty="0">
                <a:solidFill>
                  <a:srgbClr val="6E6E6E"/>
                </a:solidFill>
                <a:latin typeface="Arial" pitchFamily="34" charset="0"/>
                <a:ea typeface="Arial" pitchFamily="34" charset="-122"/>
                <a:cs typeface="Arial" pitchFamily="34" charset="-120"/>
              </a:rPr>
              <a:t>Test: new page with a new image → scheduled publish → Unpublish from the editor (22 Oct)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914400"/>
        </p:xfrm>
        <a:graphic>
          <a:graphicData uri="http://schemas.openxmlformats.org/drawingml/2006/table">
            <a:tbl>
              <a:tblPr/>
              <a:tblGrid>
                <a:gridCol w="2286000"/>
                <a:gridCol w="39319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the page was unpublished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on the live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in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Also gone: the editor's Unpublish removes preview and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The image (media_1717…png)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Still served: full 5.2 MB original, also under other paths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Sitemap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 page unpublished by schedule is removed (arctic-surfing, Ema test 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Removing the image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 option found in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6E6E6E"/>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10" name="Text 6"/>
          <p:cNvSpPr/>
          <p:nvPr/>
        </p:nvSpPr>
        <p:spPr>
          <a:xfrm>
            <a:off x="457200" y="4480560"/>
            <a:ext cx="7315200" cy="137160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Images are stored permanently, keyed by their content; unpublishing a page doesn't touch them</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Side finding: the sitemap still uses the old site host (edscapstoneajay) in every URL</a:t>
            </a:r>
            <a:endParaRPr lang="en-US" sz="1200" dirty="0"/>
          </a:p>
        </p:txBody>
      </p:sp>
      <p:pic>
        <p:nvPicPr>
          <p:cNvPr id="11" name="Image 1" descr="Figure 15: Page not found after Unpublish">    </p:cNvPr>
          <p:cNvPicPr>
            <a:picLocks noChangeAspect="1"/>
          </p:cNvPicPr>
          <p:nvPr/>
        </p:nvPicPr>
        <p:blipFill>
          <a:blip r:embed="rId2"/>
          <a:stretch>
            <a:fillRect/>
          </a:stretch>
        </p:blipFill>
        <p:spPr>
          <a:xfrm>
            <a:off x="8747384" y="1463040"/>
            <a:ext cx="2256272" cy="2011680"/>
          </a:xfrm>
          <a:prstGeom prst="rect">
            <a:avLst/>
          </a:prstGeom>
        </p:spPr>
      </p:pic>
      <p:sp>
        <p:nvSpPr>
          <p:cNvPr id="12" name="Shape 7"/>
          <p:cNvSpPr/>
          <p:nvPr/>
        </p:nvSpPr>
        <p:spPr>
          <a:xfrm>
            <a:off x="8747384" y="1463040"/>
            <a:ext cx="2256272" cy="2011680"/>
          </a:xfrm>
          <a:prstGeom prst="rect">
            <a:avLst/>
          </a:prstGeom>
          <a:ln w="9525">
            <a:solidFill>
              <a:srgbClr val="D9D9D9"/>
            </a:solidFill>
            <a:prstDash val="solid"/>
          </a:ln>
        </p:spPr>
      </p:sp>
      <p:sp>
        <p:nvSpPr>
          <p:cNvPr id="13" name="Text 8"/>
          <p:cNvSpPr/>
          <p:nvPr/>
        </p:nvSpPr>
        <p:spPr>
          <a:xfrm>
            <a:off x="8001000" y="3502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15: Page not found after Unpublish</a:t>
            </a:r>
            <a:endParaRPr lang="en-US" sz="900" dirty="0"/>
          </a:p>
        </p:txBody>
      </p:sp>
      <p:pic>
        <p:nvPicPr>
          <p:cNvPr id="14" name="Image 2" descr="Figure 16: The page's image still loads">    </p:cNvPr>
          <p:cNvPicPr>
            <a:picLocks noChangeAspect="1"/>
          </p:cNvPicPr>
          <p:nvPr/>
        </p:nvPicPr>
        <p:blipFill>
          <a:blip r:embed="rId3"/>
          <a:stretch>
            <a:fillRect/>
          </a:stretch>
        </p:blipFill>
        <p:spPr>
          <a:xfrm>
            <a:off x="8689599" y="3749040"/>
            <a:ext cx="2371842" cy="2011680"/>
          </a:xfrm>
          <a:prstGeom prst="rect">
            <a:avLst/>
          </a:prstGeom>
        </p:spPr>
      </p:pic>
      <p:sp>
        <p:nvSpPr>
          <p:cNvPr id="15" name="Shape 9"/>
          <p:cNvSpPr/>
          <p:nvPr/>
        </p:nvSpPr>
        <p:spPr>
          <a:xfrm>
            <a:off x="8689599" y="3749040"/>
            <a:ext cx="2371842" cy="2011680"/>
          </a:xfrm>
          <a:prstGeom prst="rect">
            <a:avLst/>
          </a:prstGeom>
          <a:ln w="9525">
            <a:solidFill>
              <a:srgbClr val="D9D9D9"/>
            </a:solidFill>
            <a:prstDash val="solid"/>
          </a:ln>
        </p:spPr>
      </p:sp>
      <p:sp>
        <p:nvSpPr>
          <p:cNvPr id="16" name="Text 10"/>
          <p:cNvSpPr/>
          <p:nvPr/>
        </p:nvSpPr>
        <p:spPr>
          <a:xfrm>
            <a:off x="8001000" y="5788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16: The page's image still loads</a:t>
            </a:r>
            <a:endParaRPr lang="en-US" sz="900" dirty="0"/>
          </a:p>
        </p:txBody>
      </p:sp>
      <p:sp>
        <p:nvSpPr>
          <p:cNvPr id="17" name="Text 1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https://main--bv-poc-wknd-aln--araji-adobe.aem.live/us/en/media_171704bfe62ecbfe053083487fe19f22094048810.png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 Fragment and asset publishing dependencies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675120" cy="914400"/>
        </p:xfrm>
        <a:graphic>
          <a:graphicData uri="http://schemas.openxmlformats.org/drawingml/2006/table">
            <a:tbl>
              <a:tblPr/>
              <a:tblGrid>
                <a:gridCol w="2103120"/>
                <a:gridCol w="34747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Published with the scheduled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EDS fragment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 needs its own preview and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17–18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inside the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automatically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before the page goes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Already reachable on live after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2880360"/>
            <a:ext cx="6675120" cy="310896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Page live before its fragment: visitors see the raw fragment URL as a yellow button linking to a 404</a:t>
            </a:r>
            <a:endParaRPr lang="en-US" sz="1200" dirty="0"/>
          </a:p>
          <a:p>
            <a:pPr marL="177800" indent="-177800">
              <a:spcAft>
                <a:spcPts val="400"/>
              </a:spcAft>
              <a:buSzPct val="100000"/>
              <a:buChar char="■"/>
            </a:pPr>
            <a:r>
              <a:rPr lang="en-US" sz="1200" dirty="0">
                <a:solidFill>
                  <a:srgbClr val="2D9D78"/>
                </a:solidFill>
                <a:latin typeface="Arial" pitchFamily="34" charset="0"/>
                <a:ea typeface="Arial" pitchFamily="34" charset="-122"/>
                <a:cs typeface="Arial" pitchFamily="34" charset="-120"/>
              </a:rPr>
              <a:t>Fragment published later: the page fixes itself, no republish needed</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Browsers that saw the broken version may keep it for up to 2 hours (cached 404)</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No dependency detection or warning in preview, the dialog or the log</a:t>
            </a:r>
            <a:endParaRPr lang="en-US" sz="1200" dirty="0"/>
          </a:p>
          <a:p>
            <a:pPr marL="177800" indent="-177800">
              <a:spcAft>
                <a:spcPts val="400"/>
              </a:spcAft>
              <a:buSzPct val="100000"/>
              <a:buChar char="■"/>
            </a:pPr>
            <a:r>
              <a:rPr lang="en-US" sz="1200" dirty="0">
                <a:solidFill>
                  <a:srgbClr val="1473E6"/>
                </a:solidFill>
                <a:latin typeface="Arial" pitchFamily="34" charset="0"/>
                <a:ea typeface="Arial" pitchFamily="34" charset="-122"/>
                <a:cs typeface="Arial" pitchFamily="34" charset="-120"/>
              </a:rPr>
              <a:t>Bundle option: Snapshots (documented); scheduling a snapshot not tested</a:t>
            </a:r>
            <a:endParaRPr lang="en-US" sz="1200" dirty="0"/>
          </a:p>
          <a:p>
            <a:pPr lvl="1" marL="457200" indent="-2286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Scope: EDS document fragments only; AEM Content Fragments aren't integrated in this project</a:t>
            </a:r>
            <a:endParaRPr lang="en-US" sz="1200" dirty="0"/>
          </a:p>
        </p:txBody>
      </p:sp>
      <p:pic>
        <p:nvPicPr>
          <p:cNvPr id="10" name="Image 1" descr="Figure 17: Preview: fragment not loaded">    </p:cNvPr>
          <p:cNvPicPr>
            <a:picLocks noChangeAspect="1"/>
          </p:cNvPicPr>
          <p:nvPr/>
        </p:nvPicPr>
        <p:blipFill>
          <a:blip r:embed="rId2"/>
          <a:stretch>
            <a:fillRect/>
          </a:stretch>
        </p:blipFill>
        <p:spPr>
          <a:xfrm>
            <a:off x="8131998" y="1417320"/>
            <a:ext cx="2755525" cy="1325880"/>
          </a:xfrm>
          <a:prstGeom prst="rect">
            <a:avLst/>
          </a:prstGeom>
        </p:spPr>
      </p:pic>
      <p:sp>
        <p:nvSpPr>
          <p:cNvPr id="11" name="Shape 6"/>
          <p:cNvSpPr/>
          <p:nvPr/>
        </p:nvSpPr>
        <p:spPr>
          <a:xfrm>
            <a:off x="8131998" y="1417320"/>
            <a:ext cx="2755525" cy="1325880"/>
          </a:xfrm>
          <a:prstGeom prst="rect">
            <a:avLst/>
          </a:prstGeom>
          <a:ln w="9525">
            <a:solidFill>
              <a:srgbClr val="D9D9D9"/>
            </a:solidFill>
            <a:prstDash val="solid"/>
          </a:ln>
        </p:spPr>
      </p:sp>
      <p:sp>
        <p:nvSpPr>
          <p:cNvPr id="12" name="Text 7"/>
          <p:cNvSpPr/>
          <p:nvPr/>
        </p:nvSpPr>
        <p:spPr>
          <a:xfrm>
            <a:off x="7269480" y="277063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17: Preview: fragment not loaded</a:t>
            </a:r>
            <a:endParaRPr lang="en-US" sz="900" dirty="0"/>
          </a:p>
        </p:txBody>
      </p:sp>
      <p:pic>
        <p:nvPicPr>
          <p:cNvPr id="13" name="Image 2" descr="Figure 18: Live: page published before its fragment">    </p:cNvPr>
          <p:cNvPicPr>
            <a:picLocks noChangeAspect="1"/>
          </p:cNvPicPr>
          <p:nvPr/>
        </p:nvPicPr>
        <p:blipFill>
          <a:blip r:embed="rId3"/>
          <a:stretch>
            <a:fillRect/>
          </a:stretch>
        </p:blipFill>
        <p:spPr>
          <a:xfrm>
            <a:off x="8295846" y="3063240"/>
            <a:ext cx="2427828" cy="1325880"/>
          </a:xfrm>
          <a:prstGeom prst="rect">
            <a:avLst/>
          </a:prstGeom>
        </p:spPr>
      </p:pic>
      <p:sp>
        <p:nvSpPr>
          <p:cNvPr id="14" name="Shape 8"/>
          <p:cNvSpPr/>
          <p:nvPr/>
        </p:nvSpPr>
        <p:spPr>
          <a:xfrm>
            <a:off x="8295846" y="3063240"/>
            <a:ext cx="2427828" cy="1325880"/>
          </a:xfrm>
          <a:prstGeom prst="rect">
            <a:avLst/>
          </a:prstGeom>
          <a:ln w="9525">
            <a:solidFill>
              <a:srgbClr val="D9D9D9"/>
            </a:solidFill>
            <a:prstDash val="solid"/>
          </a:ln>
        </p:spPr>
      </p:sp>
      <p:sp>
        <p:nvSpPr>
          <p:cNvPr id="15" name="Text 9"/>
          <p:cNvSpPr/>
          <p:nvPr/>
        </p:nvSpPr>
        <p:spPr>
          <a:xfrm>
            <a:off x="7269480" y="44165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18: Live: page published before its fragment</a:t>
            </a:r>
            <a:endParaRPr lang="en-US" sz="900" dirty="0"/>
          </a:p>
        </p:txBody>
      </p:sp>
      <p:pic>
        <p:nvPicPr>
          <p:cNvPr id="16" name="Image 3" descr="Figure 19: Live: fixed once the fragment was published">    </p:cNvPr>
          <p:cNvPicPr>
            <a:picLocks noChangeAspect="1"/>
          </p:cNvPicPr>
          <p:nvPr/>
        </p:nvPicPr>
        <p:blipFill>
          <a:blip r:embed="rId4"/>
          <a:stretch>
            <a:fillRect/>
          </a:stretch>
        </p:blipFill>
        <p:spPr>
          <a:xfrm>
            <a:off x="8413603" y="4709160"/>
            <a:ext cx="2192315" cy="1051560"/>
          </a:xfrm>
          <a:prstGeom prst="rect">
            <a:avLst/>
          </a:prstGeom>
        </p:spPr>
      </p:pic>
      <p:sp>
        <p:nvSpPr>
          <p:cNvPr id="17" name="Shape 10"/>
          <p:cNvSpPr/>
          <p:nvPr/>
        </p:nvSpPr>
        <p:spPr>
          <a:xfrm>
            <a:off x="8413603" y="4709160"/>
            <a:ext cx="2192315" cy="1051560"/>
          </a:xfrm>
          <a:prstGeom prst="rect">
            <a:avLst/>
          </a:prstGeom>
          <a:ln w="9525">
            <a:solidFill>
              <a:srgbClr val="D9D9D9"/>
            </a:solidFill>
            <a:prstDash val="solid"/>
          </a:ln>
        </p:spPr>
      </p:sp>
      <p:sp>
        <p:nvSpPr>
          <p:cNvPr id="18" name="Text 11"/>
          <p:cNvSpPr/>
          <p:nvPr/>
        </p:nvSpPr>
        <p:spPr>
          <a:xfrm>
            <a:off x="7269480" y="57881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19: Live: fixed once the fragment was published</a:t>
            </a:r>
            <a:endParaRPr lang="en-US" sz="900" dirty="0"/>
          </a:p>
        </p:txBody>
      </p:sp>
      <p:sp>
        <p:nvSpPr>
          <p:cNvPr id="19"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https://main--bv-poc-wknd-aln--araji-adobe.aem.live/us/en/sched-frag-page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 Asset expiry and scheduled unpublishing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457200" y="1463040"/>
            <a:ext cx="2148840" cy="1051560"/>
          </a:xfrm>
          <a:prstGeom prst="roundRect">
            <a:avLst>
              <a:gd name="adj" fmla="val 5217"/>
            </a:avLst>
          </a:prstGeom>
          <a:solidFill>
            <a:srgbClr val="F5F5F5"/>
          </a:solidFill>
          <a:ln w="12700">
            <a:solidFill>
              <a:srgbClr val="D9D9D9"/>
            </a:solidFill>
            <a:prstDash val="solid"/>
          </a:ln>
        </p:spPr>
      </p:sp>
      <p:sp>
        <p:nvSpPr>
          <p:cNvPr id="9" name="Text 6"/>
          <p:cNvSpPr/>
          <p:nvPr/>
        </p:nvSpPr>
        <p:spPr>
          <a:xfrm>
            <a:off x="530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Expiry metadata</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A label: "valid until …". No effect by itself.</a:t>
            </a:r>
            <a:endParaRPr lang="en-US" sz="1200" dirty="0"/>
          </a:p>
        </p:txBody>
      </p:sp>
      <p:sp>
        <p:nvSpPr>
          <p:cNvPr id="10" name="Shape 7"/>
          <p:cNvSpPr/>
          <p:nvPr/>
        </p:nvSpPr>
        <p:spPr>
          <a:xfrm>
            <a:off x="2743200" y="1463040"/>
            <a:ext cx="2148840" cy="1051560"/>
          </a:xfrm>
          <a:prstGeom prst="roundRect">
            <a:avLst>
              <a:gd name="adj" fmla="val 5217"/>
            </a:avLst>
          </a:prstGeom>
          <a:solidFill>
            <a:srgbClr val="F5F5F5"/>
          </a:solidFill>
          <a:ln w="12700">
            <a:solidFill>
              <a:srgbClr val="D9D9D9"/>
            </a:solidFill>
            <a:prstDash val="solid"/>
          </a:ln>
        </p:spPr>
      </p:sp>
      <p:sp>
        <p:nvSpPr>
          <p:cNvPr id="11" name="Text 8"/>
          <p:cNvSpPr/>
          <p:nvPr/>
        </p:nvSpPr>
        <p:spPr>
          <a:xfrm>
            <a:off x="2816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Publication status</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What the system records as published / unpublished.</a:t>
            </a:r>
            <a:endParaRPr lang="en-US" sz="1200" dirty="0"/>
          </a:p>
        </p:txBody>
      </p:sp>
      <p:sp>
        <p:nvSpPr>
          <p:cNvPr id="12" name="Shape 9"/>
          <p:cNvSpPr/>
          <p:nvPr/>
        </p:nvSpPr>
        <p:spPr>
          <a:xfrm>
            <a:off x="5029200" y="1463040"/>
            <a:ext cx="2148840" cy="1051560"/>
          </a:xfrm>
          <a:prstGeom prst="roundRect">
            <a:avLst>
              <a:gd name="adj" fmla="val 5217"/>
            </a:avLst>
          </a:prstGeom>
          <a:solidFill>
            <a:srgbClr val="F5F5F5"/>
          </a:solidFill>
          <a:ln w="12700">
            <a:solidFill>
              <a:srgbClr val="EB1000"/>
            </a:solidFill>
            <a:prstDash val="solid"/>
          </a:ln>
        </p:spPr>
      </p:sp>
      <p:sp>
        <p:nvSpPr>
          <p:cNvPr id="13" name="Text 10"/>
          <p:cNvSpPr/>
          <p:nvPr/>
        </p:nvSpPr>
        <p:spPr>
          <a:xfrm>
            <a:off x="5102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 availability</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Does the URL still load? Can differ (see 7A).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949440" cy="914400"/>
        </p:xfrm>
        <a:graphic>
          <a:graphicData uri="http://schemas.openxmlformats.org/drawingml/2006/table">
            <a:tbl>
              <a:tblPr/>
              <a:tblGrid>
                <a:gridCol w="2194560"/>
                <a:gridCol w="3108960"/>
                <a:gridCol w="16459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Expiry metadata on EDS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None (images 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 checked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images?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possible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PDFs publish /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Yes: own Preview / Publish / Prepare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options for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Publish + immediate Unpublish;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Time-based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 "unpublish" command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for a page (Ema test 5); PDF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native: needs automation (Ema/script → 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Withdraws AEM-delivered assets; site isn't connected to 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pic>
        <p:nvPicPr>
          <p:cNvPr id="15" name="Image 1" descr="Figure 20: PDF with its own Preview / Publish">    </p:cNvPr>
          <p:cNvPicPr>
            <a:picLocks noChangeAspect="1"/>
          </p:cNvPicPr>
          <p:nvPr/>
        </p:nvPicPr>
        <p:blipFill>
          <a:blip r:embed="rId2"/>
          <a:stretch>
            <a:fillRect/>
          </a:stretch>
        </p:blipFill>
        <p:spPr>
          <a:xfrm>
            <a:off x="8264576" y="1463040"/>
            <a:ext cx="2856129" cy="2057400"/>
          </a:xfrm>
          <a:prstGeom prst="rect">
            <a:avLst/>
          </a:prstGeom>
        </p:spPr>
      </p:pic>
      <p:sp>
        <p:nvSpPr>
          <p:cNvPr id="16" name="Shape 11"/>
          <p:cNvSpPr/>
          <p:nvPr/>
        </p:nvSpPr>
        <p:spPr>
          <a:xfrm>
            <a:off x="8264576" y="1463040"/>
            <a:ext cx="2856129" cy="2057400"/>
          </a:xfrm>
          <a:prstGeom prst="rect">
            <a:avLst/>
          </a:prstGeom>
          <a:ln w="9525">
            <a:solidFill>
              <a:srgbClr val="D9D9D9"/>
            </a:solidFill>
            <a:prstDash val="solid"/>
          </a:ln>
        </p:spPr>
      </p:sp>
      <p:sp>
        <p:nvSpPr>
          <p:cNvPr id="17" name="Text 12"/>
          <p:cNvSpPr/>
          <p:nvPr/>
        </p:nvSpPr>
        <p:spPr>
          <a:xfrm>
            <a:off x="7635240" y="354787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20: PDF with its own Preview / Publish</a:t>
            </a:r>
            <a:endParaRPr lang="en-US" sz="900" dirty="0"/>
          </a:p>
        </p:txBody>
      </p:sp>
      <p:pic>
        <p:nvPicPr>
          <p:cNvPr id="18" name="Image 2" descr="Figure 21: PDF Prepare menu (no scheduled unpublish)">    </p:cNvPr>
          <p:cNvPicPr>
            <a:picLocks noChangeAspect="1"/>
          </p:cNvPicPr>
          <p:nvPr/>
        </p:nvPicPr>
        <p:blipFill>
          <a:blip r:embed="rId3"/>
          <a:stretch>
            <a:fillRect/>
          </a:stretch>
        </p:blipFill>
        <p:spPr>
          <a:xfrm>
            <a:off x="8612505" y="3840480"/>
            <a:ext cx="2160270" cy="1920240"/>
          </a:xfrm>
          <a:prstGeom prst="rect">
            <a:avLst/>
          </a:prstGeom>
        </p:spPr>
      </p:pic>
      <p:sp>
        <p:nvSpPr>
          <p:cNvPr id="19" name="Shape 13"/>
          <p:cNvSpPr/>
          <p:nvPr/>
        </p:nvSpPr>
        <p:spPr>
          <a:xfrm>
            <a:off x="8612505" y="3840480"/>
            <a:ext cx="2160270" cy="1920240"/>
          </a:xfrm>
          <a:prstGeom prst="rect">
            <a:avLst/>
          </a:prstGeom>
          <a:ln w="9525">
            <a:solidFill>
              <a:srgbClr val="D9D9D9"/>
            </a:solidFill>
            <a:prstDash val="solid"/>
          </a:ln>
        </p:spPr>
      </p:sp>
      <p:sp>
        <p:nvSpPr>
          <p:cNvPr id="20" name="Text 14"/>
          <p:cNvSpPr/>
          <p:nvPr/>
        </p:nvSpPr>
        <p:spPr>
          <a:xfrm>
            <a:off x="7635240" y="578815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21: PDF Prepare menu (no scheduled unpublish)</a:t>
            </a:r>
            <a:endParaRPr lang="en-US" sz="900" dirty="0"/>
          </a:p>
        </p:txBody>
      </p:sp>
      <p:sp>
        <p:nvSpPr>
          <p:cNvPr id="21" name="Text 1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https://da.live/media#/araji-adobe/bv-poc-wknd-aln/us/en/expiry-test.pdf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CONCLUSION</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findings and recommendations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16</a:t>
            </a:r>
            <a:endParaRPr lang="en-US" sz="900" dirty="0"/>
          </a:p>
        </p:txBody>
      </p:sp>
      <p:sp>
        <p:nvSpPr>
          <p:cNvPr id="8" name="Text 5"/>
          <p:cNvSpPr/>
          <p:nvPr/>
        </p:nvSpPr>
        <p:spPr>
          <a:xfrm>
            <a:off x="457200" y="1417320"/>
            <a:ext cx="5486400" cy="320040"/>
          </a:xfrm>
          <a:prstGeom prst="rect">
            <a:avLst/>
          </a:prstGeom>
          <a:noFill/>
          <a:ln/>
        </p:spPr>
        <p:txBody>
          <a:bodyPr wrap="square" rtlCol="0" anchor="ctr"/>
          <a:lstStyle/>
          <a:p>
            <a:pPr indent="0" marL="0">
              <a:buNone/>
            </a:pPr>
            <a:r>
              <a:rPr lang="en-US" sz="1400" b="1" dirty="0">
                <a:solidFill>
                  <a:srgbClr val="2D9D78"/>
                </a:solidFill>
                <a:latin typeface="Arial" pitchFamily="34" charset="0"/>
                <a:ea typeface="Arial" pitchFamily="34" charset="-122"/>
                <a:cs typeface="Arial" pitchFamily="34" charset="-120"/>
              </a:rPr>
              <a:t>Verified (Tested)</a:t>
            </a:r>
            <a:endParaRPr lang="en-US" sz="1400" dirty="0"/>
          </a:p>
        </p:txBody>
      </p:sp>
      <p:sp>
        <p:nvSpPr>
          <p:cNvPr id="9" name="Text 6"/>
          <p:cNvSpPr/>
          <p:nvPr/>
        </p:nvSpPr>
        <p:spPr>
          <a:xfrm>
            <a:off x="45720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Two switches enable Schedule Publish (config row + registration)</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Scheduling auto-previews; the run publishes the preview, not later edits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Reschedule and cancel work; runs within ~8 s of the minute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Ema: 5/5 tasks including bulk publish and scheduled unpublish</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Experience Workspace: no schedule created in our environment</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Fragments are not carried with a page; images are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Images remain reachable after their page is unpublished</a:t>
            </a:r>
            <a:endParaRPr lang="en-US" sz="1200" dirty="0"/>
          </a:p>
        </p:txBody>
      </p:sp>
      <p:sp>
        <p:nvSpPr>
          <p:cNvPr id="10" name="Text 7"/>
          <p:cNvSpPr/>
          <p:nvPr/>
        </p:nvSpPr>
        <p:spPr>
          <a:xfrm>
            <a:off x="6217920" y="1417320"/>
            <a:ext cx="5486400" cy="320040"/>
          </a:xfrm>
          <a:prstGeom prst="rect">
            <a:avLst/>
          </a:prstGeom>
          <a:noFill/>
          <a:ln/>
        </p:spPr>
        <p:txBody>
          <a:bodyPr wrap="square" rtlCol="0" anchor="ctr"/>
          <a:lstStyle/>
          <a:p>
            <a:pPr indent="0" marL="0">
              <a:buNone/>
            </a:pPr>
            <a:r>
              <a:rPr lang="en-US" sz="1400" b="1" dirty="0">
                <a:solidFill>
                  <a:srgbClr val="EB1000"/>
                </a:solidFill>
                <a:latin typeface="Arial" pitchFamily="34" charset="0"/>
                <a:ea typeface="Arial" pitchFamily="34" charset="-122"/>
                <a:cs typeface="Arial" pitchFamily="34" charset="-120"/>
              </a:rPr>
              <a:t>Recommendations</a:t>
            </a:r>
            <a:endParaRPr lang="en-US" sz="1400" dirty="0"/>
          </a:p>
        </p:txBody>
      </p:sp>
      <p:sp>
        <p:nvSpPr>
          <p:cNvPr id="11" name="Text 8"/>
          <p:cNvSpPr/>
          <p:nvPr/>
        </p:nvSpPr>
        <p:spPr>
          <a:xfrm>
            <a:off x="621792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1. Authors: edit → preview → (re)schedule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2. Publish or schedule fragments before their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3. Use the schedule sheet (or Ema) for bulk and unpublish; Snapshots for coordinated launches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4. Keep embargoed images off previewed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5. Treat expiry as a process: register → automation → scheduled unpublish</a:t>
            </a:r>
            <a:endParaRPr lang="en-US" sz="1200" dirty="0"/>
          </a:p>
        </p:txBody>
      </p:sp>
      <p:sp>
        <p:nvSpPr>
          <p:cNvPr id="12" name="Text 9"/>
          <p:cNvSpPr/>
          <p:nvPr/>
        </p:nvSpPr>
        <p:spPr>
          <a:xfrm>
            <a:off x="457200" y="4754880"/>
            <a:ext cx="11247120" cy="640080"/>
          </a:xfrm>
          <a:prstGeom prst="rect">
            <a:avLst/>
          </a:prstGeom>
          <a:noFill/>
          <a:ln/>
        </p:spPr>
        <p:txBody>
          <a:bodyPr wrap="square" rtlCol="0" anchor="ctr"/>
          <a:lstStyle/>
          <a:p>
            <a:pPr indent="0" marL="0">
              <a:buNone/>
            </a:pPr>
            <a:r>
              <a:rPr lang="en-US" sz="1100" b="1" dirty="0">
                <a:solidFill>
                  <a:srgbClr val="2C2C2C"/>
                </a:solidFill>
                <a:latin typeface="Arial" pitchFamily="34" charset="0"/>
                <a:ea typeface="Arial" pitchFamily="34" charset="-122"/>
                <a:cs typeface="Arial" pitchFamily="34" charset="-120"/>
              </a:rPr>
              <a:t>References:  </a:t>
            </a:r>
            <a:pPr indent="0" marL="0">
              <a:buNone/>
            </a:pPr>
            <a:r>
              <a:rPr lang="en-US" sz="1100" dirty="0">
                <a:solidFill>
                  <a:srgbClr val="1473E6"/>
                </a:solidFill>
                <a:latin typeface="Arial" pitchFamily="34" charset="0"/>
                <a:ea typeface="Arial" pitchFamily="34" charset="-122"/>
                <a:cs typeface="Arial" pitchFamily="34" charset="-120"/>
              </a:rPr>
              <a:t>aem.live/docs/ew/administering/schedule-publish · demo.bbird.live/demo-docs/usecases/how-to-schedule-publish · aem.live/docs/scheduling · aem.live/docs/snapshots-reviews · aem.live/docs/media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Questions?</a:t>
            </a:r>
            <a:endParaRPr lang="en-US" sz="2600" dirty="0"/>
          </a:p>
        </p:txBody>
      </p:sp>
      <p:sp>
        <p:nvSpPr>
          <p:cNvPr id="4" name="Shape 1"/>
          <p:cNvSpPr/>
          <p:nvPr/>
        </p:nvSpPr>
        <p:spPr>
          <a:xfrm>
            <a:off x="457200" y="1243584"/>
            <a:ext cx="1097280" cy="54864"/>
          </a:xfrm>
          <a:prstGeom prst="rect">
            <a:avLst/>
          </a:prstGeom>
          <a:solidFill>
            <a:srgbClr val="EB1000"/>
          </a:solidFill>
          <a:ln w="12700">
            <a:solidFill>
              <a:srgbClr val="EB1000"/>
            </a:solidFill>
            <a:prstDash val="solid"/>
          </a:ln>
        </p:spPr>
      </p:sp>
      <p:sp>
        <p:nvSpPr>
          <p:cNvPr id="5"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6" name="Text 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17</a:t>
            </a:r>
            <a:endParaRPr lang="en-US" sz="900" dirty="0"/>
          </a:p>
        </p:txBody>
      </p:sp>
      <p:sp>
        <p:nvSpPr>
          <p:cNvPr id="7" name="Text 4"/>
          <p:cNvSpPr/>
          <p:nvPr/>
        </p:nvSpPr>
        <p:spPr>
          <a:xfrm>
            <a:off x="457200" y="2194560"/>
            <a:ext cx="11247120" cy="2286000"/>
          </a:xfrm>
          <a:prstGeom prst="rect">
            <a:avLst/>
          </a:prstGeom>
          <a:noFill/>
          <a:ln/>
        </p:spPr>
        <p:txBody>
          <a:bodyPr wrap="square" rtlCol="0" anchor="ctr"/>
          <a:lstStyle/>
          <a:p>
            <a:pPr indent="0" marL="0">
              <a:buNone/>
            </a:pPr>
            <a:r>
              <a:rPr lang="en-US" sz="2200" b="1" dirty="0">
                <a:solidFill>
                  <a:srgbClr val="2C2C2C"/>
                </a:solidFill>
                <a:latin typeface="Arial" pitchFamily="34" charset="0"/>
                <a:ea typeface="Arial" pitchFamily="34" charset="-122"/>
                <a:cs typeface="Arial" pitchFamily="34" charset="-120"/>
              </a:rPr>
              <a:t>ALAN RAJI MANI</a:t>
            </a:r>
            <a:endParaRPr lang="en-US" sz="2200" dirty="0"/>
          </a:p>
          <a:p>
            <a:pPr indent="0" marL="0">
              <a:buNone/>
            </a:pPr>
            <a:r>
              <a:rPr lang="en-US" sz="1600" dirty="0">
                <a:solidFill>
                  <a:srgbClr val="1473E6"/>
                </a:solidFill>
                <a:latin typeface="Arial" pitchFamily="34" charset="0"/>
                <a:ea typeface="Arial" pitchFamily="34" charset="-122"/>
                <a:cs typeface="Arial" pitchFamily="34" charset="-120"/>
              </a:rPr>
              <a:t>araji@adobe.com</a:t>
            </a:r>
            <a:endParaRPr lang="en-US" sz="2200" dirty="0"/>
          </a:p>
          <a:p>
            <a:pPr indent="0" marL="0">
              <a:buNone/>
            </a:pPr>
            <a:r>
              <a:rPr lang="en-US" sz="2200" dirty="0">
                <a:solidFill>
                  <a:srgbClr val="2C2C2C"/>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6E6E6E"/>
                </a:solidFill>
                <a:latin typeface="Arial" pitchFamily="34" charset="0"/>
                <a:ea typeface="Arial" pitchFamily="34" charset="-122"/>
                <a:cs typeface="Arial" pitchFamily="34" charset="-120"/>
              </a:rPr>
              <a:t>Full test logs, configuration and the capability register are in the appendix.</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Environment and key links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85039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Org / site / branch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araji-adobe / bv-poc-wknd-aln / main; content source: Document Authoring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 /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main--bv-poc-wknd-aln--araji-adobe.aem.page · …aem.live (home page /us/en)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 config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da.live/config#/araji-adobe/bv-poc-wknd-aln/ ("prepare" tab: title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da.live/apps/scheduler → /araji-adobe/bv-poc-wknd-aln/ (registered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(DA sheet; activated by preview; 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Code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github.com/araji-adobe/bv-poc-wknd-aln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testing/scheduler/: demo-progress.md, scheduler-test-log-2026-10-19.xlsx, evidence/ screenshots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A2</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Is Schedule Publish enabled?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site and org config absent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 "prepare" row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config saved and read back</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Load / register in the scheduler app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registered" → registered; empty queue; API key created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Prepare menu</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icon-only; Preflight, Unpublish, Schedule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Never-previewed page, then schedule for 12:00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11:50:56; "Schedule (Asia/Calcutta)"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Edit V2 after scheduling, no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Published 12:00:08 by helix@adobe.com; live = V1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12:25, reschedule to 12:30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Re-preview each time; nothing at 12:25; live V1 + V2 at 12:30:07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page for 12:45; Delete in the list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confirmation; deleted-scheduled-publish 12:40:07; still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A3</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test log (19 Oct) and schedule-sheet format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94183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Format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"when" e.g. "at 10:30 am on the 19th day of October in 2026" (UTC) · "command" e.g. "publish /path" / "unpublish /path"; several commands per cell, separated by line breaks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/.helix/crontab.json (5 activations, all HTTP 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Tests 1–5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 16:00:04 · cancel (never live) · reschedule 16:20:04 · bulk 4/4 16:25:04–06 · publish 16:25 + unpublish 16:40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Sheet must be created · 5-minute UTC ticks · no API to list queued jobs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 (cont.)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can't monitor between turns · one syntax error disables all · no parse feedback on 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Observations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Runs not attributed in the audit log · ~1 min log lag · unpublish time only via the indexer entry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Interactions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20 user entries, 24 Ema entries; window 15:32–16:46 IST (≈74 min, set by the 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A4</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Experience Workspace test log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99669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content_preview ×8 in the "no changes" pre-check re-previewed all 8 pages twice (12:33 and 12:37 UTC)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content_read Bad Request ×3, then read the 5 crontab rows correctly; promised append-only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real-time clock"; "I cannot schedule a publish action"; scheduler-app option contradicts the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Exact time 6:45 PM IST: Bad Request ×3; "cannot read or write" the sheet (contradicts step 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Fallback row dated 14 Jul 2025 (past); "open the .aem.page URL to activate" (activation requires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schedule created, no page published; crontab preview unchanged since 19 Oct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Row 6 (6:47 PM, empty command) added manually by the user while trying the fallback; never activated; since removed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5-task superprompt mirroring Ema's tests 1–5 on 8 adventure pages, REFERENCE hints kept; 4 user messages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A5</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fragment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"FRAG-V1" + page "PAGE-A1" linking to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unpreviewed, not live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the page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not previewed; raw link shown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page (7:36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7:36:04; fragment 404; yellow CTA to a 404; console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fragment alone (8:16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preview fixed, live still broken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live 8:16:12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fixed without republish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Browser cache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404 cached (max-age 7200); forced refresh fixed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Normal + incognito windows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showed the fragment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A6</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7B: image test log and sitemap evidence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image in a new page (rick copy.png)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Stored beside the doc in a hidden folder; private (401)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without manual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copied it to the media bus (media_1717…png)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on live before the page publishes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Reachable: 200 on aem.live while the page is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run 8:56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with the image loaded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from the editor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 live deleted; image still 200 (5.2 MB), any path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19 Oct scheduled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Added; arctic-surfing removed after its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Config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Origin still the old host (edscapstoneajay); index covers adventures/magazine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A7</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expiry tests and mechanisms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463040"/>
                <a:gridCol w="78638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PDF (EXPIRY-PDF-V1, "Created by ALAN RAJI MANI") uploaded to /us/en/expiry-test.pdf</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Opens in the DA media viewer with Prepare / Preview /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works (byte-identical); Prepare menu: Preflight, Unpublish (immediate), Schedule 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run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of the PDF via the sheet; page link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EDS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Media bus immutable; PDF/SVG follow the preview/publish lifecycle; crontab is time-based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"Off Time" withdraws assets from delivery; Unpublish Later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Governance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DA/admin writes required a typed user request; preview calls stayed blocked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A8</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Capability register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7589520"/>
                <a:gridCol w="3657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Schedule Publish (enable, schedule, reschedule, delete)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on schedule / reschedule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Publishes preview, not later editor changes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Crontab publish, cancel, reschedule, bulk,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(Ema)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carried with page / image carried with page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No / Yes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removal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Snapshot bundle publishing / scheduling a snapshot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 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in editor dialog / 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available / Not native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 · Experience Workspace scheduling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not tested · Unsuccessful in our environment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A9</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Open items and sandbox state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88696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State / 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scheduled-publish-test (live), scheduled-cancel-test (preview), sched-frag-page + fragment (live), sched-asset-page (unpublished), expiry-test.pdf (preview), expiry-test-page (not previewed)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 past Ema rows (row 6 removed by the user, 22 Oct): clear before real use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Experience Workspace side effect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8 adventure pages re-previewed (no live change)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Update the origin to the correct host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PDF scheduled unpublish · snapshot scheduling · AEM Assets integration · Experience Workspace re-test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A10</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Figure index: screenshots to evidence files and tests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Site config before setup (empty)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1: "prepare" row added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Scheduler app: site not registered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2: site registered (empty queue)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Prepare menu with Schedule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dialog with browser time zone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Editor: V1 + V2 (V2 not previewed)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V1 only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with the pending job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empty after Delete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Cancelled page still not live (404)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sheet with Ema's 5 rows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A3 · Tests 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Experience Workspace: "I cannot schedule"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Experience Workspace: sheet errors and a past date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4–5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Page not found after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The page's image still loads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Preview: fragment not loaded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published before its fragment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fixed once the fragment was published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with its own Preview /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Prepare menu (no scheduled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10" name="Text 5"/>
          <p:cNvSpPr/>
          <p:nvPr/>
        </p:nvSpPr>
        <p:spPr>
          <a:xfrm>
            <a:off x="457200" y="6035040"/>
            <a:ext cx="1124712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Evidence files: testing/scheduler/evidence/ · "Log · step" points to the appendix test logs A2–A7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Adobe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Publishing in Edge Delivery Services</dc:title>
  <dc:subject>EDS scheduled publishing: manual, Ema and Experience Workspace, tested 19–22 Oct 2026</dc:subject>
  <dc:creator>ALAN RAJI MANI</dc:creator>
  <cp:lastModifiedBy>ALAN RAJI MANI</cp:lastModifiedBy>
  <cp:revision>1</cp:revision>
  <dcterms:created xsi:type="dcterms:W3CDTF">2026-10-22T20:05:19Z</dcterms:created>
  <dcterms:modified xsi:type="dcterms:W3CDTF">2026-10-22T20:05:19Z</dcterms:modified>
</cp:coreProperties>
</file>