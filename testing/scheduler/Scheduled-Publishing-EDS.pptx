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Good morning everyone. Today I'll walk you through scheduled publishing in Edge Delivery Services: what it is, why marketers need it, how we did it manually, how Ema did it, and what happened when we tried the same task with Experience Workspace's Coworker. After that I'll cover the three additional investigations Abhishek and Mohit asked for: what happens to assets when a page is unpublished, whether fragments and assets are published with a scheduled page, and whether assets can be unpublished based on expiry metadata. Everything I show was tested on our sandbox site, bv-poc-wknd-aln, between 19 and 22 October. Wherever something is only documented or not yet tested, I'll say so explicitly.
HOW TO EXPLAIN THE FINDINGS:
Set expectations: green "Tested" means we proved it on the site; blue "Documented" means Adobe's docs say it; amber "Limitation" is an observed constraint; grey "Unknown" means not tested yet.
TRANSITION:
"Let's start with what scheduling actually means in EDS."
TIME: 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In Edge Delivery Services an author edits content in the editor, da.live. Clicking Preview creates a draft version on the .aem.page address. Clicking Publish copies that preview to the .aem.live address, which is what the public sees. Scheduled publishing simply automates that second step: it copies preview to live at a time you choose, so nobody has to be online at go-live.
CLICK / DEMONSTRATE:
Open the preview URL of /us/en/scheduled-publish-test, then the live URL. Point at the host names in the address bar.
AUDIENCE SHOULD OBSERVE:
The same page served from two hosts: .aem.page (preview) and .aem.live (live).
HOW TO EXPLAIN THE FINDINGS:
There are two independent schedulers on the same site. The editor's Schedule Publish is the author-facing one we enabled for the manual test. The schedule sheet, called the crontab, is an admin sheet of "when" and "command" rows; that is what Ema used on 19 October. Both were proven on our site.
EVIDENCE LABELS:
Tested: both mechanisms. Documented: preview/publish model (aem.live docs).
TRANSITION:
"So why does the business need this?"
LIKELY QUESTIONS AND ANSWERS:
Q: Are the two schedulers the same thing?
A: No. Our crontab tests on 19 October ran while the editor scheduler wasn't even registered for the site (test M2a).
Q: Which one should authors use?
A: The editor one for single pages; the sheet for bulk publishing and scheduled unpublishing, which the editor dialog doesn't offer.
TIME: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business problem is simple: content has to appear, and sometimes disappear, at an exact moment. Think of a product launch at midnight, an embargoed press release, a launch timed for another market, or a promotion that must end on time. Without scheduling, someone has to be online to click Publish. These four scenarios are illustrative, but every requirement in the table maps to something we actually tested.
HOW TO EXPLAIN THE FINDINGS:
Point out that "take content down on time" is only covered by the schedule sheet, which Ema used. The editor dialog we tested offers no scheduled unpublish.
EVIDENCE LABELS:
Scenarios: illustrative. Requirements table: Tested, except Snapshots (Documented).
TRANSITION:
"Let's look at the manual way first, without Ema."
LIKELY QUESTIONS AND ANSWERS:
Q: Can an author schedule an unpublish in the UI?
A: Not in the editor dialog we tested. Scheduled unpublish worked through the schedule sheet (T5).
Q: What are Snapshots?
A: Adobe's documented way to publish a set of pages and resources together after review. We did not test scheduling a snapshot.
TIME: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Schedule Publish is off by default. When we started, the site had no configuration at all and the editor had no Schedule Publish option. Enabling it took two switches. First, one row in the site configuration: a "prepare" tab with a row titled Schedule Publish. That makes the menu item appear. Second, registering the site in Adobe's scheduler app, so the background service actually runs jobs for us.
CLICK / DEMONSTRATE:
Open the site config and show the "prepare" tab with the row. Then open the scheduler app, enter /araji-adobe/bv-poc-wknd-aln/ and click Load schedules.
AUDIENCE SHOULD OBSERVE:
A one-row configuration, and the scheduler app showing the site's queue.
HOW TO EXPLAIN THE FINDINGS:
Two observations not in the docs: registration shows no success message, it simply switches to the queue view; and the audit log shows that registering created an admin API key for the site.
EVIDENCE LABELS:
Tested: M0, M1, M2b. Documented: setup steps (link to the references, don't repeat them).
TRANSITION:
"With that in place, scheduling a page takes four clicks."
LIKELY QUESTIONS AND ANSWERS:
Q: Site or org level?
A: We used site level so only this site is affected. The docs allow either.
Q: Can it be limited to some users?
A: The docs mention the "ref" column for that. We left it empty and didn't test it.
Q: How do you unregister?
A: Not documented. Unknown.
TIME: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Scheduling itself is four clicks: open the page, click the Prepare icon, choose Schedule Publish, set the time and click Schedule. Note the Prepare button is just an icon with no label, so people looking for the word "Prepare" won't find it. The docs claim that scheduling previews the page automatically. We tested that with a brand-new page that had never been previewed. The moment we clicked Schedule, a preview appeared.
CLICK / DEMONSTRATE:
Open the editor for /us/en/scheduled-publish-test, click the Prepare icon and show the menu. Optionally open Schedule Publish to show the dialog, then close it with X. Don't click Schedule.
AUDIENCE SHOULD OBSERVE:
The menu with Preflight, Unpublish and Schedule Publish; the dialog label "Schedule (Asia/Calcutta)" and the "Scheduled by… Reschedule?" text on a page that is already scheduled.
HOW TO EXPLAIN THE FINDINGS:
The auto-preview is important: you don't have to preview before the first schedule. The time zone comes from the author's browser, which matters for global teams.
EVIDENCE LABELS:
Tested: auto-preview (M6), re-preview on reschedule (M11), browser time zone (M5). Documented: auto-preview claim.
TRANSITION:
"So what actually went live?"
LIKELY QUESTIONS AND ANSWERS:
Q: Do I need to preview before scheduling?
A: Not for the first schedule; it previews for you. But if you edit afterwards, see the next slide.
Q: What if authors are in different time zones?
A: The dialog uses each author's browser time zone and shows its name, so check that label.
TIME: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Here is what we verified. The page went live 8 seconds after the scheduled minute, published by Adobe's system account. Then the key insight, which you can see in Figures 7 and 8: after scheduling, we added a V2 line in the editor without previewing it. At go-live, the live page showed only V1. The scheduler copies whatever is in preview; it doesn't re-preview the editor content. So the rule for authors is: edit, preview again, then let the schedule run.
CLICK / DEMONSTRATE:
Open the live test page. It now shows V1 and V2, because the later reschedule test re-previewed it.
AUDIENCE SHOULD OBSERVE:
Figure 7: the editor with two lines. Figure 8: the live page with only one.
HOW TO EXPLAIN THE FINDINGS:
The docs say scheduled publishing uses "the content as it exists at the time of the scheduled publish". Our test clarifies that this means the PREVIEWED content at that time, not the editor content.
EVIDENCE LABELS:
Tested: M8, M9, M11–M14. Limitation: no cancel inside the dialog; no scheduled unpublish in the dialog.
TRANSITION:
"We also checked the queue, rescheduling and cancelling."
LIKELY QUESTIONS AND ANSWERS:
Q: Why does the doc say "content as it exists at publish time"?
A: It means the previewed content at that time. We proved that editor-only changes don't go live (M9).
Q: How precise is it?
A: Runs were 7–8 seconds after the minute (12:00:08, 12:30:07).
TIME: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scheduler app is the central queue. It shows each scheduled item, when it will publish including the time zone and a countdown, and who requested it. To reschedule, you reopen the dialog on the page; the old time is prefilled, and only the new time runs. To cancel, you click Delete in the list. There's no confirmation prompt, the entry disappears, and the page never went live.
CLICK / DEMONSTRATE:
Open the scheduler app and click Load schedules. The queue is empty now, since all jobs ran or were deleted.
AUDIENCE SHOULD OBSERVE:
The queue columns and the Open / Delete actions.
HOW TO EXPLAIN THE FINDINGS:
Cancel lives only in the scheduler list, not in the page dialog. Be careful in a live demo: Delete has no confirmation.
EVIDENCE LABELS:
Tested: queue view (Figure 9), reschedule (M11–M12), delete (M13–M14, Figures 10 and 11).
TRANSITION:
"Now the same use case, done with Ema."
LIKELY QUESTIONS AND ANSWERS:
Q: Can a Delete be undone?
A: There's no confirmation and no undo that we saw; you would schedule again.
Q: Does the queue show crontab jobs?
A: Unknown. When we checked, the crontab only held past rows.
TIME: 0:30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On 19 October Ema handled the same use case through the site's schedule sheet. It started read-only: it listed all 28 pages, checked which were unpublished, and worked out on its own that the site schedules through a crontab sheet. It proposed a timed plan, and it only changed anything after I approved. Then it wrote the rows, activated them by previewing the sheet, and checked every result itself by polling page status and Adobe's audit log. It also produced an evidence workbook.
CLICK / DEMONSTRATE:
Open the crontab sheet and show the five rows: when (UTC) and command.
AUDIENCE SHOULD OBSERVE:
Plain-language rows such as "at 10:30 am on the 19th day of October in 2026 | publish /us/en/adventures/beervana-portland".
HOW TO EXPLAIN THE FINDINGS:
Be transparent: we don't have the exact prompt text; the 19 October chat wasn't retained. This flow is reconstructed from Ema's own test log, which records 20 user entries and 24 Ema actions.
EVIDENCE LABELS:
Tested: flow and results (workbook + audit log). Reconstructed: interaction flow.
TRANSITION:
"And here are the results."
LIKELY QUESTIONS AND ANSWERS:
Q: Can we see the prompt?
A: It wasn't retained. The workbook records every approval and choice instead.
Q: Why the crontab and not the editor plugin?
A: On 19 October the editor plugin wasn't enabled yet. Ema found the mechanism that was available.
TIME: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All five tasks passed. A single publish, a cancellation, a reschedule, a bulk publish of four pages from one row, and a publish followed by a scheduled unpublish. Every run happened 4 to 6 seconds after its five-minute tick. And we verified it twice: Ema's own workbook, and independently, Adobe's audit log and page status, which I re-checked on 22 October.
CLICK / DEMONSTRATE:
Open the beervana-portland live page.
AUDIENCE SHOULD OBSERVE:
A page that went live purely from a schedule row.
HOW TO EXPLAIN THE FINDINGS:
Bulk and scheduled unpublish are things the editor dialog can't do, which is Ema's main functional advantage in this test.
EVIDENCE LABELS:
Tested: T1–T5.
TRANSITION:
"So what does Ema really add, and where are its limits?"
LIKELY QUESTIONS AND ANSWERS:
Q: How do we know Ema didn't just publish directly?
A: The audit log shows only sheet previews and system indexing entries; there are no direct publish calls.
Q: Are the pages still live?
A: Yes, except napa-wine-tasting (cancelled) and arctic-surfing (unpublished), as planned.
TIME: 0:45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Comparing the two: Ema removes the setup and the mechanics, and adds bulk publishing and scheduled unpublishing. But it doesn't remove the human: I approved every change, and I had to stay in the session while it verified, because it can't wake up between messages. Its scheduling method also doesn't auto-preview, there's no queue view, and in the audit log its actions appear under my account, so you can't tell Ema from me.
HOW TO EXPLAIN THE FINDINGS:
Be careful not to claim speed: the 74-minute window on 19 October was set by the scheduled times, not by Ema's performance. The recorded facts are 20 user entries and 24 Ema actions.
EVIDENCE LABELS:
Tested: all rows. Limitation: no auto-preview, no queue, attribution, in-session monitoring, shared-sheet risk.
TRANSITION:
"We then asked Experience Workspace's Coworker to do the same task."
LIKELY QUESTIONS AND ANSWERS:
Q: Is Ema faster than doing it manually?
A: We didn't measure that. For a single page, the editor is a few clicks; Ema's value is bulk, unpublish and built-in verification.
Q: Who is accountable for Ema's changes?
A: In the log they appear under the approving user's account, which is why the approval gates matter.
TIME: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Mohit asked whether Experience Workspace could do the same thing, so I gave Coworker the same five-task prompt, on eight equivalent pages, including hints about how scheduling works on this site. It didn't complete the task. It told us it has no real-time clock, so it couldn't calculate the times. When I gave it an exact time, 6:45 PM IST, it failed with errors reading and writing the schedule sheet. Its fallback advice also contained a past date and a wrong activation step. In the end, no schedule was created and no page was published.
CLICK / DEMONSTRATE:
If the Coworker chat is still open, scroll to the "I cannot schedule a publish action" answer. Otherwise use Figures 13 and 14.
AUDIENCE SHOULD OBSERVE:
Coworker itself stating the limitation, and the Bad Request errors.
HOW TO EXPLAIN THE FINDINGS:
Be precise: this was unsuccessful in our environment. Coworker reported tool limitations (no clock, sheet read/write errors). We are not claiming Workspace can never schedule. Also mention: during its "no changes" pre-check it actually re-previewed all eight pages twice; harmless (preview only), but an unrequested change.
EVIDENCE LABELS:
Tested: W1–W7 (screenshots + audit log). Not claimed: general unsupported status.
TRANSITION:
"Here's how it compares with Ema side by side."
LIKELY QUESTIONS AND ANSWERS:
Q: So Workspace can't schedule?
A: In our environment, with the tools it had on 22 October, it couldn't. We didn't test other configurations.
Q: Did it break anything?
A: No. It re-previewed eight pages; nothing went live. I added an incomplete row to the sheet myself while trying its fallback; it was never activated and I've since removed it.
Q: Was it given an advantage?
A: Yes, the prompt included hints Ema didn't have, and it still didn't complete it.
TIME: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Side by side: Ema completed all five tasks and proved it. Coworker created no schedule. It needed fewer messages, four, but that's because it stopped early. It also produced six Bad Request errors, contradicted itself about reading the sheet, and made one unrequested change.
HOW TO EXPLAIN THE FINDINGS:
Don't over-interpret "4 messages vs 20": Ema's 20 include approvals and verification waits for five tasks that completed; Coworker's 4 ended without a schedule.
EVIDENCE LABELS:
Tested: both columns. Limitation: Coworker in our environment.
TRANSITION:
"Beyond the core demo, Abhishek and Mohit asked for three additional investigations."
LIKELY QUESTIONS AND ANSWERS:
Q: Would Coworker work with a clock tool?
A: Possibly, but even with an exact time it failed on sheet access, so that alone wouldn't fix it. It's worth re-testing when the tools change.
TIME: 0:45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First additional investigation: what happens to assets when a page is unpublished. We created a page with a brand-new image, published it on schedule, then clicked Unpublish in the editor. The page disappeared from live, and also from preview, since the editor's Unpublish removes both. But the image did not disappear. Its address still loads the full original file, and it even loads under other folder paths.
CLICK / DEMONSTRATE:
Open the image URL. It still loads.
AUDIENCE SHOULD OBSERVE:
An image from a page that no longer exists.
HOW TO EXPLAIN THE FINDINGS:
EDS stores images in a permanent, content-addressed media store shared by preview and live. Unpublishing removes the page, not the media. The address is long and practically unguessable, but anyone who has it can still open it. On sitemaps: a page unpublished by schedule was removed from the sitemap (T5). Our 22 October test pages were never in the sitemap because the index only covers adventures and magazine pages. Side note: the sitemap still points at the old site host, which needs a config fix.
EVIDENCE LABELS:
Tested: B5, T5 sitemap. Limitation: image persists. Unknown: image removal.
TRANSITION:
"Second: when a page is scheduled, do its fragments and assets go with it?"
LIKELY QUESTIONS AND ANSWERS:
Q: Is this a security issue?
A: It's an embargo consideration: don't place sensitive images on previewed pages before launch. The URLs are unguessable but shareable.
Q: Can we delete the image?
A: We found no option in the editor. Other routes weren't tested.
TIME: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Second: dependencies. We created a fragment and a page that uses it, and scheduled only the page. Neither preview nor scheduling noticed the fragment. The page went live without it, and visitors saw the raw fragment address as a yellow call-to-action button that leads to a 404. In preview it was a plain blue link, so the live site actually looked worse than what the author saw. When we then scheduled the fragment on its own, the page fixed itself without being republished, because fragments are fetched by the browser when the page loads. Images behaved differently: they're inside the page, so they went live with it.
CLICK / DEMONSTRATE:
Open the live fragment page. It now shows "Fragment test FRAG-V1" correctly.
AUDIENCE SHOULD OBSERVE:
The fixed page (as in Figure 19); contrast it with the yellow button in Figure 18.
HOW TO EXPLAIN THE FINDINGS:
EDS doesn't do dependency management. Content inside a page travels with it; anything referenced, like a fragment, has its own lifecycle. If several items must go live together, Snapshots are the documented bundle mechanism. We didn't test scheduling a snapshot.
EVIDENCE LABELS:
Tested: A3–A10, B2–B4. Documented: Snapshots. Unknown: snapshot scheduling. Out of scope: AEM Content Fragments.
TRANSITION:
"Finally, Abhishek's question: can an asset be unpublished based on its expiry metadata?"
LIKELY QUESTIONS AND ANSWERS:
Q: What about AEM Content Fragments?
A: This project has no AEM Content Fragment integration, so we tested EDS document fragments only.
Q: Why the 2-hour delay?
A: The fragment's earlier 404 response is cacheable for 7,200 seconds, so a browser that saw it may keep it. Our second check showed it refreshed sooner.
Q: How do we avoid this?
A: Publish or schedule fragments before, or at the same time as, the pages that use them.
TIME: 1:15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Abhishek's question was: can I schedule an unpublish of an asset based on metadata? First, three things that sound alike: expiry metadata is just a label; publication status is what the system records; and availability is whether the URL still loads. In 7A we saw those can disagree. In EDS, assets carry no expiry metadata. Images can't be unpublished at all. PDFs can, since they have their own Preview and Publish buttons, but the editor only lets you schedule a publish for them. Its Unpublish option works immediately, not on a schedule. EDS can unpublish on a schedule by time, through the schedule sheet's unpublish command; we proved that for a page. So the answer is: by time, yes; by metadata, not natively. Something has to read the expiry date and turn it into a scheduled unpublish, for example Ema with approval, or a script.
CLICK / DEMONSTRATE:
Open the PDF in the editor's media viewer and point at Preview / Publish and the Prepare icon.
AUDIENCE SHOULD OBSERVE:
A PDF with its own publish controls, unlike an image.
HOW TO EXPLAIN THE FINDINGS:
AEM Assets has its own documented Off Time feature that withdraws assets from AEM delivery, but this site doesn't deliver assets from AEM, so it doesn't apply here and we didn't test it. The PDF unpublish run itself was not executed; that remains to validate.
EVIDENCE LABELS:
Tested: B5, X1b, X1c, T5 (page). Documented: no metadata-driven unpublishing; AEM Off Time. Still to validate: PDF scheduled unpublish; AEM Assets path.
TRANSITION:
"Let me bring it all together."
LIKELY QUESTIONS AND ANSWERS:
Q: So can Abhishek do it?
A: For PDFs, yes by time, using the schedule sheet. For metadata-driven expiry he needs automation that writes those rows. For images, no.
Q: Would AEM Assets solve it?
A: Off Time is documented for AEM-delivered assets. The site would first need to use assets from AEM; not tested here.
TIME: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To summarise. Everything on the left we proved on the site. Scheduling is easy to enable and reliable, it auto-previews, but it publishes the preview, so authors must preview again after editing. Ema completed every task, including bulk and unpublish, with approvals. Coworker didn't complete the task in our environment. Fragments need their own publishing, images travel with the page but outlive it. My five recommendations are on the right. The open items at the bottom are clearly unknown, not failures, and they're the next things to validate.
TRANSITION:
"I'm happy to take questions. The full test logs are in the appendix."
LIKELY QUESTIONS AND ANSWERS:
Q: What would you do next?
A: Run the PDF scheduled-unpublish test, test scheduling a snapshot, fix the sitemap host, and re-test Coworker when its tools change.
TIME: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Thank you. Happy to take questions.
HOW TO EXPLAIN THE FINDINGS:
Use the appendix to answer detail questions: A2 manual log, A3 Ema log, A4 Workspace log, A5–A7 additional investigations, A8 capability register, A9 open items.
LIKELY QUESTIONS AND ANSWERS:
Q: Where is the evidence?
A: Appendix plus the evidence folder: screenshots, Ema's workbook and the audit-log references.
Q: Can other teams reuse this?
A: Yes. The appendix is written as a reusable reference: environment, steps, results and the capability register.
TIME: 1:15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not presented.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not presented.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not presented.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not presented.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not presented.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not presented.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not presented.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not presented.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not presented.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not presented. Maps every figure in the deck to the test it evidences.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image" Target="../media/image-4-3.jpg"/><Relationship Id="rId4" Type="http://schemas.openxmlformats.org/officeDocument/2006/relationships/image" Target="../media/image-4-4.jpg"/><Relationship Id="rId5" Type="http://schemas.openxmlformats.org/officeDocument/2006/relationships/image" Target="../media/image-4-5.jp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jpg"/><Relationship Id="rId3" Type="http://schemas.openxmlformats.org/officeDocument/2006/relationships/image" Target="../media/image-6-3.jp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jpg"/><Relationship Id="rId3" Type="http://schemas.openxmlformats.org/officeDocument/2006/relationships/image" Target="../media/image-7-3.jpg"/><Relationship Id="rId4" Type="http://schemas.openxmlformats.org/officeDocument/2006/relationships/image" Target="../media/image-7-4.jp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image" Target="../media/image-13-3.jp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image" Target="../media/image-14-4.jp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201168" cy="6858000"/>
          </a:xfrm>
          <a:prstGeom prst="rect">
            <a:avLst/>
          </a:prstGeom>
          <a:solidFill>
            <a:srgbClr val="EB1000"/>
          </a:solidFill>
          <a:ln w="12700">
            <a:solidFill>
              <a:srgbClr val="EB1000"/>
            </a:solidFill>
            <a:prstDash val="solid"/>
          </a:ln>
        </p:spPr>
      </p:sp>
      <p:pic>
        <p:nvPicPr>
          <p:cNvPr id="3" name="Image 0" descr="Adobe">    </p:cNvPr>
          <p:cNvPicPr>
            <a:picLocks noChangeAspect="1"/>
          </p:cNvPicPr>
          <p:nvPr/>
        </p:nvPicPr>
        <p:blipFill>
          <a:blip r:embed="rId1"/>
          <a:stretch>
            <a:fillRect/>
          </a:stretch>
        </p:blipFill>
        <p:spPr>
          <a:xfrm>
            <a:off x="731520" y="548640"/>
            <a:ext cx="1892808" cy="457200"/>
          </a:xfrm>
          <a:prstGeom prst="rect">
            <a:avLst/>
          </a:prstGeom>
        </p:spPr>
      </p:pic>
      <p:sp>
        <p:nvSpPr>
          <p:cNvPr id="4" name="Text 1"/>
          <p:cNvSpPr/>
          <p:nvPr/>
        </p:nvSpPr>
        <p:spPr>
          <a:xfrm>
            <a:off x="731520" y="1600200"/>
            <a:ext cx="10058400" cy="365760"/>
          </a:xfrm>
          <a:prstGeom prst="rect">
            <a:avLst/>
          </a:prstGeom>
          <a:noFill/>
          <a:ln/>
        </p:spPr>
        <p:txBody>
          <a:bodyPr wrap="square" rtlCol="0" anchor="ctr"/>
          <a:lstStyle/>
          <a:p>
            <a:pPr indent="0" marL="0">
              <a:buNone/>
            </a:pPr>
            <a:r>
              <a:rPr lang="en-US" sz="1400" b="1" spc="100" kern="0" dirty="0">
                <a:solidFill>
                  <a:srgbClr val="EB1000"/>
                </a:solidFill>
                <a:latin typeface="Arial" pitchFamily="34" charset="0"/>
                <a:ea typeface="Arial" pitchFamily="34" charset="-122"/>
                <a:cs typeface="Arial" pitchFamily="34" charset="-120"/>
              </a:rPr>
              <a:t>EDS  ·  Experience Workspace  ·  EMA</a:t>
            </a:r>
            <a:endParaRPr lang="en-US" sz="1400" dirty="0"/>
          </a:p>
        </p:txBody>
      </p:sp>
      <p:sp>
        <p:nvSpPr>
          <p:cNvPr id="5" name="Text 2"/>
          <p:cNvSpPr/>
          <p:nvPr/>
        </p:nvSpPr>
        <p:spPr>
          <a:xfrm>
            <a:off x="731520" y="2011680"/>
            <a:ext cx="10515600" cy="1005840"/>
          </a:xfrm>
          <a:prstGeom prst="rect">
            <a:avLst/>
          </a:prstGeom>
          <a:noFill/>
          <a:ln/>
        </p:spPr>
        <p:txBody>
          <a:bodyPr wrap="square" rtlCol="0" anchor="ctr"/>
          <a:lstStyle/>
          <a:p>
            <a:pPr indent="0" marL="0">
              <a:buNone/>
            </a:pPr>
            <a:r>
              <a:rPr lang="en-US" sz="3800" b="1" dirty="0">
                <a:solidFill>
                  <a:srgbClr val="2C2C2C"/>
                </a:solidFill>
                <a:latin typeface="Arial" pitchFamily="34" charset="0"/>
                <a:ea typeface="Arial" pitchFamily="34" charset="-122"/>
                <a:cs typeface="Arial" pitchFamily="34" charset="-120"/>
              </a:rPr>
              <a:t>Scheduled Publishing in Edge Delivery Services</a:t>
            </a:r>
            <a:endParaRPr lang="en-US" sz="3800" dirty="0"/>
          </a:p>
        </p:txBody>
      </p:sp>
      <p:sp>
        <p:nvSpPr>
          <p:cNvPr id="6" name="Text 3"/>
          <p:cNvSpPr/>
          <p:nvPr/>
        </p:nvSpPr>
        <p:spPr>
          <a:xfrm>
            <a:off x="731520" y="3017520"/>
            <a:ext cx="10515600" cy="457200"/>
          </a:xfrm>
          <a:prstGeom prst="rect">
            <a:avLst/>
          </a:prstGeom>
          <a:noFill/>
          <a:ln/>
        </p:spPr>
        <p:txBody>
          <a:bodyPr wrap="square" rtlCol="0" anchor="ctr"/>
          <a:lstStyle/>
          <a:p>
            <a:pPr indent="0" marL="0">
              <a:buNone/>
            </a:pPr>
            <a:r>
              <a:rPr lang="en-US" sz="1800" dirty="0">
                <a:solidFill>
                  <a:srgbClr val="6E6E6E"/>
                </a:solidFill>
                <a:latin typeface="Arial" pitchFamily="34" charset="0"/>
                <a:ea typeface="Arial" pitchFamily="34" charset="-122"/>
                <a:cs typeface="Arial" pitchFamily="34" charset="-120"/>
              </a:rPr>
              <a:t>Manual, Ema-assisted and Experience Workspace approaches, tested on a live sandbox</a:t>
            </a:r>
            <a:endParaRPr lang="en-US" sz="1800" dirty="0"/>
          </a:p>
        </p:txBody>
      </p:sp>
      <p:sp>
        <p:nvSpPr>
          <p:cNvPr id="7" name="Text 4"/>
          <p:cNvSpPr/>
          <p:nvPr/>
        </p:nvSpPr>
        <p:spPr>
          <a:xfrm>
            <a:off x="731520" y="3657600"/>
            <a:ext cx="10058400" cy="731520"/>
          </a:xfrm>
          <a:prstGeom prst="rect">
            <a:avLst/>
          </a:prstGeom>
          <a:noFill/>
          <a:ln/>
        </p:spPr>
        <p:txBody>
          <a:bodyPr wrap="square" rtlCol="0" anchor="ctr"/>
          <a:lstStyle/>
          <a:p>
            <a:pPr indent="0" marL="0">
              <a:buNone/>
            </a:pPr>
            <a:r>
              <a:rPr lang="en-US" sz="1400" dirty="0">
                <a:solidFill>
                  <a:srgbClr val="2C2C2C"/>
                </a:solidFill>
                <a:latin typeface="Arial" pitchFamily="34" charset="0"/>
                <a:ea typeface="Arial" pitchFamily="34" charset="-122"/>
                <a:cs typeface="Arial" pitchFamily="34" charset="-120"/>
              </a:rPr>
              <a:t>We enabled, ran and verified scheduled publishing on bv-poc-wknd-aln, compared Ema with Coworker, and tested fragment, asset and expiry behaviour requested by the team.</a:t>
            </a:r>
            <a:endParaRPr lang="en-US" sz="1400" dirty="0"/>
          </a:p>
        </p:txBody>
      </p:sp>
      <p:sp>
        <p:nvSpPr>
          <p:cNvPr id="8" name="Text 5"/>
          <p:cNvSpPr/>
          <p:nvPr/>
        </p:nvSpPr>
        <p:spPr>
          <a:xfrm>
            <a:off x="731520" y="4754880"/>
            <a:ext cx="10058400" cy="731520"/>
          </a:xfrm>
          <a:prstGeom prst="rect">
            <a:avLst/>
          </a:prstGeom>
          <a:noFill/>
          <a:ln/>
        </p:spPr>
        <p:txBody>
          <a:bodyPr wrap="square" rtlCol="0" anchor="ctr"/>
          <a:lstStyle/>
          <a:p>
            <a:pPr indent="0" marL="0">
              <a:buNone/>
            </a:pPr>
            <a:r>
              <a:rPr lang="en-US" sz="1400" b="1" dirty="0">
                <a:solidFill>
                  <a:srgbClr val="2C2C2C"/>
                </a:solidFill>
                <a:latin typeface="Arial" pitchFamily="34" charset="0"/>
                <a:ea typeface="Arial" pitchFamily="34" charset="-122"/>
                <a:cs typeface="Arial" pitchFamily="34" charset="-120"/>
              </a:rPr>
              <a:t>ALAN RAJI MANI</a:t>
            </a:r>
            <a:endParaRPr lang="en-US" sz="1400" dirty="0"/>
          </a:p>
          <a:p>
            <a:pPr indent="0" marL="0">
              <a:buNone/>
            </a:pPr>
            <a:r>
              <a:rPr lang="en-US" sz="1400" dirty="0">
                <a:solidFill>
                  <a:srgbClr val="6E6E6E"/>
                </a:solidFill>
                <a:latin typeface="Arial" pitchFamily="34" charset="0"/>
                <a:ea typeface="Arial" pitchFamily="34" charset="-122"/>
                <a:cs typeface="Arial" pitchFamily="34" charset="-120"/>
              </a:rPr>
              <a:t>araji@adobe.com  ·  23 Oct 2026</a:t>
            </a:r>
            <a:endParaRPr lang="en-US" sz="1400" dirty="0"/>
          </a:p>
        </p:txBody>
      </p:sp>
      <p:sp>
        <p:nvSpPr>
          <p:cNvPr id="9" name="Text 6"/>
          <p:cNvSpPr/>
          <p:nvPr/>
        </p:nvSpPr>
        <p:spPr>
          <a:xfrm>
            <a:off x="457200" y="6446520"/>
            <a:ext cx="7315200" cy="274320"/>
          </a:xfrm>
          <a:prstGeom prst="rect">
            <a:avLst/>
          </a:prstGeom>
          <a:noFill/>
          <a:ln/>
        </p:spPr>
        <p:txBody>
          <a:bodyPr wrap="square" rtlCol="0" anchor="ctr"/>
          <a:lstStyle/>
          <a:p>
            <a:pPr indent="0" marL="0">
              <a:buNone/>
            </a:pPr>
            <a:r>
              <a:rPr lang="en-US" sz="900" dirty="0">
                <a:solidFill>
                  <a:srgbClr val="6E6E6E"/>
                </a:solidFill>
                <a:latin typeface="Arial" pitchFamily="34" charset="0"/>
                <a:ea typeface="Arial" pitchFamily="34" charset="-122"/>
                <a:cs typeface="Arial" pitchFamily="34" charset="-120"/>
              </a:rPr>
              <a:t>© 2026 Adobe. All Rights Reserved. Adobe Confidential.</a:t>
            </a:r>
            <a:endParaRPr lang="en-US" sz="900" dirty="0"/>
          </a:p>
        </p:txBody>
      </p:sp>
      <p:sp>
        <p:nvSpPr>
          <p:cNvPr id="10" name="Text 7"/>
          <p:cNvSpPr/>
          <p:nvPr/>
        </p:nvSpPr>
        <p:spPr>
          <a:xfrm>
            <a:off x="11274552" y="6446520"/>
            <a:ext cx="457200" cy="274320"/>
          </a:xfrm>
          <a:prstGeom prst="rect">
            <a:avLst/>
          </a:prstGeom>
          <a:noFill/>
          <a:ln/>
        </p:spPr>
        <p:txBody>
          <a:bodyPr wrap="square" rtlCol="0" anchor="ctr"/>
          <a:lstStyle/>
          <a:p>
            <a:pPr algn="r" indent="0" marL="0">
              <a:buNone/>
            </a:pPr>
            <a:r>
              <a:rPr lang="en-US" sz="900" dirty="0">
                <a:solidFill>
                  <a:srgbClr val="6E6E6E"/>
                </a:solidFill>
                <a:latin typeface="Arial" pitchFamily="34" charset="0"/>
                <a:ea typeface="Arial" pitchFamily="34" charset="-122"/>
                <a:cs typeface="Arial"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Adobe">    </p:cNvPr>
          <p:cNvPicPr>
            <a:picLocks noChangeAspect="1"/>
          </p:cNvPicPr>
          <p:nvPr/>
        </p:nvPicPr>
        <p:blipFill>
          <a:blip r:embed="rId1"/>
          <a:stretch>
            <a:fillRect/>
          </a:stretch>
        </p:blipFill>
        <p:spPr>
          <a:xfrm>
            <a:off x="10588752" y="292608"/>
            <a:ext cx="1133856" cy="274320"/>
          </a:xfrm>
          <a:prstGeom prst="rect">
            <a:avLst/>
          </a:prstGeom>
        </p:spPr>
      </p:pic>
      <p:sp>
        <p:nvSpPr>
          <p:cNvPr id="3" name="Text 0"/>
          <p:cNvSpPr/>
          <p:nvPr/>
        </p:nvSpPr>
        <p:spPr>
          <a:xfrm>
            <a:off x="457200" y="274320"/>
            <a:ext cx="9144000" cy="274320"/>
          </a:xfrm>
          <a:prstGeom prst="rect">
            <a:avLst/>
          </a:prstGeom>
          <a:noFill/>
          <a:ln/>
        </p:spPr>
        <p:txBody>
          <a:bodyPr wrap="square" rtlCol="0" anchor="ctr"/>
          <a:lstStyle/>
          <a:p>
            <a:pPr indent="0" marL="0">
              <a:buNone/>
            </a:pPr>
            <a:r>
              <a:rPr lang="en-US" sz="1100" b="1" spc="100" kern="0" dirty="0">
                <a:solidFill>
                  <a:srgbClr val="EB1000"/>
                </a:solidFill>
                <a:latin typeface="Arial" pitchFamily="34" charset="0"/>
                <a:ea typeface="Arial" pitchFamily="34" charset="-122"/>
                <a:cs typeface="Arial" pitchFamily="34" charset="-120"/>
              </a:rPr>
              <a:t>1 · EXPLAIN SCHEDULING</a:t>
            </a:r>
            <a:endParaRPr lang="en-US" sz="1100" dirty="0"/>
          </a:p>
        </p:txBody>
      </p:sp>
      <p:sp>
        <p:nvSpPr>
          <p:cNvPr id="4" name="Text 1"/>
          <p:cNvSpPr/>
          <p:nvPr/>
        </p:nvSpPr>
        <p:spPr>
          <a:xfrm>
            <a:off x="457200" y="566928"/>
            <a:ext cx="10241280" cy="640080"/>
          </a:xfrm>
          <a:prstGeom prst="rect">
            <a:avLst/>
          </a:prstGeom>
          <a:noFill/>
          <a:ln/>
        </p:spPr>
        <p:txBody>
          <a:bodyPr wrap="square" rtlCol="0" anchor="ctr"/>
          <a:lstStyle/>
          <a:p>
            <a:pPr indent="0" marL="0">
              <a:buNone/>
            </a:pPr>
            <a:r>
              <a:rPr lang="en-US" sz="2600" b="1" dirty="0">
                <a:solidFill>
                  <a:srgbClr val="2C2C2C"/>
                </a:solidFill>
                <a:latin typeface="Arial" pitchFamily="34" charset="0"/>
                <a:ea typeface="Arial" pitchFamily="34" charset="-122"/>
                <a:cs typeface="Arial" pitchFamily="34" charset="-120"/>
              </a:rPr>
              <a:t>How publishing and scheduling work in EDS</a:t>
            </a:r>
            <a:endParaRPr lang="en-US" sz="2600" dirty="0"/>
          </a:p>
        </p:txBody>
      </p:sp>
      <p:sp>
        <p:nvSpPr>
          <p:cNvPr id="5" name="Shape 2"/>
          <p:cNvSpPr/>
          <p:nvPr/>
        </p:nvSpPr>
        <p:spPr>
          <a:xfrm>
            <a:off x="457200" y="1243584"/>
            <a:ext cx="1097280" cy="54864"/>
          </a:xfrm>
          <a:prstGeom prst="rect">
            <a:avLst/>
          </a:prstGeom>
          <a:solidFill>
            <a:srgbClr val="EB1000"/>
          </a:solidFill>
          <a:ln w="12700">
            <a:solidFill>
              <a:srgbClr val="EB1000"/>
            </a:solidFill>
            <a:prstDash val="solid"/>
          </a:ln>
        </p:spPr>
      </p:sp>
      <p:sp>
        <p:nvSpPr>
          <p:cNvPr id="6" name="Text 3"/>
          <p:cNvSpPr/>
          <p:nvPr/>
        </p:nvSpPr>
        <p:spPr>
          <a:xfrm>
            <a:off x="457200" y="6446520"/>
            <a:ext cx="7315200" cy="274320"/>
          </a:xfrm>
          <a:prstGeom prst="rect">
            <a:avLst/>
          </a:prstGeom>
          <a:noFill/>
          <a:ln/>
        </p:spPr>
        <p:txBody>
          <a:bodyPr wrap="square" rtlCol="0" anchor="ctr"/>
          <a:lstStyle/>
          <a:p>
            <a:pPr indent="0" marL="0">
              <a:buNone/>
            </a:pPr>
            <a:r>
              <a:rPr lang="en-US" sz="900" dirty="0">
                <a:solidFill>
                  <a:srgbClr val="6E6E6E"/>
                </a:solidFill>
                <a:latin typeface="Arial" pitchFamily="34" charset="0"/>
                <a:ea typeface="Arial" pitchFamily="34" charset="-122"/>
                <a:cs typeface="Arial" pitchFamily="34" charset="-120"/>
              </a:rPr>
              <a:t>© 2026 Adobe. All Rights Reserved. Adobe Confidential.</a:t>
            </a:r>
            <a:endParaRPr lang="en-US" sz="900" dirty="0"/>
          </a:p>
        </p:txBody>
      </p:sp>
      <p:sp>
        <p:nvSpPr>
          <p:cNvPr id="7" name="Text 4"/>
          <p:cNvSpPr/>
          <p:nvPr/>
        </p:nvSpPr>
        <p:spPr>
          <a:xfrm>
            <a:off x="11274552" y="6446520"/>
            <a:ext cx="457200" cy="274320"/>
          </a:xfrm>
          <a:prstGeom prst="rect">
            <a:avLst/>
          </a:prstGeom>
          <a:noFill/>
          <a:ln/>
        </p:spPr>
        <p:txBody>
          <a:bodyPr wrap="square" rtlCol="0" anchor="ctr"/>
          <a:lstStyle/>
          <a:p>
            <a:pPr algn="r" indent="0" marL="0">
              <a:buNone/>
            </a:pPr>
            <a:r>
              <a:rPr lang="en-US" sz="900" dirty="0">
                <a:solidFill>
                  <a:srgbClr val="6E6E6E"/>
                </a:solidFill>
                <a:latin typeface="Arial" pitchFamily="34" charset="0"/>
                <a:ea typeface="Arial" pitchFamily="34" charset="-122"/>
                <a:cs typeface="Arial" pitchFamily="34" charset="-120"/>
              </a:rPr>
              <a:t>2</a:t>
            </a:r>
            <a:endParaRPr lang="en-US" sz="900" dirty="0"/>
          </a:p>
        </p:txBody>
      </p:sp>
      <p:sp>
        <p:nvSpPr>
          <p:cNvPr id="8" name="Shape 5"/>
          <p:cNvSpPr/>
          <p:nvPr/>
        </p:nvSpPr>
        <p:spPr>
          <a:xfrm>
            <a:off x="640080" y="1691640"/>
            <a:ext cx="2194560" cy="914400"/>
          </a:xfrm>
          <a:prstGeom prst="roundRect">
            <a:avLst>
              <a:gd name="adj" fmla="val 8000"/>
            </a:avLst>
          </a:prstGeom>
          <a:solidFill>
            <a:srgbClr val="2C2C2C"/>
          </a:solidFill>
          <a:ln w="12700">
            <a:solidFill>
              <a:srgbClr val="2C2C2C"/>
            </a:solidFill>
            <a:prstDash val="solid"/>
          </a:ln>
        </p:spPr>
      </p:sp>
      <p:sp>
        <p:nvSpPr>
          <p:cNvPr id="9" name="Text 6"/>
          <p:cNvSpPr/>
          <p:nvPr/>
        </p:nvSpPr>
        <p:spPr>
          <a:xfrm>
            <a:off x="640080" y="1691640"/>
            <a:ext cx="2194560" cy="91440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Editor</a:t>
            </a:r>
            <a:endParaRPr lang="en-US" sz="1200" dirty="0"/>
          </a:p>
          <a:p>
            <a:pPr algn="ctr" indent="0" marL="0">
              <a:buNone/>
            </a:pPr>
            <a:r>
              <a:rPr lang="en-US" sz="1200" b="1" dirty="0">
                <a:solidFill>
                  <a:srgbClr val="FFFFFF"/>
                </a:solidFill>
                <a:latin typeface="Arial" pitchFamily="34" charset="0"/>
                <a:ea typeface="Arial" pitchFamily="34" charset="-122"/>
                <a:cs typeface="Arial" pitchFamily="34" charset="-120"/>
              </a:rPr>
              <a:t>da.live</a:t>
            </a:r>
            <a:endParaRPr lang="en-US" sz="1200" dirty="0"/>
          </a:p>
        </p:txBody>
      </p:sp>
      <p:sp>
        <p:nvSpPr>
          <p:cNvPr id="10" name="Shape 7"/>
          <p:cNvSpPr/>
          <p:nvPr/>
        </p:nvSpPr>
        <p:spPr>
          <a:xfrm>
            <a:off x="2880360" y="2148840"/>
            <a:ext cx="1097280" cy="0"/>
          </a:xfrm>
          <a:prstGeom prst="line">
            <a:avLst/>
          </a:prstGeom>
          <a:noFill/>
          <a:ln w="19050">
            <a:solidFill>
              <a:srgbClr val="6E6E6E"/>
            </a:solidFill>
            <a:prstDash val="solid"/>
            <a:tailEnd type="triangle"/>
          </a:ln>
        </p:spPr>
      </p:sp>
      <p:sp>
        <p:nvSpPr>
          <p:cNvPr id="11" name="Text 8"/>
          <p:cNvSpPr/>
          <p:nvPr/>
        </p:nvSpPr>
        <p:spPr>
          <a:xfrm>
            <a:off x="2834640" y="1737360"/>
            <a:ext cx="1188720" cy="274320"/>
          </a:xfrm>
          <a:prstGeom prst="rect">
            <a:avLst/>
          </a:prstGeom>
          <a:noFill/>
          <a:ln/>
        </p:spPr>
        <p:txBody>
          <a:bodyPr wrap="square" rtlCol="0" anchor="ctr"/>
          <a:lstStyle/>
          <a:p>
            <a:pPr algn="ctr" indent="0" marL="0">
              <a:buNone/>
            </a:pPr>
            <a:r>
              <a:rPr lang="en-US" sz="1100" dirty="0">
                <a:solidFill>
                  <a:srgbClr val="6E6E6E"/>
                </a:solidFill>
                <a:latin typeface="Arial" pitchFamily="34" charset="0"/>
                <a:ea typeface="Arial" pitchFamily="34" charset="-122"/>
                <a:cs typeface="Arial" pitchFamily="34" charset="-120"/>
              </a:rPr>
              <a:t>Preview</a:t>
            </a:r>
            <a:endParaRPr lang="en-US" sz="1100" dirty="0"/>
          </a:p>
        </p:txBody>
      </p:sp>
      <p:sp>
        <p:nvSpPr>
          <p:cNvPr id="12" name="Shape 9"/>
          <p:cNvSpPr/>
          <p:nvPr/>
        </p:nvSpPr>
        <p:spPr>
          <a:xfrm>
            <a:off x="4023360" y="1691640"/>
            <a:ext cx="2194560" cy="914400"/>
          </a:xfrm>
          <a:prstGeom prst="roundRect">
            <a:avLst>
              <a:gd name="adj" fmla="val 8000"/>
            </a:avLst>
          </a:prstGeom>
          <a:solidFill>
            <a:srgbClr val="505050"/>
          </a:solidFill>
          <a:ln w="12700">
            <a:solidFill>
              <a:srgbClr val="505050"/>
            </a:solidFill>
            <a:prstDash val="solid"/>
          </a:ln>
        </p:spPr>
      </p:sp>
      <p:sp>
        <p:nvSpPr>
          <p:cNvPr id="13" name="Text 10"/>
          <p:cNvSpPr/>
          <p:nvPr/>
        </p:nvSpPr>
        <p:spPr>
          <a:xfrm>
            <a:off x="4023360" y="1691640"/>
            <a:ext cx="2194560" cy="91440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Preview site</a:t>
            </a:r>
            <a:endParaRPr lang="en-US" sz="1200" dirty="0"/>
          </a:p>
          <a:p>
            <a:pPr algn="ctr" indent="0" marL="0">
              <a:buNone/>
            </a:pPr>
            <a:r>
              <a:rPr lang="en-US" sz="1200" b="1" dirty="0">
                <a:solidFill>
                  <a:srgbClr val="FFFFFF"/>
                </a:solidFill>
                <a:latin typeface="Arial" pitchFamily="34" charset="0"/>
                <a:ea typeface="Arial" pitchFamily="34" charset="-122"/>
                <a:cs typeface="Arial" pitchFamily="34" charset="-120"/>
              </a:rPr>
              <a:t>.aem.page</a:t>
            </a:r>
            <a:endParaRPr lang="en-US" sz="1200" dirty="0"/>
          </a:p>
        </p:txBody>
      </p:sp>
      <p:sp>
        <p:nvSpPr>
          <p:cNvPr id="14" name="Shape 11"/>
          <p:cNvSpPr/>
          <p:nvPr/>
        </p:nvSpPr>
        <p:spPr>
          <a:xfrm>
            <a:off x="6263640" y="2148840"/>
            <a:ext cx="1097280" cy="0"/>
          </a:xfrm>
          <a:prstGeom prst="line">
            <a:avLst/>
          </a:prstGeom>
          <a:noFill/>
          <a:ln w="19050">
            <a:solidFill>
              <a:srgbClr val="6E6E6E"/>
            </a:solidFill>
            <a:prstDash val="solid"/>
            <a:tailEnd type="triangle"/>
          </a:ln>
        </p:spPr>
      </p:sp>
      <p:sp>
        <p:nvSpPr>
          <p:cNvPr id="15" name="Text 12"/>
          <p:cNvSpPr/>
          <p:nvPr/>
        </p:nvSpPr>
        <p:spPr>
          <a:xfrm>
            <a:off x="6217920" y="1737360"/>
            <a:ext cx="1188720" cy="274320"/>
          </a:xfrm>
          <a:prstGeom prst="rect">
            <a:avLst/>
          </a:prstGeom>
          <a:noFill/>
          <a:ln/>
        </p:spPr>
        <p:txBody>
          <a:bodyPr wrap="square" rtlCol="0" anchor="ctr"/>
          <a:lstStyle/>
          <a:p>
            <a:pPr algn="ctr" indent="0" marL="0">
              <a:buNone/>
            </a:pPr>
            <a:r>
              <a:rPr lang="en-US" sz="1100" dirty="0">
                <a:solidFill>
                  <a:srgbClr val="6E6E6E"/>
                </a:solidFill>
                <a:latin typeface="Arial" pitchFamily="34" charset="0"/>
                <a:ea typeface="Arial" pitchFamily="34" charset="-122"/>
                <a:cs typeface="Arial" pitchFamily="34" charset="-120"/>
              </a:rPr>
              <a:t>Publish</a:t>
            </a:r>
            <a:endParaRPr lang="en-US" sz="1100" dirty="0"/>
          </a:p>
        </p:txBody>
      </p:sp>
      <p:sp>
        <p:nvSpPr>
          <p:cNvPr id="16" name="Shape 13"/>
          <p:cNvSpPr/>
          <p:nvPr/>
        </p:nvSpPr>
        <p:spPr>
          <a:xfrm>
            <a:off x="7406640" y="1691640"/>
            <a:ext cx="2194560" cy="914400"/>
          </a:xfrm>
          <a:prstGeom prst="roundRect">
            <a:avLst>
              <a:gd name="adj" fmla="val 8000"/>
            </a:avLst>
          </a:prstGeom>
          <a:solidFill>
            <a:srgbClr val="EB1000"/>
          </a:solidFill>
          <a:ln w="12700">
            <a:solidFill>
              <a:srgbClr val="EB1000"/>
            </a:solidFill>
            <a:prstDash val="solid"/>
          </a:ln>
        </p:spPr>
      </p:sp>
      <p:sp>
        <p:nvSpPr>
          <p:cNvPr id="17" name="Text 14"/>
          <p:cNvSpPr/>
          <p:nvPr/>
        </p:nvSpPr>
        <p:spPr>
          <a:xfrm>
            <a:off x="7406640" y="1691640"/>
            <a:ext cx="2194560" cy="91440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Live site</a:t>
            </a:r>
            <a:endParaRPr lang="en-US" sz="1200" dirty="0"/>
          </a:p>
          <a:p>
            <a:pPr algn="ctr" indent="0" marL="0">
              <a:buNone/>
            </a:pPr>
            <a:r>
              <a:rPr lang="en-US" sz="1200" b="1" dirty="0">
                <a:solidFill>
                  <a:srgbClr val="FFFFFF"/>
                </a:solidFill>
                <a:latin typeface="Arial" pitchFamily="34" charset="0"/>
                <a:ea typeface="Arial" pitchFamily="34" charset="-122"/>
                <a:cs typeface="Arial" pitchFamily="34" charset="-120"/>
              </a:rPr>
              <a:t>.aem.live</a:t>
            </a:r>
            <a:endParaRPr lang="en-US" sz="1200" dirty="0"/>
          </a:p>
        </p:txBody>
      </p:sp>
      <p:sp>
        <p:nvSpPr>
          <p:cNvPr id="18" name="Text 15"/>
          <p:cNvSpPr/>
          <p:nvPr/>
        </p:nvSpPr>
        <p:spPr>
          <a:xfrm>
            <a:off x="640080" y="2743200"/>
            <a:ext cx="10972800" cy="365760"/>
          </a:xfrm>
          <a:prstGeom prst="rect">
            <a:avLst/>
          </a:prstGeom>
          <a:noFill/>
          <a:ln/>
        </p:spPr>
        <p:txBody>
          <a:bodyPr wrap="square" rtlCol="0" anchor="ctr"/>
          <a:lstStyle/>
          <a:p>
            <a:pPr indent="0" marL="0">
              <a:buNone/>
            </a:pPr>
            <a:r>
              <a:rPr lang="en-US" sz="1400" b="1" dirty="0">
                <a:solidFill>
                  <a:srgbClr val="2C2C2C"/>
                </a:solidFill>
                <a:latin typeface="Arial" pitchFamily="34" charset="0"/>
                <a:ea typeface="Arial" pitchFamily="34" charset="-122"/>
                <a:cs typeface="Arial" pitchFamily="34" charset="-120"/>
              </a:rPr>
              <a:t>Publishing = copying the PREVIEW version to live.  </a:t>
            </a:r>
            <a:pPr indent="0" marL="0">
              <a:buNone/>
            </a:pPr>
            <a:r>
              <a:rPr lang="en-US" sz="1400" dirty="0">
                <a:solidFill>
                  <a:srgbClr val="2C2C2C"/>
                </a:solidFill>
                <a:latin typeface="Arial" pitchFamily="34" charset="0"/>
                <a:ea typeface="Arial" pitchFamily="34" charset="-122"/>
                <a:cs typeface="Arial" pitchFamily="34" charset="-120"/>
              </a:rPr>
              <a:t>Scheduling = doing that copy automatically at a chosen time.</a:t>
            </a:r>
            <a:endParaRPr lang="en-US" sz="14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3246120"/>
          <a:ext cx="11247120" cy="914400"/>
        </p:xfrm>
        <a:graphic>
          <a:graphicData uri="http://schemas.openxmlformats.org/drawingml/2006/table">
            <a:tbl>
              <a:tblPr/>
              <a:tblGrid>
                <a:gridCol w="2011680"/>
                <a:gridCol w="4617720"/>
                <a:gridCol w="4617720"/>
              </a:tblGrid>
              <a:tr h="0">
                <a:tc>
                  <a:txBody>
                    <a:bodyPr/>
                    <a:lstStyle/>
                    <a:p>
                      <a:pPr indent="0" marL="0">
                        <a:buNone/>
                      </a:pP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Editor "Schedule Publish"</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Schedule sheet (crontab)</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r>
              <a:tr h="0">
                <a:tc>
                  <a:txBody>
                    <a:bodyPr/>
                    <a:lstStyle/>
                    <a:p>
                      <a:pPr indent="0" marL="0">
                        <a:buNone/>
                      </a:pPr>
                      <a:r>
                        <a:rPr lang="en-US" sz="1200" dirty="0">
                          <a:solidFill>
                            <a:srgbClr val="2C2C2C"/>
                          </a:solidFill>
                          <a:latin typeface="Arial" pitchFamily="34" charset="0"/>
                          <a:ea typeface="Arial" pitchFamily="34" charset="-122"/>
                          <a:cs typeface="Arial" pitchFamily="34" charset="-120"/>
                        </a:rPr>
                        <a:t>Used by</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2C2C2C"/>
                          </a:solidFill>
                          <a:latin typeface="Arial" pitchFamily="34" charset="0"/>
                          <a:ea typeface="Arial" pitchFamily="34" charset="-122"/>
                          <a:cs typeface="Arial" pitchFamily="34" charset="-120"/>
                        </a:rPr>
                        <a:t>Authors, inside the editor</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2C2C2C"/>
                          </a:solidFill>
                          <a:latin typeface="Arial" pitchFamily="34" charset="0"/>
                          <a:ea typeface="Arial" pitchFamily="34" charset="-122"/>
                          <a:cs typeface="Arial" pitchFamily="34" charset="-120"/>
                        </a:rPr>
                        <a:t>Admins and automation (Ema)</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1200" dirty="0">
                          <a:solidFill>
                            <a:srgbClr val="2C2C2C"/>
                          </a:solidFill>
                          <a:latin typeface="Arial" pitchFamily="34" charset="0"/>
                          <a:ea typeface="Arial" pitchFamily="34" charset="-122"/>
                          <a:cs typeface="Arial" pitchFamily="34" charset="-120"/>
                        </a:rPr>
                        <a:t>Where</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200" dirty="0">
                          <a:solidFill>
                            <a:srgbClr val="2C2C2C"/>
                          </a:solidFill>
                          <a:latin typeface="Arial" pitchFamily="34" charset="0"/>
                          <a:ea typeface="Arial" pitchFamily="34" charset="-122"/>
                          <a:cs typeface="Arial" pitchFamily="34" charset="-120"/>
                        </a:rPr>
                        <a:t>Prepare menu → Schedule Publish</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200" dirty="0">
                          <a:solidFill>
                            <a:srgbClr val="2C2C2C"/>
                          </a:solidFill>
                          <a:latin typeface="Arial" pitchFamily="34" charset="0"/>
                          <a:ea typeface="Arial" pitchFamily="34" charset="-122"/>
                          <a:cs typeface="Arial" pitchFamily="34" charset="-120"/>
                        </a:rPr>
                        <a:t>/.helix/crontab sheet: "when" + "command" rows</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r h="0">
                <a:tc>
                  <a:txBody>
                    <a:bodyPr/>
                    <a:lstStyle/>
                    <a:p>
                      <a:pPr indent="0" marL="0">
                        <a:buNone/>
                      </a:pPr>
                      <a:r>
                        <a:rPr lang="en-US" sz="1200" dirty="0">
                          <a:solidFill>
                            <a:srgbClr val="2C2C2C"/>
                          </a:solidFill>
                          <a:latin typeface="Arial" pitchFamily="34" charset="0"/>
                          <a:ea typeface="Arial" pitchFamily="34" charset="-122"/>
                          <a:cs typeface="Arial" pitchFamily="34" charset="-120"/>
                        </a:rPr>
                        <a:t>Time</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2C2C2C"/>
                          </a:solidFill>
                          <a:latin typeface="Arial" pitchFamily="34" charset="0"/>
                          <a:ea typeface="Arial" pitchFamily="34" charset="-122"/>
                          <a:cs typeface="Arial" pitchFamily="34" charset="-120"/>
                        </a:rPr>
                        <a:t>Author's browser time zone, to the minute</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2C2C2C"/>
                          </a:solidFill>
                          <a:latin typeface="Arial" pitchFamily="34" charset="0"/>
                          <a:ea typeface="Arial" pitchFamily="34" charset="-122"/>
                          <a:cs typeface="Arial" pitchFamily="34" charset="-120"/>
                        </a:rPr>
                        <a:t>UTC, runs on 5-minute ticks</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1200" dirty="0">
                          <a:solidFill>
                            <a:srgbClr val="2C2C2C"/>
                          </a:solidFill>
                          <a:latin typeface="Arial" pitchFamily="34" charset="0"/>
                          <a:ea typeface="Arial" pitchFamily="34" charset="-122"/>
                          <a:cs typeface="Arial" pitchFamily="34" charset="-120"/>
                        </a:rPr>
                        <a:t>Status on our site</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200" b="1" dirty="0">
                          <a:solidFill>
                            <a:srgbClr val="2D9D78"/>
                          </a:solidFill>
                          <a:latin typeface="Arial" pitchFamily="34" charset="0"/>
                          <a:ea typeface="Arial" pitchFamily="34" charset="-122"/>
                          <a:cs typeface="Arial" pitchFamily="34" charset="-120"/>
                        </a:rPr>
                        <a:t>Tested 22 Oct (M0–M14)</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200" b="1" dirty="0">
                          <a:solidFill>
                            <a:srgbClr val="2D9D78"/>
                          </a:solidFill>
                          <a:latin typeface="Arial" pitchFamily="34" charset="0"/>
                          <a:ea typeface="Arial" pitchFamily="34" charset="-122"/>
                          <a:cs typeface="Arial" pitchFamily="34" charset="-120"/>
                        </a:rPr>
                        <a:t>Tested 19 Oct (T1–T5)</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bl>
          </a:graphicData>
        </a:graphic>
      </p:graphicFrame>
      <p:sp>
        <p:nvSpPr>
          <p:cNvPr id="20" name="Text 16"/>
          <p:cNvSpPr/>
          <p:nvPr/>
        </p:nvSpPr>
        <p:spPr>
          <a:xfrm>
            <a:off x="457200" y="6053328"/>
            <a:ext cx="11247120" cy="292608"/>
          </a:xfrm>
          <a:prstGeom prst="rect">
            <a:avLst/>
          </a:prstGeom>
          <a:noFill/>
          <a:ln/>
        </p:spPr>
        <p:txBody>
          <a:bodyPr wrap="square" rtlCol="0" anchor="ctr"/>
          <a:lstStyle/>
          <a:p>
            <a:pPr indent="0" marL="0">
              <a:buNone/>
            </a:pPr>
            <a:r>
              <a:rPr lang="en-US" sz="1100" b="1" dirty="0">
                <a:solidFill>
                  <a:srgbClr val="EB1000"/>
                </a:solidFill>
                <a:latin typeface="Arial" pitchFamily="34" charset="0"/>
                <a:ea typeface="Arial" pitchFamily="34" charset="-122"/>
                <a:cs typeface="Arial" pitchFamily="34" charset="-120"/>
              </a:rPr>
              <a:t>LIVE  </a:t>
            </a:r>
            <a:pPr indent="0" marL="0">
              <a:buNone/>
            </a:pPr>
            <a:r>
              <a:rPr lang="en-US" sz="1100" dirty="0">
                <a:solidFill>
                  <a:srgbClr val="1473E6"/>
                </a:solidFill>
                <a:latin typeface="Arial" pitchFamily="34" charset="0"/>
                <a:ea typeface="Arial" pitchFamily="34" charset="-122"/>
                <a:cs typeface="Arial" pitchFamily="34" charset="-120"/>
              </a:rPr>
              <a:t>https://main--bv-poc-wknd-aln--araji-adobe.aem.page/us/en/scheduled-publish-test   →   https://main--bv-poc-wknd-aln--araji-adobe.aem.live/us/en/scheduled-publish-test</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Adobe">    </p:cNvPr>
          <p:cNvPicPr>
            <a:picLocks noChangeAspect="1"/>
          </p:cNvPicPr>
          <p:nvPr/>
        </p:nvPicPr>
        <p:blipFill>
          <a:blip r:embed="rId1"/>
          <a:stretch>
            <a:fillRect/>
          </a:stretch>
        </p:blipFill>
        <p:spPr>
          <a:xfrm>
            <a:off x="10588752" y="292608"/>
            <a:ext cx="1133856" cy="274320"/>
          </a:xfrm>
          <a:prstGeom prst="rect">
            <a:avLst/>
          </a:prstGeom>
        </p:spPr>
      </p:pic>
      <p:sp>
        <p:nvSpPr>
          <p:cNvPr id="3" name="Text 0"/>
          <p:cNvSpPr/>
          <p:nvPr/>
        </p:nvSpPr>
        <p:spPr>
          <a:xfrm>
            <a:off x="457200" y="274320"/>
            <a:ext cx="9144000" cy="274320"/>
          </a:xfrm>
          <a:prstGeom prst="rect">
            <a:avLst/>
          </a:prstGeom>
          <a:noFill/>
          <a:ln/>
        </p:spPr>
        <p:txBody>
          <a:bodyPr wrap="square" rtlCol="0" anchor="ctr"/>
          <a:lstStyle/>
          <a:p>
            <a:pPr indent="0" marL="0">
              <a:buNone/>
            </a:pPr>
            <a:r>
              <a:rPr lang="en-US" sz="1100" b="1" spc="100" kern="0" dirty="0">
                <a:solidFill>
                  <a:srgbClr val="EB1000"/>
                </a:solidFill>
                <a:latin typeface="Arial" pitchFamily="34" charset="0"/>
                <a:ea typeface="Arial" pitchFamily="34" charset="-122"/>
                <a:cs typeface="Arial" pitchFamily="34" charset="-120"/>
              </a:rPr>
              <a:t>2 · BUSINESS USE CASE</a:t>
            </a:r>
            <a:endParaRPr lang="en-US" sz="1100" dirty="0"/>
          </a:p>
        </p:txBody>
      </p:sp>
      <p:sp>
        <p:nvSpPr>
          <p:cNvPr id="4" name="Text 1"/>
          <p:cNvSpPr/>
          <p:nvPr/>
        </p:nvSpPr>
        <p:spPr>
          <a:xfrm>
            <a:off x="457200" y="566928"/>
            <a:ext cx="10241280" cy="640080"/>
          </a:xfrm>
          <a:prstGeom prst="rect">
            <a:avLst/>
          </a:prstGeom>
          <a:noFill/>
          <a:ln/>
        </p:spPr>
        <p:txBody>
          <a:bodyPr wrap="square" rtlCol="0" anchor="ctr"/>
          <a:lstStyle/>
          <a:p>
            <a:pPr indent="0" marL="0">
              <a:buNone/>
            </a:pPr>
            <a:r>
              <a:rPr lang="en-US" sz="2600" b="1" dirty="0">
                <a:solidFill>
                  <a:srgbClr val="2C2C2C"/>
                </a:solidFill>
                <a:latin typeface="Arial" pitchFamily="34" charset="0"/>
                <a:ea typeface="Arial" pitchFamily="34" charset="-122"/>
                <a:cs typeface="Arial" pitchFamily="34" charset="-120"/>
              </a:rPr>
              <a:t>Why marketers need scheduled publishing</a:t>
            </a:r>
            <a:endParaRPr lang="en-US" sz="2600" dirty="0"/>
          </a:p>
        </p:txBody>
      </p:sp>
      <p:sp>
        <p:nvSpPr>
          <p:cNvPr id="5" name="Shape 2"/>
          <p:cNvSpPr/>
          <p:nvPr/>
        </p:nvSpPr>
        <p:spPr>
          <a:xfrm>
            <a:off x="457200" y="1243584"/>
            <a:ext cx="1097280" cy="54864"/>
          </a:xfrm>
          <a:prstGeom prst="rect">
            <a:avLst/>
          </a:prstGeom>
          <a:solidFill>
            <a:srgbClr val="EB1000"/>
          </a:solidFill>
          <a:ln w="12700">
            <a:solidFill>
              <a:srgbClr val="EB1000"/>
            </a:solidFill>
            <a:prstDash val="solid"/>
          </a:ln>
        </p:spPr>
      </p:sp>
      <p:sp>
        <p:nvSpPr>
          <p:cNvPr id="6" name="Text 3"/>
          <p:cNvSpPr/>
          <p:nvPr/>
        </p:nvSpPr>
        <p:spPr>
          <a:xfrm>
            <a:off x="457200" y="6446520"/>
            <a:ext cx="7315200" cy="274320"/>
          </a:xfrm>
          <a:prstGeom prst="rect">
            <a:avLst/>
          </a:prstGeom>
          <a:noFill/>
          <a:ln/>
        </p:spPr>
        <p:txBody>
          <a:bodyPr wrap="square" rtlCol="0" anchor="ctr"/>
          <a:lstStyle/>
          <a:p>
            <a:pPr indent="0" marL="0">
              <a:buNone/>
            </a:pPr>
            <a:r>
              <a:rPr lang="en-US" sz="900" dirty="0">
                <a:solidFill>
                  <a:srgbClr val="6E6E6E"/>
                </a:solidFill>
                <a:latin typeface="Arial" pitchFamily="34" charset="0"/>
                <a:ea typeface="Arial" pitchFamily="34" charset="-122"/>
                <a:cs typeface="Arial" pitchFamily="34" charset="-120"/>
              </a:rPr>
              <a:t>© 2026 Adobe. All Rights Reserved. Adobe Confidential.</a:t>
            </a:r>
            <a:endParaRPr lang="en-US" sz="900" dirty="0"/>
          </a:p>
        </p:txBody>
      </p:sp>
      <p:sp>
        <p:nvSpPr>
          <p:cNvPr id="7" name="Text 4"/>
          <p:cNvSpPr/>
          <p:nvPr/>
        </p:nvSpPr>
        <p:spPr>
          <a:xfrm>
            <a:off x="11274552" y="6446520"/>
            <a:ext cx="457200" cy="274320"/>
          </a:xfrm>
          <a:prstGeom prst="rect">
            <a:avLst/>
          </a:prstGeom>
          <a:noFill/>
          <a:ln/>
        </p:spPr>
        <p:txBody>
          <a:bodyPr wrap="square" rtlCol="0" anchor="ctr"/>
          <a:lstStyle/>
          <a:p>
            <a:pPr algn="r" indent="0" marL="0">
              <a:buNone/>
            </a:pPr>
            <a:r>
              <a:rPr lang="en-US" sz="900" dirty="0">
                <a:solidFill>
                  <a:srgbClr val="6E6E6E"/>
                </a:solidFill>
                <a:latin typeface="Arial" pitchFamily="34" charset="0"/>
                <a:ea typeface="Arial" pitchFamily="34" charset="-122"/>
                <a:cs typeface="Arial" pitchFamily="34" charset="-120"/>
              </a:rPr>
              <a:t>3</a:t>
            </a:r>
            <a:endParaRPr lang="en-US" sz="900" dirty="0"/>
          </a:p>
        </p:txBody>
      </p:sp>
      <p:sp>
        <p:nvSpPr>
          <p:cNvPr id="8" name="Text 5"/>
          <p:cNvSpPr/>
          <p:nvPr/>
        </p:nvSpPr>
        <p:spPr>
          <a:xfrm>
            <a:off x="457200" y="1417320"/>
            <a:ext cx="11247120" cy="457200"/>
          </a:xfrm>
          <a:prstGeom prst="rect">
            <a:avLst/>
          </a:prstGeom>
          <a:noFill/>
          <a:ln/>
        </p:spPr>
        <p:txBody>
          <a:bodyPr wrap="square" rtlCol="0" anchor="ctr"/>
          <a:lstStyle/>
          <a:p>
            <a:pPr indent="0" marL="0">
              <a:buNone/>
            </a:pPr>
            <a:r>
              <a:rPr lang="en-US" sz="1500" dirty="0">
                <a:solidFill>
                  <a:srgbClr val="2C2C2C"/>
                </a:solidFill>
                <a:latin typeface="Arial" pitchFamily="34" charset="0"/>
                <a:ea typeface="Arial" pitchFamily="34" charset="-122"/>
                <a:cs typeface="Arial" pitchFamily="34" charset="-120"/>
              </a:rPr>
              <a:t>Content must go live at a precise moment, often outside working hours or in another time zone, without someone clicking Publish.</a:t>
            </a:r>
            <a:endParaRPr lang="en-US" sz="1500" dirty="0"/>
          </a:p>
        </p:txBody>
      </p:sp>
      <p:sp>
        <p:nvSpPr>
          <p:cNvPr id="9" name="Shape 6"/>
          <p:cNvSpPr/>
          <p:nvPr/>
        </p:nvSpPr>
        <p:spPr>
          <a:xfrm>
            <a:off x="457200" y="1965960"/>
            <a:ext cx="2651760" cy="1234440"/>
          </a:xfrm>
          <a:prstGeom prst="roundRect">
            <a:avLst>
              <a:gd name="adj" fmla="val 5926"/>
            </a:avLst>
          </a:prstGeom>
          <a:solidFill>
            <a:srgbClr val="F5F5F5"/>
          </a:solidFill>
          <a:ln w="15875">
            <a:solidFill>
              <a:srgbClr val="EB1000"/>
            </a:solidFill>
            <a:prstDash val="solid"/>
          </a:ln>
        </p:spPr>
      </p:sp>
      <p:sp>
        <p:nvSpPr>
          <p:cNvPr id="10" name="Text 7"/>
          <p:cNvSpPr/>
          <p:nvPr/>
        </p:nvSpPr>
        <p:spPr>
          <a:xfrm>
            <a:off x="548640" y="1965960"/>
            <a:ext cx="2468880" cy="1234440"/>
          </a:xfrm>
          <a:prstGeom prst="rect">
            <a:avLst/>
          </a:prstGeom>
          <a:noFill/>
          <a:ln/>
        </p:spPr>
        <p:txBody>
          <a:bodyPr wrap="square" rtlCol="0" anchor="ctr"/>
          <a:lstStyle/>
          <a:p>
            <a:pPr algn="ctr" indent="0" marL="0">
              <a:buNone/>
            </a:pPr>
            <a:r>
              <a:rPr lang="en-US" sz="1300" b="1" dirty="0">
                <a:solidFill>
                  <a:srgbClr val="2C2C2C"/>
                </a:solidFill>
                <a:latin typeface="Arial" pitchFamily="34" charset="0"/>
                <a:ea typeface="Arial" pitchFamily="34" charset="-122"/>
                <a:cs typeface="Arial" pitchFamily="34" charset="-120"/>
              </a:rPr>
              <a:t>1. Campaign or product launch</a:t>
            </a:r>
            <a:endParaRPr lang="en-US" sz="1300" dirty="0"/>
          </a:p>
          <a:p>
            <a:pPr algn="ctr" indent="0" marL="0">
              <a:buNone/>
            </a:pPr>
            <a:r>
              <a:rPr lang="en-US" sz="1300" dirty="0">
                <a:solidFill>
                  <a:srgbClr val="6E6E6E"/>
                </a:solidFill>
                <a:latin typeface="Arial" pitchFamily="34" charset="0"/>
                <a:ea typeface="Arial" pitchFamily="34" charset="-122"/>
                <a:cs typeface="Arial" pitchFamily="34" charset="-120"/>
              </a:rPr>
              <a:t>Go live at an exact time</a:t>
            </a:r>
            <a:endParaRPr lang="en-US" sz="1300" dirty="0"/>
          </a:p>
        </p:txBody>
      </p:sp>
      <p:sp>
        <p:nvSpPr>
          <p:cNvPr id="11" name="Shape 8"/>
          <p:cNvSpPr/>
          <p:nvPr/>
        </p:nvSpPr>
        <p:spPr>
          <a:xfrm>
            <a:off x="3291840" y="1965960"/>
            <a:ext cx="2651760" cy="1234440"/>
          </a:xfrm>
          <a:prstGeom prst="roundRect">
            <a:avLst>
              <a:gd name="adj" fmla="val 5926"/>
            </a:avLst>
          </a:prstGeom>
          <a:solidFill>
            <a:srgbClr val="F5F5F5"/>
          </a:solidFill>
          <a:ln w="15875">
            <a:solidFill>
              <a:srgbClr val="EB1000"/>
            </a:solidFill>
            <a:prstDash val="solid"/>
          </a:ln>
        </p:spPr>
      </p:sp>
      <p:sp>
        <p:nvSpPr>
          <p:cNvPr id="12" name="Text 9"/>
          <p:cNvSpPr/>
          <p:nvPr/>
        </p:nvSpPr>
        <p:spPr>
          <a:xfrm>
            <a:off x="3383280" y="1965960"/>
            <a:ext cx="2468880" cy="1234440"/>
          </a:xfrm>
          <a:prstGeom prst="rect">
            <a:avLst/>
          </a:prstGeom>
          <a:noFill/>
          <a:ln/>
        </p:spPr>
        <p:txBody>
          <a:bodyPr wrap="square" rtlCol="0" anchor="ctr"/>
          <a:lstStyle/>
          <a:p>
            <a:pPr algn="ctr" indent="0" marL="0">
              <a:buNone/>
            </a:pPr>
            <a:r>
              <a:rPr lang="en-US" sz="1300" b="1" dirty="0">
                <a:solidFill>
                  <a:srgbClr val="2C2C2C"/>
                </a:solidFill>
                <a:latin typeface="Arial" pitchFamily="34" charset="0"/>
                <a:ea typeface="Arial" pitchFamily="34" charset="-122"/>
                <a:cs typeface="Arial" pitchFamily="34" charset="-120"/>
              </a:rPr>
              <a:t>2. Embargoed announcement</a:t>
            </a:r>
            <a:endParaRPr lang="en-US" sz="1300" dirty="0"/>
          </a:p>
          <a:p>
            <a:pPr algn="ctr" indent="0" marL="0">
              <a:buNone/>
            </a:pPr>
            <a:r>
              <a:rPr lang="en-US" sz="1300" dirty="0">
                <a:solidFill>
                  <a:srgbClr val="6E6E6E"/>
                </a:solidFill>
                <a:latin typeface="Arial" pitchFamily="34" charset="0"/>
                <a:ea typeface="Arial" pitchFamily="34" charset="-122"/>
                <a:cs typeface="Arial" pitchFamily="34" charset="-120"/>
              </a:rPr>
              <a:t>Publish when the embargo lifts</a:t>
            </a:r>
            <a:endParaRPr lang="en-US" sz="1300" dirty="0"/>
          </a:p>
        </p:txBody>
      </p:sp>
      <p:sp>
        <p:nvSpPr>
          <p:cNvPr id="13" name="Shape 10"/>
          <p:cNvSpPr/>
          <p:nvPr/>
        </p:nvSpPr>
        <p:spPr>
          <a:xfrm>
            <a:off x="6126480" y="1965960"/>
            <a:ext cx="2651760" cy="1234440"/>
          </a:xfrm>
          <a:prstGeom prst="roundRect">
            <a:avLst>
              <a:gd name="adj" fmla="val 5926"/>
            </a:avLst>
          </a:prstGeom>
          <a:solidFill>
            <a:srgbClr val="F5F5F5"/>
          </a:solidFill>
          <a:ln w="15875">
            <a:solidFill>
              <a:srgbClr val="EB1000"/>
            </a:solidFill>
            <a:prstDash val="solid"/>
          </a:ln>
        </p:spPr>
      </p:sp>
      <p:sp>
        <p:nvSpPr>
          <p:cNvPr id="14" name="Text 11"/>
          <p:cNvSpPr/>
          <p:nvPr/>
        </p:nvSpPr>
        <p:spPr>
          <a:xfrm>
            <a:off x="6217920" y="1965960"/>
            <a:ext cx="2468880" cy="1234440"/>
          </a:xfrm>
          <a:prstGeom prst="rect">
            <a:avLst/>
          </a:prstGeom>
          <a:noFill/>
          <a:ln/>
        </p:spPr>
        <p:txBody>
          <a:bodyPr wrap="square" rtlCol="0" anchor="ctr"/>
          <a:lstStyle/>
          <a:p>
            <a:pPr algn="ctr" indent="0" marL="0">
              <a:buNone/>
            </a:pPr>
            <a:r>
              <a:rPr lang="en-US" sz="1300" b="1" dirty="0">
                <a:solidFill>
                  <a:srgbClr val="2C2C2C"/>
                </a:solidFill>
                <a:latin typeface="Arial" pitchFamily="34" charset="0"/>
                <a:ea typeface="Arial" pitchFamily="34" charset="-122"/>
                <a:cs typeface="Arial" pitchFamily="34" charset="-120"/>
              </a:rPr>
              <a:t>3. Global launch</a:t>
            </a:r>
            <a:endParaRPr lang="en-US" sz="1300" dirty="0"/>
          </a:p>
          <a:p>
            <a:pPr algn="ctr" indent="0" marL="0">
              <a:buNone/>
            </a:pPr>
            <a:r>
              <a:rPr lang="en-US" sz="1300" dirty="0">
                <a:solidFill>
                  <a:srgbClr val="6E6E6E"/>
                </a:solidFill>
                <a:latin typeface="Arial" pitchFamily="34" charset="0"/>
                <a:ea typeface="Arial" pitchFamily="34" charset="-122"/>
                <a:cs typeface="Arial" pitchFamily="34" charset="-120"/>
              </a:rPr>
              <a:t>Target another time zone</a:t>
            </a:r>
            <a:endParaRPr lang="en-US" sz="1300" dirty="0"/>
          </a:p>
        </p:txBody>
      </p:sp>
      <p:sp>
        <p:nvSpPr>
          <p:cNvPr id="15" name="Shape 12"/>
          <p:cNvSpPr/>
          <p:nvPr/>
        </p:nvSpPr>
        <p:spPr>
          <a:xfrm>
            <a:off x="8961120" y="1965960"/>
            <a:ext cx="2651760" cy="1234440"/>
          </a:xfrm>
          <a:prstGeom prst="roundRect">
            <a:avLst>
              <a:gd name="adj" fmla="val 5926"/>
            </a:avLst>
          </a:prstGeom>
          <a:solidFill>
            <a:srgbClr val="F5F5F5"/>
          </a:solidFill>
          <a:ln w="15875">
            <a:solidFill>
              <a:srgbClr val="EB1000"/>
            </a:solidFill>
            <a:prstDash val="solid"/>
          </a:ln>
        </p:spPr>
      </p:sp>
      <p:sp>
        <p:nvSpPr>
          <p:cNvPr id="16" name="Text 13"/>
          <p:cNvSpPr/>
          <p:nvPr/>
        </p:nvSpPr>
        <p:spPr>
          <a:xfrm>
            <a:off x="9052560" y="1965960"/>
            <a:ext cx="2468880" cy="1234440"/>
          </a:xfrm>
          <a:prstGeom prst="rect">
            <a:avLst/>
          </a:prstGeom>
          <a:noFill/>
          <a:ln/>
        </p:spPr>
        <p:txBody>
          <a:bodyPr wrap="square" rtlCol="0" anchor="ctr"/>
          <a:lstStyle/>
          <a:p>
            <a:pPr algn="ctr" indent="0" marL="0">
              <a:buNone/>
            </a:pPr>
            <a:r>
              <a:rPr lang="en-US" sz="1300" b="1" dirty="0">
                <a:solidFill>
                  <a:srgbClr val="2C2C2C"/>
                </a:solidFill>
                <a:latin typeface="Arial" pitchFamily="34" charset="0"/>
                <a:ea typeface="Arial" pitchFamily="34" charset="-122"/>
                <a:cs typeface="Arial" pitchFamily="34" charset="-120"/>
              </a:rPr>
              <a:t>4. Time-limited promotion</a:t>
            </a:r>
            <a:endParaRPr lang="en-US" sz="1300" dirty="0"/>
          </a:p>
          <a:p>
            <a:pPr algn="ctr" indent="0" marL="0">
              <a:buNone/>
            </a:pPr>
            <a:r>
              <a:rPr lang="en-US" sz="1300" dirty="0">
                <a:solidFill>
                  <a:srgbClr val="6E6E6E"/>
                </a:solidFill>
                <a:latin typeface="Arial" pitchFamily="34" charset="0"/>
                <a:ea typeface="Arial" pitchFamily="34" charset="-122"/>
                <a:cs typeface="Arial" pitchFamily="34" charset="-120"/>
              </a:rPr>
              <a:t>Go live, then come down</a:t>
            </a:r>
            <a:endParaRPr lang="en-US" sz="1300" dirty="0"/>
          </a:p>
        </p:txBody>
      </p:sp>
      <p:sp>
        <p:nvSpPr>
          <p:cNvPr id="17" name="Text 14"/>
          <p:cNvSpPr/>
          <p:nvPr/>
        </p:nvSpPr>
        <p:spPr>
          <a:xfrm>
            <a:off x="457200" y="3218688"/>
            <a:ext cx="11247120" cy="228600"/>
          </a:xfrm>
          <a:prstGeom prst="rect">
            <a:avLst/>
          </a:prstGeom>
          <a:noFill/>
          <a:ln/>
        </p:spPr>
        <p:txBody>
          <a:bodyPr wrap="square" rtlCol="0" anchor="ctr"/>
          <a:lstStyle/>
          <a:p>
            <a:pPr indent="0" marL="0">
              <a:buNone/>
            </a:pPr>
            <a:r>
              <a:rPr lang="en-US" sz="900" i="1" dirty="0">
                <a:solidFill>
                  <a:srgbClr val="6E6E6E"/>
                </a:solidFill>
                <a:latin typeface="Arial" pitchFamily="34" charset="0"/>
                <a:ea typeface="Arial" pitchFamily="34" charset="-122"/>
                <a:cs typeface="Arial" pitchFamily="34" charset="-120"/>
              </a:rPr>
              <a:t>Illustrative scenarios</a:t>
            </a:r>
            <a:endParaRPr lang="en-US" sz="9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3520440"/>
          <a:ext cx="11247120" cy="914400"/>
        </p:xfrm>
        <a:graphic>
          <a:graphicData uri="http://schemas.openxmlformats.org/drawingml/2006/table">
            <a:tbl>
              <a:tblPr/>
              <a:tblGrid>
                <a:gridCol w="3291840"/>
                <a:gridCol w="5120640"/>
                <a:gridCol w="283464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Marketer requirement</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How it is covered</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Evidence</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r>
              <a:tr h="0">
                <a:tc>
                  <a:txBody>
                    <a:bodyPr/>
                    <a:lstStyle/>
                    <a:p>
                      <a:pPr indent="0" marL="0">
                        <a:buNone/>
                      </a:pPr>
                      <a:r>
                        <a:rPr lang="en-US" sz="1200" dirty="0">
                          <a:solidFill>
                            <a:srgbClr val="2C2C2C"/>
                          </a:solidFill>
                          <a:latin typeface="Arial" pitchFamily="34" charset="0"/>
                          <a:ea typeface="Arial" pitchFamily="34" charset="-122"/>
                          <a:cs typeface="Arial" pitchFamily="34" charset="-120"/>
                        </a:rPr>
                        <a:t>Pick a date and time in the UI</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2C2C2C"/>
                          </a:solidFill>
                          <a:latin typeface="Arial" pitchFamily="34" charset="0"/>
                          <a:ea typeface="Arial" pitchFamily="34" charset="-122"/>
                          <a:cs typeface="Arial" pitchFamily="34" charset="-120"/>
                        </a:rPr>
                        <a:t>Editor Schedule Publish</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b="1" dirty="0">
                          <a:solidFill>
                            <a:srgbClr val="2D9D78"/>
                          </a:solidFill>
                          <a:latin typeface="Arial" pitchFamily="34" charset="0"/>
                          <a:ea typeface="Arial" pitchFamily="34" charset="-122"/>
                          <a:cs typeface="Arial" pitchFamily="34" charset="-120"/>
                        </a:rPr>
                        <a:t>Tested (M5)</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1200" dirty="0">
                          <a:solidFill>
                            <a:srgbClr val="2C2C2C"/>
                          </a:solidFill>
                          <a:latin typeface="Arial" pitchFamily="34" charset="0"/>
                          <a:ea typeface="Arial" pitchFamily="34" charset="-122"/>
                          <a:cs typeface="Arial" pitchFamily="34" charset="-120"/>
                        </a:rPr>
                        <a:t>Change or cancel the plan</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200" dirty="0">
                          <a:solidFill>
                            <a:srgbClr val="2C2C2C"/>
                          </a:solidFill>
                          <a:latin typeface="Arial" pitchFamily="34" charset="0"/>
                          <a:ea typeface="Arial" pitchFamily="34" charset="-122"/>
                          <a:cs typeface="Arial" pitchFamily="34" charset="-120"/>
                        </a:rPr>
                        <a:t>Reschedule in the dialog; Delete in the scheduler list</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200" b="1" dirty="0">
                          <a:solidFill>
                            <a:srgbClr val="2D9D78"/>
                          </a:solidFill>
                          <a:latin typeface="Arial" pitchFamily="34" charset="0"/>
                          <a:ea typeface="Arial" pitchFamily="34" charset="-122"/>
                          <a:cs typeface="Arial" pitchFamily="34" charset="-120"/>
                        </a:rPr>
                        <a:t>Tested (M12, M14)</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r h="0">
                <a:tc>
                  <a:txBody>
                    <a:bodyPr/>
                    <a:lstStyle/>
                    <a:p>
                      <a:pPr indent="0" marL="0">
                        <a:buNone/>
                      </a:pPr>
                      <a:r>
                        <a:rPr lang="en-US" sz="1200" dirty="0">
                          <a:solidFill>
                            <a:srgbClr val="2C2C2C"/>
                          </a:solidFill>
                          <a:latin typeface="Arial" pitchFamily="34" charset="0"/>
                          <a:ea typeface="Arial" pitchFamily="34" charset="-122"/>
                          <a:cs typeface="Arial" pitchFamily="34" charset="-120"/>
                        </a:rPr>
                        <a:t>Many pages at once</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2C2C2C"/>
                          </a:solidFill>
                          <a:latin typeface="Arial" pitchFamily="34" charset="0"/>
                          <a:ea typeface="Arial" pitchFamily="34" charset="-122"/>
                          <a:cs typeface="Arial" pitchFamily="34" charset="-120"/>
                        </a:rPr>
                        <a:t>Schedule sheet multi-command row (via Ema); Snapshots</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b="1" dirty="0">
                          <a:solidFill>
                            <a:srgbClr val="2D9D78"/>
                          </a:solidFill>
                          <a:latin typeface="Arial" pitchFamily="34" charset="0"/>
                          <a:ea typeface="Arial" pitchFamily="34" charset="-122"/>
                          <a:cs typeface="Arial" pitchFamily="34" charset="-120"/>
                        </a:rPr>
                        <a:t>Tested (T4) · Snapshots documented</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1200" dirty="0">
                          <a:solidFill>
                            <a:srgbClr val="2C2C2C"/>
                          </a:solidFill>
                          <a:latin typeface="Arial" pitchFamily="34" charset="0"/>
                          <a:ea typeface="Arial" pitchFamily="34" charset="-122"/>
                          <a:cs typeface="Arial" pitchFamily="34" charset="-120"/>
                        </a:rPr>
                        <a:t>Take content down on time</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200" dirty="0">
                          <a:solidFill>
                            <a:srgbClr val="2C2C2C"/>
                          </a:solidFill>
                          <a:latin typeface="Arial" pitchFamily="34" charset="0"/>
                          <a:ea typeface="Arial" pitchFamily="34" charset="-122"/>
                          <a:cs typeface="Arial" pitchFamily="34" charset="-120"/>
                        </a:rPr>
                        <a:t>Schedule sheet "unpublish" command (via Ema)</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200" b="1" dirty="0">
                          <a:solidFill>
                            <a:srgbClr val="2D9D78"/>
                          </a:solidFill>
                          <a:latin typeface="Arial" pitchFamily="34" charset="0"/>
                          <a:ea typeface="Arial" pitchFamily="34" charset="-122"/>
                          <a:cs typeface="Arial" pitchFamily="34" charset="-120"/>
                        </a:rPr>
                        <a:t>Tested (T5)</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r h="0">
                <a:tc>
                  <a:txBody>
                    <a:bodyPr/>
                    <a:lstStyle/>
                    <a:p>
                      <a:pPr indent="0" marL="0">
                        <a:buNone/>
                      </a:pPr>
                      <a:r>
                        <a:rPr lang="en-US" sz="1200" dirty="0">
                          <a:solidFill>
                            <a:srgbClr val="2C2C2C"/>
                          </a:solidFill>
                          <a:latin typeface="Arial" pitchFamily="34" charset="0"/>
                          <a:ea typeface="Arial" pitchFamily="34" charset="-122"/>
                          <a:cs typeface="Arial" pitchFamily="34" charset="-120"/>
                        </a:rPr>
                        <a:t>Proof that it happened</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2C2C2C"/>
                          </a:solidFill>
                          <a:latin typeface="Arial" pitchFamily="34" charset="0"/>
                          <a:ea typeface="Arial" pitchFamily="34" charset="-122"/>
                          <a:cs typeface="Arial" pitchFamily="34" charset="-120"/>
                        </a:rPr>
                        <a:t>Admin audit log + page status</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b="1" dirty="0">
                          <a:solidFill>
                            <a:srgbClr val="2D9D78"/>
                          </a:solidFill>
                          <a:latin typeface="Arial" pitchFamily="34" charset="0"/>
                          <a:ea typeface="Arial" pitchFamily="34" charset="-122"/>
                          <a:cs typeface="Arial" pitchFamily="34" charset="-120"/>
                        </a:rPr>
                        <a:t>Tested (M8, T1–T5)</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Adobe">    </p:cNvPr>
          <p:cNvPicPr>
            <a:picLocks noChangeAspect="1"/>
          </p:cNvPicPr>
          <p:nvPr/>
        </p:nvPicPr>
        <p:blipFill>
          <a:blip r:embed="rId1"/>
          <a:stretch>
            <a:fillRect/>
          </a:stretch>
        </p:blipFill>
        <p:spPr>
          <a:xfrm>
            <a:off x="10588752" y="292608"/>
            <a:ext cx="1133856" cy="274320"/>
          </a:xfrm>
          <a:prstGeom prst="rect">
            <a:avLst/>
          </a:prstGeom>
        </p:spPr>
      </p:pic>
      <p:sp>
        <p:nvSpPr>
          <p:cNvPr id="3" name="Text 0"/>
          <p:cNvSpPr/>
          <p:nvPr/>
        </p:nvSpPr>
        <p:spPr>
          <a:xfrm>
            <a:off x="457200" y="274320"/>
            <a:ext cx="9144000" cy="274320"/>
          </a:xfrm>
          <a:prstGeom prst="rect">
            <a:avLst/>
          </a:prstGeom>
          <a:noFill/>
          <a:ln/>
        </p:spPr>
        <p:txBody>
          <a:bodyPr wrap="square" rtlCol="0" anchor="ctr"/>
          <a:lstStyle/>
          <a:p>
            <a:pPr indent="0" marL="0">
              <a:buNone/>
            </a:pPr>
            <a:r>
              <a:rPr lang="en-US" sz="1100" b="1" spc="100" kern="0" dirty="0">
                <a:solidFill>
                  <a:srgbClr val="EB1000"/>
                </a:solidFill>
                <a:latin typeface="Arial" pitchFamily="34" charset="0"/>
                <a:ea typeface="Arial" pitchFamily="34" charset="-122"/>
                <a:cs typeface="Arial" pitchFamily="34" charset="-120"/>
              </a:rPr>
              <a:t>3 · MANUAL SCHEDULED PUBLISHING</a:t>
            </a:r>
            <a:endParaRPr lang="en-US" sz="1100" dirty="0"/>
          </a:p>
        </p:txBody>
      </p:sp>
      <p:sp>
        <p:nvSpPr>
          <p:cNvPr id="4" name="Text 1"/>
          <p:cNvSpPr/>
          <p:nvPr/>
        </p:nvSpPr>
        <p:spPr>
          <a:xfrm>
            <a:off x="457200" y="566928"/>
            <a:ext cx="10241280" cy="640080"/>
          </a:xfrm>
          <a:prstGeom prst="rect">
            <a:avLst/>
          </a:prstGeom>
          <a:noFill/>
          <a:ln/>
        </p:spPr>
        <p:txBody>
          <a:bodyPr wrap="square" rtlCol="0" anchor="ctr"/>
          <a:lstStyle/>
          <a:p>
            <a:pPr indent="0" marL="0">
              <a:buNone/>
            </a:pPr>
            <a:r>
              <a:rPr lang="en-US" sz="2600" b="1" dirty="0">
                <a:solidFill>
                  <a:srgbClr val="2C2C2C"/>
                </a:solidFill>
                <a:latin typeface="Arial" pitchFamily="34" charset="0"/>
                <a:ea typeface="Arial" pitchFamily="34" charset="-122"/>
                <a:cs typeface="Arial" pitchFamily="34" charset="-120"/>
              </a:rPr>
              <a:t>Setup: two switches to enable Schedule Publish</a:t>
            </a:r>
            <a:endParaRPr lang="en-US" sz="2600" dirty="0"/>
          </a:p>
        </p:txBody>
      </p:sp>
      <p:sp>
        <p:nvSpPr>
          <p:cNvPr id="5" name="Shape 2"/>
          <p:cNvSpPr/>
          <p:nvPr/>
        </p:nvSpPr>
        <p:spPr>
          <a:xfrm>
            <a:off x="457200" y="1243584"/>
            <a:ext cx="1097280" cy="54864"/>
          </a:xfrm>
          <a:prstGeom prst="rect">
            <a:avLst/>
          </a:prstGeom>
          <a:solidFill>
            <a:srgbClr val="EB1000"/>
          </a:solidFill>
          <a:ln w="12700">
            <a:solidFill>
              <a:srgbClr val="EB1000"/>
            </a:solidFill>
            <a:prstDash val="solid"/>
          </a:ln>
        </p:spPr>
      </p:sp>
      <p:sp>
        <p:nvSpPr>
          <p:cNvPr id="6" name="Text 3"/>
          <p:cNvSpPr/>
          <p:nvPr/>
        </p:nvSpPr>
        <p:spPr>
          <a:xfrm>
            <a:off x="457200" y="6446520"/>
            <a:ext cx="7315200" cy="274320"/>
          </a:xfrm>
          <a:prstGeom prst="rect">
            <a:avLst/>
          </a:prstGeom>
          <a:noFill/>
          <a:ln/>
        </p:spPr>
        <p:txBody>
          <a:bodyPr wrap="square" rtlCol="0" anchor="ctr"/>
          <a:lstStyle/>
          <a:p>
            <a:pPr indent="0" marL="0">
              <a:buNone/>
            </a:pPr>
            <a:r>
              <a:rPr lang="en-US" sz="900" dirty="0">
                <a:solidFill>
                  <a:srgbClr val="6E6E6E"/>
                </a:solidFill>
                <a:latin typeface="Arial" pitchFamily="34" charset="0"/>
                <a:ea typeface="Arial" pitchFamily="34" charset="-122"/>
                <a:cs typeface="Arial" pitchFamily="34" charset="-120"/>
              </a:rPr>
              <a:t>© 2026 Adobe. All Rights Reserved. Adobe Confidential.</a:t>
            </a:r>
            <a:endParaRPr lang="en-US" sz="900" dirty="0"/>
          </a:p>
        </p:txBody>
      </p:sp>
      <p:sp>
        <p:nvSpPr>
          <p:cNvPr id="7" name="Text 4"/>
          <p:cNvSpPr/>
          <p:nvPr/>
        </p:nvSpPr>
        <p:spPr>
          <a:xfrm>
            <a:off x="11274552" y="6446520"/>
            <a:ext cx="457200" cy="274320"/>
          </a:xfrm>
          <a:prstGeom prst="rect">
            <a:avLst/>
          </a:prstGeom>
          <a:noFill/>
          <a:ln/>
        </p:spPr>
        <p:txBody>
          <a:bodyPr wrap="square" rtlCol="0" anchor="ctr"/>
          <a:lstStyle/>
          <a:p>
            <a:pPr algn="r" indent="0" marL="0">
              <a:buNone/>
            </a:pPr>
            <a:r>
              <a:rPr lang="en-US" sz="900" dirty="0">
                <a:solidFill>
                  <a:srgbClr val="6E6E6E"/>
                </a:solidFill>
                <a:latin typeface="Arial" pitchFamily="34" charset="0"/>
                <a:ea typeface="Arial" pitchFamily="34" charset="-122"/>
                <a:cs typeface="Arial" pitchFamily="34" charset="-120"/>
              </a:rPr>
              <a:t>4</a:t>
            </a:r>
            <a:endParaRPr lang="en-US" sz="900" dirty="0"/>
          </a:p>
        </p:txBody>
      </p:sp>
      <p:sp>
        <p:nvSpPr>
          <p:cNvPr id="8" name="Text 5"/>
          <p:cNvSpPr/>
          <p:nvPr/>
        </p:nvSpPr>
        <p:spPr>
          <a:xfrm>
            <a:off x="457200" y="1463040"/>
            <a:ext cx="5120640" cy="4754880"/>
          </a:xfrm>
          <a:prstGeom prst="rect">
            <a:avLst/>
          </a:prstGeom>
          <a:noFill/>
          <a:ln/>
        </p:spPr>
        <p:txBody>
          <a:bodyPr wrap="square" rtlCol="0" anchor="t"/>
          <a:lstStyle/>
          <a:p>
            <a:pPr marL="177800" indent="-177800">
              <a:spcAft>
                <a:spcPts val="400"/>
              </a:spcAft>
              <a:buSzPct val="100000"/>
              <a:buChar char="■"/>
            </a:pPr>
            <a:r>
              <a:rPr lang="en-US" sz="1300" b="1" dirty="0">
                <a:solidFill>
                  <a:srgbClr val="2C2C2C"/>
                </a:solidFill>
                <a:latin typeface="Arial" pitchFamily="34" charset="0"/>
                <a:ea typeface="Arial" pitchFamily="34" charset="-122"/>
                <a:cs typeface="Arial" pitchFamily="34" charset="-120"/>
              </a:rPr>
              <a:t>Before: no site config existed, and the menu item was absent</a:t>
            </a:r>
            <a:endParaRPr lang="en-US" sz="1300" dirty="0"/>
          </a:p>
          <a:p>
            <a:pPr lvl="1" marL="457200" indent="-228600">
              <a:spcAft>
                <a:spcPts val="400"/>
              </a:spcAft>
              <a:buSzPct val="100000"/>
              <a:buChar char="•"/>
            </a:pPr>
            <a:r>
              <a:rPr lang="en-US" sz="1300" dirty="0">
                <a:solidFill>
                  <a:srgbClr val="2D9D78"/>
                </a:solidFill>
                <a:latin typeface="Arial" pitchFamily="34" charset="0"/>
                <a:ea typeface="Arial" pitchFamily="34" charset="-122"/>
                <a:cs typeface="Arial" pitchFamily="34" charset="-120"/>
              </a:rPr>
              <a:t>Tested M0, 22 Oct</a:t>
            </a:r>
            <a:endParaRPr lang="en-US" sz="1300" dirty="0"/>
          </a:p>
          <a:p>
            <a:pPr marL="177800" indent="-177800">
              <a:spcAft>
                <a:spcPts val="400"/>
              </a:spcAft>
              <a:buSzPct val="100000"/>
              <a:buChar char="■"/>
            </a:pPr>
            <a:r>
              <a:rPr lang="en-US" sz="1300" b="1" dirty="0">
                <a:solidFill>
                  <a:srgbClr val="2C2C2C"/>
                </a:solidFill>
                <a:latin typeface="Arial" pitchFamily="34" charset="0"/>
                <a:ea typeface="Arial" pitchFamily="34" charset="-122"/>
                <a:cs typeface="Arial" pitchFamily="34" charset="-120"/>
              </a:rPr>
              <a:t>Switch 1: site config → "prepare" tab → row title = Schedule Publish</a:t>
            </a:r>
            <a:endParaRPr lang="en-US" sz="1300" dirty="0"/>
          </a:p>
          <a:p>
            <a:pPr lvl="1" marL="457200" indent="-228600">
              <a:spcAft>
                <a:spcPts val="400"/>
              </a:spcAft>
              <a:buSzPct val="100000"/>
              <a:buChar char="•"/>
            </a:pPr>
            <a:r>
              <a:rPr lang="en-US" sz="1300" dirty="0">
                <a:solidFill>
                  <a:srgbClr val="2D9D78"/>
                </a:solidFill>
                <a:latin typeface="Arial" pitchFamily="34" charset="0"/>
                <a:ea typeface="Arial" pitchFamily="34" charset="-122"/>
                <a:cs typeface="Arial" pitchFamily="34" charset="-120"/>
              </a:rPr>
              <a:t>path, icon and ref left empty (Adobe-provided plugin). Tested M1</a:t>
            </a:r>
            <a:endParaRPr lang="en-US" sz="1300" dirty="0"/>
          </a:p>
          <a:p>
            <a:pPr marL="177800" indent="-177800">
              <a:spcAft>
                <a:spcPts val="400"/>
              </a:spcAft>
              <a:buSzPct val="100000"/>
              <a:buChar char="■"/>
            </a:pPr>
            <a:r>
              <a:rPr lang="en-US" sz="1300" b="1" dirty="0">
                <a:solidFill>
                  <a:srgbClr val="2C2C2C"/>
                </a:solidFill>
                <a:latin typeface="Arial" pitchFamily="34" charset="0"/>
                <a:ea typeface="Arial" pitchFamily="34" charset="-122"/>
                <a:cs typeface="Arial" pitchFamily="34" charset="-120"/>
              </a:rPr>
              <a:t>Switch 2: da.live/apps/scheduler → /araji-adobe/bv-poc-wknd-aln/ → Register site</a:t>
            </a:r>
            <a:endParaRPr lang="en-US" sz="1300" dirty="0"/>
          </a:p>
          <a:p>
            <a:pPr lvl="1" marL="457200" indent="-228600">
              <a:spcAft>
                <a:spcPts val="400"/>
              </a:spcAft>
              <a:buSzPct val="100000"/>
              <a:buChar char="•"/>
            </a:pPr>
            <a:r>
              <a:rPr lang="en-US" sz="1300" dirty="0">
                <a:solidFill>
                  <a:srgbClr val="2D9D78"/>
                </a:solidFill>
                <a:latin typeface="Arial" pitchFamily="34" charset="0"/>
                <a:ea typeface="Arial" pitchFamily="34" charset="-122"/>
                <a:cs typeface="Arial" pitchFamily="34" charset="-120"/>
              </a:rPr>
              <a:t>No "success" message; the empty queue appears. The audit log shows an admin API key created. Tested M2b</a:t>
            </a:r>
            <a:endParaRPr lang="en-US" sz="1300" dirty="0"/>
          </a:p>
          <a:p>
            <a:pPr marL="177800" indent="-177800">
              <a:spcAft>
                <a:spcPts val="400"/>
              </a:spcAft>
              <a:buSzPct val="100000"/>
              <a:buChar char="■"/>
            </a:pPr>
            <a:r>
              <a:rPr lang="en-US" sz="1300" b="1" dirty="0">
                <a:solidFill>
                  <a:srgbClr val="2C2C2C"/>
                </a:solidFill>
                <a:latin typeface="Arial" pitchFamily="34" charset="0"/>
                <a:ea typeface="Arial" pitchFamily="34" charset="-122"/>
                <a:cs typeface="Arial" pitchFamily="34" charset="-120"/>
              </a:rPr>
              <a:t>Reference (link, not duplicated):</a:t>
            </a:r>
            <a:endParaRPr lang="en-US" sz="1300" dirty="0"/>
          </a:p>
          <a:p>
            <a:pPr lvl="1" marL="457200" indent="-228600">
              <a:spcAft>
                <a:spcPts val="400"/>
              </a:spcAft>
              <a:buSzPct val="100000"/>
              <a:buChar char="•"/>
            </a:pPr>
            <a:r>
              <a:rPr lang="en-US" sz="1300" dirty="0">
                <a:solidFill>
                  <a:srgbClr val="1473E6"/>
                </a:solidFill>
                <a:latin typeface="Arial" pitchFamily="34" charset="0"/>
                <a:ea typeface="Arial" pitchFamily="34" charset="-122"/>
                <a:cs typeface="Arial" pitchFamily="34" charset="-120"/>
              </a:rPr>
              <a:t>aem.live/docs/ew/administering/schedule-publish</a:t>
            </a:r>
            <a:endParaRPr lang="en-US" sz="1300" dirty="0"/>
          </a:p>
          <a:p>
            <a:pPr lvl="1" marL="457200" indent="-228600">
              <a:spcAft>
                <a:spcPts val="400"/>
              </a:spcAft>
              <a:buSzPct val="100000"/>
              <a:buChar char="•"/>
            </a:pPr>
            <a:r>
              <a:rPr lang="en-US" sz="1300" dirty="0">
                <a:solidFill>
                  <a:srgbClr val="1473E6"/>
                </a:solidFill>
                <a:latin typeface="Arial" pitchFamily="34" charset="0"/>
                <a:ea typeface="Arial" pitchFamily="34" charset="-122"/>
                <a:cs typeface="Arial" pitchFamily="34" charset="-120"/>
              </a:rPr>
              <a:t>demo.bbird.live/demo-docs/usecases/how-to-schedule-publish</a:t>
            </a:r>
            <a:endParaRPr lang="en-US" sz="1300" dirty="0"/>
          </a:p>
        </p:txBody>
      </p:sp>
      <p:pic>
        <p:nvPicPr>
          <p:cNvPr id="9" name="Image 1" descr="Figure 1: Site config before setup (empty)">    </p:cNvPr>
          <p:cNvPicPr>
            <a:picLocks noChangeAspect="1"/>
          </p:cNvPicPr>
          <p:nvPr/>
        </p:nvPicPr>
        <p:blipFill>
          <a:blip r:embed="rId2"/>
          <a:stretch>
            <a:fillRect/>
          </a:stretch>
        </p:blipFill>
        <p:spPr>
          <a:xfrm>
            <a:off x="6518766" y="1417320"/>
            <a:ext cx="1364269" cy="1920240"/>
          </a:xfrm>
          <a:prstGeom prst="rect">
            <a:avLst/>
          </a:prstGeom>
        </p:spPr>
      </p:pic>
      <p:sp>
        <p:nvSpPr>
          <p:cNvPr id="10" name="Shape 6"/>
          <p:cNvSpPr/>
          <p:nvPr/>
        </p:nvSpPr>
        <p:spPr>
          <a:xfrm>
            <a:off x="6518766" y="1417320"/>
            <a:ext cx="1364269" cy="1920240"/>
          </a:xfrm>
          <a:prstGeom prst="rect">
            <a:avLst/>
          </a:prstGeom>
          <a:ln w="9525">
            <a:solidFill>
              <a:srgbClr val="D9D9D9"/>
            </a:solidFill>
            <a:prstDash val="solid"/>
          </a:ln>
        </p:spPr>
      </p:sp>
      <p:sp>
        <p:nvSpPr>
          <p:cNvPr id="11" name="Text 7"/>
          <p:cNvSpPr/>
          <p:nvPr/>
        </p:nvSpPr>
        <p:spPr>
          <a:xfrm>
            <a:off x="5760720" y="3364992"/>
            <a:ext cx="2880360" cy="256032"/>
          </a:xfrm>
          <a:prstGeom prst="rect">
            <a:avLst/>
          </a:prstGeom>
          <a:noFill/>
          <a:ln/>
        </p:spPr>
        <p:txBody>
          <a:bodyPr wrap="square" rtlCol="0" anchor="ctr"/>
          <a:lstStyle/>
          <a:p>
            <a:pPr algn="ctr" indent="0" marL="0">
              <a:buNone/>
            </a:pPr>
            <a:r>
              <a:rPr lang="en-US" sz="900" i="1" dirty="0">
                <a:solidFill>
                  <a:srgbClr val="6E6E6E"/>
                </a:solidFill>
                <a:latin typeface="Arial" pitchFamily="34" charset="0"/>
                <a:ea typeface="Arial" pitchFamily="34" charset="-122"/>
                <a:cs typeface="Arial" pitchFamily="34" charset="-120"/>
              </a:rPr>
              <a:t>Figure 1: Site config before setup (empty)</a:t>
            </a:r>
            <a:endParaRPr lang="en-US" sz="900" dirty="0"/>
          </a:p>
        </p:txBody>
      </p:sp>
      <p:pic>
        <p:nvPicPr>
          <p:cNvPr id="12" name="Image 2" descr="Figure 2: Switch 1: &quot;prepare&quot; row added">    </p:cNvPr>
          <p:cNvPicPr>
            <a:picLocks noChangeAspect="1"/>
          </p:cNvPicPr>
          <p:nvPr/>
        </p:nvPicPr>
        <p:blipFill>
          <a:blip r:embed="rId3"/>
          <a:stretch>
            <a:fillRect/>
          </a:stretch>
        </p:blipFill>
        <p:spPr>
          <a:xfrm>
            <a:off x="9067870" y="1417320"/>
            <a:ext cx="2483980" cy="1920240"/>
          </a:xfrm>
          <a:prstGeom prst="rect">
            <a:avLst/>
          </a:prstGeom>
        </p:spPr>
      </p:pic>
      <p:sp>
        <p:nvSpPr>
          <p:cNvPr id="13" name="Shape 8"/>
          <p:cNvSpPr/>
          <p:nvPr/>
        </p:nvSpPr>
        <p:spPr>
          <a:xfrm>
            <a:off x="9067870" y="1417320"/>
            <a:ext cx="2483980" cy="1920240"/>
          </a:xfrm>
          <a:prstGeom prst="rect">
            <a:avLst/>
          </a:prstGeom>
          <a:ln w="9525">
            <a:solidFill>
              <a:srgbClr val="D9D9D9"/>
            </a:solidFill>
            <a:prstDash val="solid"/>
          </a:ln>
        </p:spPr>
      </p:sp>
      <p:sp>
        <p:nvSpPr>
          <p:cNvPr id="14" name="Text 9"/>
          <p:cNvSpPr/>
          <p:nvPr/>
        </p:nvSpPr>
        <p:spPr>
          <a:xfrm>
            <a:off x="8869680" y="3364992"/>
            <a:ext cx="2880360" cy="256032"/>
          </a:xfrm>
          <a:prstGeom prst="rect">
            <a:avLst/>
          </a:prstGeom>
          <a:noFill/>
          <a:ln/>
        </p:spPr>
        <p:txBody>
          <a:bodyPr wrap="square" rtlCol="0" anchor="ctr"/>
          <a:lstStyle/>
          <a:p>
            <a:pPr algn="ctr" indent="0" marL="0">
              <a:buNone/>
            </a:pPr>
            <a:r>
              <a:rPr lang="en-US" sz="900" i="1" dirty="0">
                <a:solidFill>
                  <a:srgbClr val="6E6E6E"/>
                </a:solidFill>
                <a:latin typeface="Arial" pitchFamily="34" charset="0"/>
                <a:ea typeface="Arial" pitchFamily="34" charset="-122"/>
                <a:cs typeface="Arial" pitchFamily="34" charset="-120"/>
              </a:rPr>
              <a:t>Figure 2: Switch 1: "prepare" row added</a:t>
            </a:r>
            <a:endParaRPr lang="en-US" sz="900" dirty="0"/>
          </a:p>
        </p:txBody>
      </p:sp>
      <p:pic>
        <p:nvPicPr>
          <p:cNvPr id="15" name="Image 3" descr="Figure 3: Scheduler app: site not registered">    </p:cNvPr>
          <p:cNvPicPr>
            <a:picLocks noChangeAspect="1"/>
          </p:cNvPicPr>
          <p:nvPr/>
        </p:nvPicPr>
        <p:blipFill>
          <a:blip r:embed="rId4"/>
          <a:stretch>
            <a:fillRect/>
          </a:stretch>
        </p:blipFill>
        <p:spPr>
          <a:xfrm>
            <a:off x="5760720" y="3703320"/>
            <a:ext cx="2880360" cy="1529422"/>
          </a:xfrm>
          <a:prstGeom prst="rect">
            <a:avLst/>
          </a:prstGeom>
        </p:spPr>
      </p:pic>
      <p:sp>
        <p:nvSpPr>
          <p:cNvPr id="16" name="Shape 10"/>
          <p:cNvSpPr/>
          <p:nvPr/>
        </p:nvSpPr>
        <p:spPr>
          <a:xfrm>
            <a:off x="5760720" y="3703320"/>
            <a:ext cx="2880360" cy="1529422"/>
          </a:xfrm>
          <a:prstGeom prst="rect">
            <a:avLst/>
          </a:prstGeom>
          <a:ln w="9525">
            <a:solidFill>
              <a:srgbClr val="D9D9D9"/>
            </a:solidFill>
            <a:prstDash val="solid"/>
          </a:ln>
        </p:spPr>
      </p:sp>
      <p:sp>
        <p:nvSpPr>
          <p:cNvPr id="17" name="Text 11"/>
          <p:cNvSpPr/>
          <p:nvPr/>
        </p:nvSpPr>
        <p:spPr>
          <a:xfrm>
            <a:off x="5760720" y="5260174"/>
            <a:ext cx="2880360" cy="256032"/>
          </a:xfrm>
          <a:prstGeom prst="rect">
            <a:avLst/>
          </a:prstGeom>
          <a:noFill/>
          <a:ln/>
        </p:spPr>
        <p:txBody>
          <a:bodyPr wrap="square" rtlCol="0" anchor="ctr"/>
          <a:lstStyle/>
          <a:p>
            <a:pPr algn="ctr" indent="0" marL="0">
              <a:buNone/>
            </a:pPr>
            <a:r>
              <a:rPr lang="en-US" sz="900" i="1" dirty="0">
                <a:solidFill>
                  <a:srgbClr val="6E6E6E"/>
                </a:solidFill>
                <a:latin typeface="Arial" pitchFamily="34" charset="0"/>
                <a:ea typeface="Arial" pitchFamily="34" charset="-122"/>
                <a:cs typeface="Arial" pitchFamily="34" charset="-120"/>
              </a:rPr>
              <a:t>Figure 3: Scheduler app: site not registered</a:t>
            </a:r>
            <a:endParaRPr lang="en-US" sz="900" dirty="0"/>
          </a:p>
        </p:txBody>
      </p:sp>
      <p:pic>
        <p:nvPicPr>
          <p:cNvPr id="18" name="Image 4" descr="Figure 4: Switch 2: site registered (empty queue)">    </p:cNvPr>
          <p:cNvPicPr>
            <a:picLocks noChangeAspect="1"/>
          </p:cNvPicPr>
          <p:nvPr/>
        </p:nvPicPr>
        <p:blipFill>
          <a:blip r:embed="rId5"/>
          <a:stretch>
            <a:fillRect/>
          </a:stretch>
        </p:blipFill>
        <p:spPr>
          <a:xfrm>
            <a:off x="9377740" y="3703320"/>
            <a:ext cx="1864239" cy="1920240"/>
          </a:xfrm>
          <a:prstGeom prst="rect">
            <a:avLst/>
          </a:prstGeom>
        </p:spPr>
      </p:pic>
      <p:sp>
        <p:nvSpPr>
          <p:cNvPr id="19" name="Shape 12"/>
          <p:cNvSpPr/>
          <p:nvPr/>
        </p:nvSpPr>
        <p:spPr>
          <a:xfrm>
            <a:off x="9377740" y="3703320"/>
            <a:ext cx="1864239" cy="1920240"/>
          </a:xfrm>
          <a:prstGeom prst="rect">
            <a:avLst/>
          </a:prstGeom>
          <a:ln w="9525">
            <a:solidFill>
              <a:srgbClr val="D9D9D9"/>
            </a:solidFill>
            <a:prstDash val="solid"/>
          </a:ln>
        </p:spPr>
      </p:sp>
      <p:sp>
        <p:nvSpPr>
          <p:cNvPr id="20" name="Text 13"/>
          <p:cNvSpPr/>
          <p:nvPr/>
        </p:nvSpPr>
        <p:spPr>
          <a:xfrm>
            <a:off x="8869680" y="5650992"/>
            <a:ext cx="2880360" cy="256032"/>
          </a:xfrm>
          <a:prstGeom prst="rect">
            <a:avLst/>
          </a:prstGeom>
          <a:noFill/>
          <a:ln/>
        </p:spPr>
        <p:txBody>
          <a:bodyPr wrap="square" rtlCol="0" anchor="ctr"/>
          <a:lstStyle/>
          <a:p>
            <a:pPr algn="ctr" indent="0" marL="0">
              <a:buNone/>
            </a:pPr>
            <a:r>
              <a:rPr lang="en-US" sz="900" i="1" dirty="0">
                <a:solidFill>
                  <a:srgbClr val="6E6E6E"/>
                </a:solidFill>
                <a:latin typeface="Arial" pitchFamily="34" charset="0"/>
                <a:ea typeface="Arial" pitchFamily="34" charset="-122"/>
                <a:cs typeface="Arial" pitchFamily="34" charset="-120"/>
              </a:rPr>
              <a:t>Figure 4: Switch 2: site registered (empty queue)</a:t>
            </a:r>
            <a:endParaRPr lang="en-US" sz="900" dirty="0"/>
          </a:p>
        </p:txBody>
      </p:sp>
      <p:sp>
        <p:nvSpPr>
          <p:cNvPr id="21" name="Text 14"/>
          <p:cNvSpPr/>
          <p:nvPr/>
        </p:nvSpPr>
        <p:spPr>
          <a:xfrm>
            <a:off x="457200" y="6053328"/>
            <a:ext cx="11247120" cy="292608"/>
          </a:xfrm>
          <a:prstGeom prst="rect">
            <a:avLst/>
          </a:prstGeom>
          <a:noFill/>
          <a:ln/>
        </p:spPr>
        <p:txBody>
          <a:bodyPr wrap="square" rtlCol="0" anchor="ctr"/>
          <a:lstStyle/>
          <a:p>
            <a:pPr indent="0" marL="0">
              <a:buNone/>
            </a:pPr>
            <a:r>
              <a:rPr lang="en-US" sz="1100" b="1" dirty="0">
                <a:solidFill>
                  <a:srgbClr val="EB1000"/>
                </a:solidFill>
                <a:latin typeface="Arial" pitchFamily="34" charset="0"/>
                <a:ea typeface="Arial" pitchFamily="34" charset="-122"/>
                <a:cs typeface="Arial" pitchFamily="34" charset="-120"/>
              </a:rPr>
              <a:t>LIVE  </a:t>
            </a:r>
            <a:pPr indent="0" marL="0">
              <a:buNone/>
            </a:pPr>
            <a:r>
              <a:rPr lang="en-US" sz="1100" dirty="0">
                <a:solidFill>
                  <a:srgbClr val="1473E6"/>
                </a:solidFill>
                <a:latin typeface="Arial" pitchFamily="34" charset="0"/>
                <a:ea typeface="Arial" pitchFamily="34" charset="-122"/>
                <a:cs typeface="Arial" pitchFamily="34" charset="-120"/>
              </a:rPr>
              <a:t>https://da.live/config#/araji-adobe/bv-poc-wknd-aln/   ·   https://da.live/apps/scheduler  (enter /araji-adobe/bv-poc-wknd-aln/)</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Adobe">    </p:cNvPr>
          <p:cNvPicPr>
            <a:picLocks noChangeAspect="1"/>
          </p:cNvPicPr>
          <p:nvPr/>
        </p:nvPicPr>
        <p:blipFill>
          <a:blip r:embed="rId1"/>
          <a:stretch>
            <a:fillRect/>
          </a:stretch>
        </p:blipFill>
        <p:spPr>
          <a:xfrm>
            <a:off x="10588752" y="292608"/>
            <a:ext cx="1133856" cy="274320"/>
          </a:xfrm>
          <a:prstGeom prst="rect">
            <a:avLst/>
          </a:prstGeom>
        </p:spPr>
      </p:pic>
      <p:sp>
        <p:nvSpPr>
          <p:cNvPr id="3" name="Text 0"/>
          <p:cNvSpPr/>
          <p:nvPr/>
        </p:nvSpPr>
        <p:spPr>
          <a:xfrm>
            <a:off x="457200" y="274320"/>
            <a:ext cx="9144000" cy="274320"/>
          </a:xfrm>
          <a:prstGeom prst="rect">
            <a:avLst/>
          </a:prstGeom>
          <a:noFill/>
          <a:ln/>
        </p:spPr>
        <p:txBody>
          <a:bodyPr wrap="square" rtlCol="0" anchor="ctr"/>
          <a:lstStyle/>
          <a:p>
            <a:pPr indent="0" marL="0">
              <a:buNone/>
            </a:pPr>
            <a:r>
              <a:rPr lang="en-US" sz="1100" b="1" spc="100" kern="0" dirty="0">
                <a:solidFill>
                  <a:srgbClr val="EB1000"/>
                </a:solidFill>
                <a:latin typeface="Arial" pitchFamily="34" charset="0"/>
                <a:ea typeface="Arial" pitchFamily="34" charset="-122"/>
                <a:cs typeface="Arial" pitchFamily="34" charset="-120"/>
              </a:rPr>
              <a:t>3 · MANUAL SCHEDULED PUBLISHING</a:t>
            </a:r>
            <a:endParaRPr lang="en-US" sz="1100" dirty="0"/>
          </a:p>
        </p:txBody>
      </p:sp>
      <p:sp>
        <p:nvSpPr>
          <p:cNvPr id="4" name="Text 1"/>
          <p:cNvSpPr/>
          <p:nvPr/>
        </p:nvSpPr>
        <p:spPr>
          <a:xfrm>
            <a:off x="457200" y="566928"/>
            <a:ext cx="10241280" cy="640080"/>
          </a:xfrm>
          <a:prstGeom prst="rect">
            <a:avLst/>
          </a:prstGeom>
          <a:noFill/>
          <a:ln/>
        </p:spPr>
        <p:txBody>
          <a:bodyPr wrap="square" rtlCol="0" anchor="ctr"/>
          <a:lstStyle/>
          <a:p>
            <a:pPr indent="0" marL="0">
              <a:buNone/>
            </a:pPr>
            <a:r>
              <a:rPr lang="en-US" sz="2600" b="1" dirty="0">
                <a:solidFill>
                  <a:srgbClr val="2C2C2C"/>
                </a:solidFill>
                <a:latin typeface="Arial" pitchFamily="34" charset="0"/>
                <a:ea typeface="Arial" pitchFamily="34" charset="-122"/>
                <a:cs typeface="Arial" pitchFamily="34" charset="-120"/>
              </a:rPr>
              <a:t>Scheduling a page, and proof of auto-preview</a:t>
            </a:r>
            <a:endParaRPr lang="en-US" sz="2600" dirty="0"/>
          </a:p>
        </p:txBody>
      </p:sp>
      <p:sp>
        <p:nvSpPr>
          <p:cNvPr id="5" name="Shape 2"/>
          <p:cNvSpPr/>
          <p:nvPr/>
        </p:nvSpPr>
        <p:spPr>
          <a:xfrm>
            <a:off x="457200" y="1243584"/>
            <a:ext cx="1097280" cy="54864"/>
          </a:xfrm>
          <a:prstGeom prst="rect">
            <a:avLst/>
          </a:prstGeom>
          <a:solidFill>
            <a:srgbClr val="EB1000"/>
          </a:solidFill>
          <a:ln w="12700">
            <a:solidFill>
              <a:srgbClr val="EB1000"/>
            </a:solidFill>
            <a:prstDash val="solid"/>
          </a:ln>
        </p:spPr>
      </p:sp>
      <p:sp>
        <p:nvSpPr>
          <p:cNvPr id="6" name="Text 3"/>
          <p:cNvSpPr/>
          <p:nvPr/>
        </p:nvSpPr>
        <p:spPr>
          <a:xfrm>
            <a:off x="457200" y="6446520"/>
            <a:ext cx="7315200" cy="274320"/>
          </a:xfrm>
          <a:prstGeom prst="rect">
            <a:avLst/>
          </a:prstGeom>
          <a:noFill/>
          <a:ln/>
        </p:spPr>
        <p:txBody>
          <a:bodyPr wrap="square" rtlCol="0" anchor="ctr"/>
          <a:lstStyle/>
          <a:p>
            <a:pPr indent="0" marL="0">
              <a:buNone/>
            </a:pPr>
            <a:r>
              <a:rPr lang="en-US" sz="900" dirty="0">
                <a:solidFill>
                  <a:srgbClr val="6E6E6E"/>
                </a:solidFill>
                <a:latin typeface="Arial" pitchFamily="34" charset="0"/>
                <a:ea typeface="Arial" pitchFamily="34" charset="-122"/>
                <a:cs typeface="Arial" pitchFamily="34" charset="-120"/>
              </a:rPr>
              <a:t>© 2026 Adobe. All Rights Reserved. Adobe Confidential.</a:t>
            </a:r>
            <a:endParaRPr lang="en-US" sz="900" dirty="0"/>
          </a:p>
        </p:txBody>
      </p:sp>
      <p:sp>
        <p:nvSpPr>
          <p:cNvPr id="7" name="Text 4"/>
          <p:cNvSpPr/>
          <p:nvPr/>
        </p:nvSpPr>
        <p:spPr>
          <a:xfrm>
            <a:off x="11274552" y="6446520"/>
            <a:ext cx="457200" cy="274320"/>
          </a:xfrm>
          <a:prstGeom prst="rect">
            <a:avLst/>
          </a:prstGeom>
          <a:noFill/>
          <a:ln/>
        </p:spPr>
        <p:txBody>
          <a:bodyPr wrap="square" rtlCol="0" anchor="ctr"/>
          <a:lstStyle/>
          <a:p>
            <a:pPr algn="r" indent="0" marL="0">
              <a:buNone/>
            </a:pPr>
            <a:r>
              <a:rPr lang="en-US" sz="900" dirty="0">
                <a:solidFill>
                  <a:srgbClr val="6E6E6E"/>
                </a:solidFill>
                <a:latin typeface="Arial" pitchFamily="34" charset="0"/>
                <a:ea typeface="Arial" pitchFamily="34" charset="-122"/>
                <a:cs typeface="Arial" pitchFamily="34" charset="-120"/>
              </a:rPr>
              <a:t>5</a:t>
            </a:r>
            <a:endParaRPr lang="en-US" sz="900" dirty="0"/>
          </a:p>
        </p:txBody>
      </p:sp>
      <p:sp>
        <p:nvSpPr>
          <p:cNvPr id="8" name="Shape 5"/>
          <p:cNvSpPr/>
          <p:nvPr/>
        </p:nvSpPr>
        <p:spPr>
          <a:xfrm>
            <a:off x="457200" y="1508760"/>
            <a:ext cx="1325880" cy="548640"/>
          </a:xfrm>
          <a:prstGeom prst="roundRect">
            <a:avLst>
              <a:gd name="adj" fmla="val 13333"/>
            </a:avLst>
          </a:prstGeom>
          <a:solidFill>
            <a:srgbClr val="2C2C2C"/>
          </a:solidFill>
          <a:ln w="12700">
            <a:solidFill>
              <a:srgbClr val="2C2C2C"/>
            </a:solidFill>
            <a:prstDash val="solid"/>
          </a:ln>
        </p:spPr>
      </p:sp>
      <p:sp>
        <p:nvSpPr>
          <p:cNvPr id="9" name="Text 6"/>
          <p:cNvSpPr/>
          <p:nvPr/>
        </p:nvSpPr>
        <p:spPr>
          <a:xfrm>
            <a:off x="457200" y="1508760"/>
            <a:ext cx="1325880" cy="548640"/>
          </a:xfrm>
          <a:prstGeom prst="rect">
            <a:avLst/>
          </a:prstGeom>
          <a:noFill/>
          <a:ln/>
        </p:spPr>
        <p:txBody>
          <a:bodyPr wrap="square"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Open page</a:t>
            </a:r>
            <a:endParaRPr lang="en-US" sz="1100" dirty="0"/>
          </a:p>
        </p:txBody>
      </p:sp>
      <p:sp>
        <p:nvSpPr>
          <p:cNvPr id="10" name="Shape 7"/>
          <p:cNvSpPr/>
          <p:nvPr/>
        </p:nvSpPr>
        <p:spPr>
          <a:xfrm>
            <a:off x="1810512" y="1783080"/>
            <a:ext cx="182880" cy="0"/>
          </a:xfrm>
          <a:prstGeom prst="line">
            <a:avLst/>
          </a:prstGeom>
          <a:noFill/>
          <a:ln w="19050">
            <a:solidFill>
              <a:srgbClr val="6E6E6E"/>
            </a:solidFill>
            <a:prstDash val="solid"/>
            <a:tailEnd type="triangle"/>
          </a:ln>
        </p:spPr>
      </p:sp>
      <p:sp>
        <p:nvSpPr>
          <p:cNvPr id="11" name="Shape 8"/>
          <p:cNvSpPr/>
          <p:nvPr/>
        </p:nvSpPr>
        <p:spPr>
          <a:xfrm>
            <a:off x="2011680" y="1508760"/>
            <a:ext cx="1325880" cy="548640"/>
          </a:xfrm>
          <a:prstGeom prst="roundRect">
            <a:avLst>
              <a:gd name="adj" fmla="val 13333"/>
            </a:avLst>
          </a:prstGeom>
          <a:solidFill>
            <a:srgbClr val="2C2C2C"/>
          </a:solidFill>
          <a:ln w="12700">
            <a:solidFill>
              <a:srgbClr val="2C2C2C"/>
            </a:solidFill>
            <a:prstDash val="solid"/>
          </a:ln>
        </p:spPr>
      </p:sp>
      <p:sp>
        <p:nvSpPr>
          <p:cNvPr id="12" name="Text 9"/>
          <p:cNvSpPr/>
          <p:nvPr/>
        </p:nvSpPr>
        <p:spPr>
          <a:xfrm>
            <a:off x="2011680" y="1508760"/>
            <a:ext cx="1325880" cy="548640"/>
          </a:xfrm>
          <a:prstGeom prst="rect">
            <a:avLst/>
          </a:prstGeom>
          <a:noFill/>
          <a:ln/>
        </p:spPr>
        <p:txBody>
          <a:bodyPr wrap="square"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Prepare (icon)</a:t>
            </a:r>
            <a:endParaRPr lang="en-US" sz="1100" dirty="0"/>
          </a:p>
        </p:txBody>
      </p:sp>
      <p:sp>
        <p:nvSpPr>
          <p:cNvPr id="13" name="Shape 10"/>
          <p:cNvSpPr/>
          <p:nvPr/>
        </p:nvSpPr>
        <p:spPr>
          <a:xfrm>
            <a:off x="3364992" y="1783080"/>
            <a:ext cx="182880" cy="0"/>
          </a:xfrm>
          <a:prstGeom prst="line">
            <a:avLst/>
          </a:prstGeom>
          <a:noFill/>
          <a:ln w="19050">
            <a:solidFill>
              <a:srgbClr val="6E6E6E"/>
            </a:solidFill>
            <a:prstDash val="solid"/>
            <a:tailEnd type="triangle"/>
          </a:ln>
        </p:spPr>
      </p:sp>
      <p:sp>
        <p:nvSpPr>
          <p:cNvPr id="14" name="Shape 11"/>
          <p:cNvSpPr/>
          <p:nvPr/>
        </p:nvSpPr>
        <p:spPr>
          <a:xfrm>
            <a:off x="3566160" y="1508760"/>
            <a:ext cx="1325880" cy="548640"/>
          </a:xfrm>
          <a:prstGeom prst="roundRect">
            <a:avLst>
              <a:gd name="adj" fmla="val 13333"/>
            </a:avLst>
          </a:prstGeom>
          <a:solidFill>
            <a:srgbClr val="2C2C2C"/>
          </a:solidFill>
          <a:ln w="12700">
            <a:solidFill>
              <a:srgbClr val="2C2C2C"/>
            </a:solidFill>
            <a:prstDash val="solid"/>
          </a:ln>
        </p:spPr>
      </p:sp>
      <p:sp>
        <p:nvSpPr>
          <p:cNvPr id="15" name="Text 12"/>
          <p:cNvSpPr/>
          <p:nvPr/>
        </p:nvSpPr>
        <p:spPr>
          <a:xfrm>
            <a:off x="3566160" y="1508760"/>
            <a:ext cx="1325880" cy="548640"/>
          </a:xfrm>
          <a:prstGeom prst="rect">
            <a:avLst/>
          </a:prstGeom>
          <a:noFill/>
          <a:ln/>
        </p:spPr>
        <p:txBody>
          <a:bodyPr wrap="square"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Schedule Publish</a:t>
            </a:r>
            <a:endParaRPr lang="en-US" sz="1100" dirty="0"/>
          </a:p>
        </p:txBody>
      </p:sp>
      <p:sp>
        <p:nvSpPr>
          <p:cNvPr id="16" name="Shape 13"/>
          <p:cNvSpPr/>
          <p:nvPr/>
        </p:nvSpPr>
        <p:spPr>
          <a:xfrm>
            <a:off x="4919472" y="1783080"/>
            <a:ext cx="182880" cy="0"/>
          </a:xfrm>
          <a:prstGeom prst="line">
            <a:avLst/>
          </a:prstGeom>
          <a:noFill/>
          <a:ln w="19050">
            <a:solidFill>
              <a:srgbClr val="6E6E6E"/>
            </a:solidFill>
            <a:prstDash val="solid"/>
            <a:tailEnd type="triangle"/>
          </a:ln>
        </p:spPr>
      </p:sp>
      <p:sp>
        <p:nvSpPr>
          <p:cNvPr id="17" name="Shape 14"/>
          <p:cNvSpPr/>
          <p:nvPr/>
        </p:nvSpPr>
        <p:spPr>
          <a:xfrm>
            <a:off x="5120640" y="1508760"/>
            <a:ext cx="1463040" cy="548640"/>
          </a:xfrm>
          <a:prstGeom prst="roundRect">
            <a:avLst>
              <a:gd name="adj" fmla="val 13333"/>
            </a:avLst>
          </a:prstGeom>
          <a:solidFill>
            <a:srgbClr val="EB1000"/>
          </a:solidFill>
          <a:ln w="12700">
            <a:solidFill>
              <a:srgbClr val="EB1000"/>
            </a:solidFill>
            <a:prstDash val="solid"/>
          </a:ln>
        </p:spPr>
      </p:sp>
      <p:sp>
        <p:nvSpPr>
          <p:cNvPr id="18" name="Text 15"/>
          <p:cNvSpPr/>
          <p:nvPr/>
        </p:nvSpPr>
        <p:spPr>
          <a:xfrm>
            <a:off x="5120640" y="1508760"/>
            <a:ext cx="1463040" cy="548640"/>
          </a:xfrm>
          <a:prstGeom prst="rect">
            <a:avLst/>
          </a:prstGeom>
          <a:noFill/>
          <a:ln/>
        </p:spPr>
        <p:txBody>
          <a:bodyPr wrap="square"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Set time → Schedule</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2331720"/>
          <a:ext cx="6126480" cy="914400"/>
        </p:xfrm>
        <a:graphic>
          <a:graphicData uri="http://schemas.openxmlformats.org/drawingml/2006/table">
            <a:tbl>
              <a:tblPr/>
              <a:tblGrid>
                <a:gridCol w="2286000"/>
                <a:gridCol w="1920240"/>
                <a:gridCol w="192024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Test page (never previewed)</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Before scheduling</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Right after</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r>
              <a:tr h="0">
                <a:tc>
                  <a:txBody>
                    <a:bodyPr/>
                    <a:lstStyle/>
                    <a:p>
                      <a:pPr indent="0" marL="0">
                        <a:buNone/>
                      </a:pPr>
                      <a:r>
                        <a:rPr lang="en-US" sz="1200" dirty="0">
                          <a:solidFill>
                            <a:srgbClr val="2C2C2C"/>
                          </a:solidFill>
                          <a:latin typeface="Arial" pitchFamily="34" charset="0"/>
                          <a:ea typeface="Arial" pitchFamily="34" charset="-122"/>
                          <a:cs typeface="Arial" pitchFamily="34" charset="-120"/>
                        </a:rPr>
                        <a:t>Preview</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b="1" dirty="0">
                          <a:solidFill>
                            <a:srgbClr val="EB1000"/>
                          </a:solidFill>
                          <a:latin typeface="Arial" pitchFamily="34" charset="0"/>
                          <a:ea typeface="Arial" pitchFamily="34" charset="-122"/>
                          <a:cs typeface="Arial" pitchFamily="34" charset="-120"/>
                        </a:rPr>
                        <a:t>none (404)</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b="1" dirty="0">
                          <a:solidFill>
                            <a:srgbClr val="2D9D78"/>
                          </a:solidFill>
                          <a:latin typeface="Arial" pitchFamily="34" charset="0"/>
                          <a:ea typeface="Arial" pitchFamily="34" charset="-122"/>
                          <a:cs typeface="Arial" pitchFamily="34" charset="-120"/>
                        </a:rPr>
                        <a:t>created 11:50:58 IST</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1200" dirty="0">
                          <a:solidFill>
                            <a:srgbClr val="2C2C2C"/>
                          </a:solidFill>
                          <a:latin typeface="Arial" pitchFamily="34" charset="0"/>
                          <a:ea typeface="Arial" pitchFamily="34" charset="-122"/>
                          <a:cs typeface="Arial" pitchFamily="34" charset="-120"/>
                        </a:rPr>
                        <a:t>Live</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200" dirty="0">
                          <a:solidFill>
                            <a:srgbClr val="2C2C2C"/>
                          </a:solidFill>
                          <a:latin typeface="Arial" pitchFamily="34" charset="0"/>
                          <a:ea typeface="Arial" pitchFamily="34" charset="-122"/>
                          <a:cs typeface="Arial" pitchFamily="34" charset="-120"/>
                        </a:rPr>
                        <a:t>none</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200" dirty="0">
                          <a:solidFill>
                            <a:srgbClr val="2C2C2C"/>
                          </a:solidFill>
                          <a:latin typeface="Arial" pitchFamily="34" charset="0"/>
                          <a:ea typeface="Arial" pitchFamily="34" charset="-122"/>
                          <a:cs typeface="Arial" pitchFamily="34" charset="-120"/>
                        </a:rPr>
                        <a:t>none (correct)</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bl>
          </a:graphicData>
        </a:graphic>
      </p:graphicFrame>
      <p:sp>
        <p:nvSpPr>
          <p:cNvPr id="20" name="Text 16"/>
          <p:cNvSpPr/>
          <p:nvPr/>
        </p:nvSpPr>
        <p:spPr>
          <a:xfrm>
            <a:off x="457200" y="3429000"/>
            <a:ext cx="6126480" cy="2560320"/>
          </a:xfrm>
          <a:prstGeom prst="rect">
            <a:avLst/>
          </a:prstGeom>
          <a:noFill/>
          <a:ln/>
        </p:spPr>
        <p:txBody>
          <a:bodyPr wrap="square" rtlCol="0" anchor="t"/>
          <a:lstStyle/>
          <a:p>
            <a:pPr marL="177800" indent="-177800">
              <a:spcAft>
                <a:spcPts val="400"/>
              </a:spcAft>
              <a:buSzPct val="100000"/>
              <a:buChar char="■"/>
            </a:pPr>
            <a:r>
              <a:rPr lang="en-US" sz="1300" b="1" dirty="0">
                <a:solidFill>
                  <a:srgbClr val="2C2C2C"/>
                </a:solidFill>
                <a:latin typeface="Arial" pitchFamily="34" charset="0"/>
                <a:ea typeface="Arial" pitchFamily="34" charset="-122"/>
                <a:cs typeface="Arial" pitchFamily="34" charset="-120"/>
              </a:rPr>
              <a:t>Scheduling previews the page automatically</a:t>
            </a:r>
            <a:endParaRPr lang="en-US" sz="1300" dirty="0"/>
          </a:p>
          <a:p>
            <a:pPr lvl="1" marL="457200" indent="-228600">
              <a:spcAft>
                <a:spcPts val="400"/>
              </a:spcAft>
              <a:buSzPct val="100000"/>
              <a:buChar char="•"/>
            </a:pPr>
            <a:r>
              <a:rPr lang="en-US" sz="1300" dirty="0">
                <a:solidFill>
                  <a:srgbClr val="2D9D78"/>
                </a:solidFill>
                <a:latin typeface="Arial" pitchFamily="34" charset="0"/>
                <a:ea typeface="Arial" pitchFamily="34" charset="-122"/>
                <a:cs typeface="Arial" pitchFamily="34" charset="-120"/>
              </a:rPr>
              <a:t>Documented, and Tested (M4–M6)</a:t>
            </a:r>
            <a:endParaRPr lang="en-US" sz="1300" dirty="0"/>
          </a:p>
          <a:p>
            <a:pPr lvl="1" marL="457200" indent="-228600">
              <a:spcAft>
                <a:spcPts val="400"/>
              </a:spcAft>
              <a:buSzPct val="100000"/>
              <a:buChar char="•"/>
            </a:pPr>
            <a:r>
              <a:rPr lang="en-US" sz="1300" dirty="0">
                <a:solidFill>
                  <a:srgbClr val="2D9D78"/>
                </a:solidFill>
                <a:latin typeface="Arial" pitchFamily="34" charset="0"/>
                <a:ea typeface="Arial" pitchFamily="34" charset="-122"/>
                <a:cs typeface="Arial" pitchFamily="34" charset="-120"/>
              </a:rPr>
              <a:t>Rescheduling previews it again (M11)</a:t>
            </a:r>
            <a:endParaRPr lang="en-US" sz="1300" dirty="0"/>
          </a:p>
          <a:p>
            <a:pPr marL="177800" indent="-177800">
              <a:spcAft>
                <a:spcPts val="400"/>
              </a:spcAft>
              <a:buSzPct val="100000"/>
              <a:buChar char="■"/>
            </a:pPr>
            <a:r>
              <a:rPr lang="en-US" sz="1300" b="1" dirty="0">
                <a:solidFill>
                  <a:srgbClr val="2C2C2C"/>
                </a:solidFill>
                <a:latin typeface="Arial" pitchFamily="34" charset="0"/>
                <a:ea typeface="Arial" pitchFamily="34" charset="-122"/>
                <a:cs typeface="Arial" pitchFamily="34" charset="-120"/>
              </a:rPr>
              <a:t>Dialog uses the browser time zone: "Schedule (Asia/Calcutta)"</a:t>
            </a:r>
            <a:endParaRPr lang="en-US" sz="1300" dirty="0"/>
          </a:p>
          <a:p>
            <a:pPr lvl="1" marL="457200" indent="-228600">
              <a:spcAft>
                <a:spcPts val="400"/>
              </a:spcAft>
              <a:buSzPct val="100000"/>
              <a:buChar char="•"/>
            </a:pPr>
            <a:r>
              <a:rPr lang="en-US" sz="1300" dirty="0">
                <a:solidFill>
                  <a:srgbClr val="2D9D78"/>
                </a:solidFill>
                <a:latin typeface="Arial" pitchFamily="34" charset="0"/>
                <a:ea typeface="Arial" pitchFamily="34" charset="-122"/>
                <a:cs typeface="Arial" pitchFamily="34" charset="-120"/>
              </a:rPr>
              <a:t>Tested (M5); not in the docs</a:t>
            </a:r>
            <a:endParaRPr lang="en-US" sz="1300" dirty="0"/>
          </a:p>
          <a:p>
            <a:pPr marL="177800" indent="-177800">
              <a:spcAft>
                <a:spcPts val="400"/>
              </a:spcAft>
              <a:buSzPct val="100000"/>
              <a:buChar char="■"/>
            </a:pPr>
            <a:r>
              <a:rPr lang="en-US" sz="1300" b="1" dirty="0">
                <a:solidFill>
                  <a:srgbClr val="2C2C2C"/>
                </a:solidFill>
                <a:latin typeface="Arial" pitchFamily="34" charset="0"/>
                <a:ea typeface="Arial" pitchFamily="34" charset="-122"/>
                <a:cs typeface="Arial" pitchFamily="34" charset="-120"/>
              </a:rPr>
              <a:t>The Prepare button is an icon with no "Prepare" label</a:t>
            </a:r>
            <a:endParaRPr lang="en-US" sz="1300" dirty="0"/>
          </a:p>
        </p:txBody>
      </p:sp>
      <p:pic>
        <p:nvPicPr>
          <p:cNvPr id="21" name="Image 1" descr="Figure 5: Prepare menu with Schedule Publish">    </p:cNvPr>
          <p:cNvPicPr>
            <a:picLocks noChangeAspect="1"/>
          </p:cNvPicPr>
          <p:nvPr/>
        </p:nvPicPr>
        <p:blipFill>
          <a:blip r:embed="rId2"/>
          <a:stretch>
            <a:fillRect/>
          </a:stretch>
        </p:blipFill>
        <p:spPr>
          <a:xfrm>
            <a:off x="6812280" y="1463040"/>
            <a:ext cx="2377440" cy="2450563"/>
          </a:xfrm>
          <a:prstGeom prst="rect">
            <a:avLst/>
          </a:prstGeom>
        </p:spPr>
      </p:pic>
      <p:sp>
        <p:nvSpPr>
          <p:cNvPr id="22" name="Shape 17"/>
          <p:cNvSpPr/>
          <p:nvPr/>
        </p:nvSpPr>
        <p:spPr>
          <a:xfrm>
            <a:off x="6812280" y="1463040"/>
            <a:ext cx="2377440" cy="2450563"/>
          </a:xfrm>
          <a:prstGeom prst="rect">
            <a:avLst/>
          </a:prstGeom>
          <a:ln w="9525">
            <a:solidFill>
              <a:srgbClr val="D9D9D9"/>
            </a:solidFill>
            <a:prstDash val="solid"/>
          </a:ln>
        </p:spPr>
      </p:sp>
      <p:sp>
        <p:nvSpPr>
          <p:cNvPr id="23" name="Text 18"/>
          <p:cNvSpPr/>
          <p:nvPr/>
        </p:nvSpPr>
        <p:spPr>
          <a:xfrm>
            <a:off x="6812280" y="3941035"/>
            <a:ext cx="2377440" cy="256032"/>
          </a:xfrm>
          <a:prstGeom prst="rect">
            <a:avLst/>
          </a:prstGeom>
          <a:noFill/>
          <a:ln/>
        </p:spPr>
        <p:txBody>
          <a:bodyPr wrap="square" rtlCol="0" anchor="ctr"/>
          <a:lstStyle/>
          <a:p>
            <a:pPr algn="ctr" indent="0" marL="0">
              <a:buNone/>
            </a:pPr>
            <a:r>
              <a:rPr lang="en-US" sz="900" i="1" dirty="0">
                <a:solidFill>
                  <a:srgbClr val="6E6E6E"/>
                </a:solidFill>
                <a:latin typeface="Arial" pitchFamily="34" charset="0"/>
                <a:ea typeface="Arial" pitchFamily="34" charset="-122"/>
                <a:cs typeface="Arial" pitchFamily="34" charset="-120"/>
              </a:rPr>
              <a:t>Figure 5: Prepare menu with Schedule Publish</a:t>
            </a:r>
            <a:endParaRPr lang="en-US" sz="900" dirty="0"/>
          </a:p>
        </p:txBody>
      </p:sp>
      <p:pic>
        <p:nvPicPr>
          <p:cNvPr id="24" name="Image 2" descr="Figure 6: Schedule dialog with browser time zone">    </p:cNvPr>
          <p:cNvPicPr>
            <a:picLocks noChangeAspect="1"/>
          </p:cNvPicPr>
          <p:nvPr/>
        </p:nvPicPr>
        <p:blipFill>
          <a:blip r:embed="rId3"/>
          <a:stretch>
            <a:fillRect/>
          </a:stretch>
        </p:blipFill>
        <p:spPr>
          <a:xfrm>
            <a:off x="9372600" y="1463040"/>
            <a:ext cx="2377440" cy="2425959"/>
          </a:xfrm>
          <a:prstGeom prst="rect">
            <a:avLst/>
          </a:prstGeom>
        </p:spPr>
      </p:pic>
      <p:sp>
        <p:nvSpPr>
          <p:cNvPr id="25" name="Shape 19"/>
          <p:cNvSpPr/>
          <p:nvPr/>
        </p:nvSpPr>
        <p:spPr>
          <a:xfrm>
            <a:off x="9372600" y="1463040"/>
            <a:ext cx="2377440" cy="2425959"/>
          </a:xfrm>
          <a:prstGeom prst="rect">
            <a:avLst/>
          </a:prstGeom>
          <a:ln w="9525">
            <a:solidFill>
              <a:srgbClr val="D9D9D9"/>
            </a:solidFill>
            <a:prstDash val="solid"/>
          </a:ln>
        </p:spPr>
      </p:sp>
      <p:sp>
        <p:nvSpPr>
          <p:cNvPr id="26" name="Text 20"/>
          <p:cNvSpPr/>
          <p:nvPr/>
        </p:nvSpPr>
        <p:spPr>
          <a:xfrm>
            <a:off x="9372600" y="3916431"/>
            <a:ext cx="2377440" cy="256032"/>
          </a:xfrm>
          <a:prstGeom prst="rect">
            <a:avLst/>
          </a:prstGeom>
          <a:noFill/>
          <a:ln/>
        </p:spPr>
        <p:txBody>
          <a:bodyPr wrap="square" rtlCol="0" anchor="ctr"/>
          <a:lstStyle/>
          <a:p>
            <a:pPr algn="ctr" indent="0" marL="0">
              <a:buNone/>
            </a:pPr>
            <a:r>
              <a:rPr lang="en-US" sz="900" i="1" dirty="0">
                <a:solidFill>
                  <a:srgbClr val="6E6E6E"/>
                </a:solidFill>
                <a:latin typeface="Arial" pitchFamily="34" charset="0"/>
                <a:ea typeface="Arial" pitchFamily="34" charset="-122"/>
                <a:cs typeface="Arial" pitchFamily="34" charset="-120"/>
              </a:rPr>
              <a:t>Figure 6: Schedule dialog with browser time zone</a:t>
            </a:r>
            <a:endParaRPr lang="en-US" sz="900" dirty="0"/>
          </a:p>
        </p:txBody>
      </p:sp>
      <p:sp>
        <p:nvSpPr>
          <p:cNvPr id="27" name="Text 21"/>
          <p:cNvSpPr/>
          <p:nvPr/>
        </p:nvSpPr>
        <p:spPr>
          <a:xfrm>
            <a:off x="457200" y="6053328"/>
            <a:ext cx="11247120" cy="292608"/>
          </a:xfrm>
          <a:prstGeom prst="rect">
            <a:avLst/>
          </a:prstGeom>
          <a:noFill/>
          <a:ln/>
        </p:spPr>
        <p:txBody>
          <a:bodyPr wrap="square" rtlCol="0" anchor="ctr"/>
          <a:lstStyle/>
          <a:p>
            <a:pPr indent="0" marL="0">
              <a:buNone/>
            </a:pPr>
            <a:r>
              <a:rPr lang="en-US" sz="1100" b="1" dirty="0">
                <a:solidFill>
                  <a:srgbClr val="EB1000"/>
                </a:solidFill>
                <a:latin typeface="Arial" pitchFamily="34" charset="0"/>
                <a:ea typeface="Arial" pitchFamily="34" charset="-122"/>
                <a:cs typeface="Arial" pitchFamily="34" charset="-120"/>
              </a:rPr>
              <a:t>LIVE  </a:t>
            </a:r>
            <a:pPr indent="0" marL="0">
              <a:buNone/>
            </a:pPr>
            <a:r>
              <a:rPr lang="en-US" sz="1100" dirty="0">
                <a:solidFill>
                  <a:srgbClr val="1473E6"/>
                </a:solidFill>
                <a:latin typeface="Arial" pitchFamily="34" charset="0"/>
                <a:ea typeface="Arial" pitchFamily="34" charset="-122"/>
                <a:cs typeface="Arial" pitchFamily="34" charset="-120"/>
              </a:rPr>
              <a:t>https://da.live/edit#/araji-adobe/bv-poc-wknd-aln/us/en/scheduled-publish-test   (open the Prepare icon only; don't schedule)</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Adobe">    </p:cNvPr>
          <p:cNvPicPr>
            <a:picLocks noChangeAspect="1"/>
          </p:cNvPicPr>
          <p:nvPr/>
        </p:nvPicPr>
        <p:blipFill>
          <a:blip r:embed="rId1"/>
          <a:stretch>
            <a:fillRect/>
          </a:stretch>
        </p:blipFill>
        <p:spPr>
          <a:xfrm>
            <a:off x="10588752" y="292608"/>
            <a:ext cx="1133856" cy="274320"/>
          </a:xfrm>
          <a:prstGeom prst="rect">
            <a:avLst/>
          </a:prstGeom>
        </p:spPr>
      </p:pic>
      <p:sp>
        <p:nvSpPr>
          <p:cNvPr id="3" name="Text 0"/>
          <p:cNvSpPr/>
          <p:nvPr/>
        </p:nvSpPr>
        <p:spPr>
          <a:xfrm>
            <a:off x="457200" y="274320"/>
            <a:ext cx="9144000" cy="274320"/>
          </a:xfrm>
          <a:prstGeom prst="rect">
            <a:avLst/>
          </a:prstGeom>
          <a:noFill/>
          <a:ln/>
        </p:spPr>
        <p:txBody>
          <a:bodyPr wrap="square" rtlCol="0" anchor="ctr"/>
          <a:lstStyle/>
          <a:p>
            <a:pPr indent="0" marL="0">
              <a:buNone/>
            </a:pPr>
            <a:r>
              <a:rPr lang="en-US" sz="1100" b="1" spc="100" kern="0" dirty="0">
                <a:solidFill>
                  <a:srgbClr val="EB1000"/>
                </a:solidFill>
                <a:latin typeface="Arial" pitchFamily="34" charset="0"/>
                <a:ea typeface="Arial" pitchFamily="34" charset="-122"/>
                <a:cs typeface="Arial" pitchFamily="34" charset="-120"/>
              </a:rPr>
              <a:t>3 · MANUAL SCHEDULED PUBLISHING</a:t>
            </a:r>
            <a:endParaRPr lang="en-US" sz="1100" dirty="0"/>
          </a:p>
        </p:txBody>
      </p:sp>
      <p:sp>
        <p:nvSpPr>
          <p:cNvPr id="4" name="Text 1"/>
          <p:cNvSpPr/>
          <p:nvPr/>
        </p:nvSpPr>
        <p:spPr>
          <a:xfrm>
            <a:off x="457200" y="566928"/>
            <a:ext cx="10241280" cy="640080"/>
          </a:xfrm>
          <a:prstGeom prst="rect">
            <a:avLst/>
          </a:prstGeom>
          <a:noFill/>
          <a:ln/>
        </p:spPr>
        <p:txBody>
          <a:bodyPr wrap="square" rtlCol="0" anchor="ctr"/>
          <a:lstStyle/>
          <a:p>
            <a:pPr indent="0" marL="0">
              <a:buNone/>
            </a:pPr>
            <a:r>
              <a:rPr lang="en-US" sz="2600" b="1" dirty="0">
                <a:solidFill>
                  <a:srgbClr val="2C2C2C"/>
                </a:solidFill>
                <a:latin typeface="Arial" pitchFamily="34" charset="0"/>
                <a:ea typeface="Arial" pitchFamily="34" charset="-122"/>
                <a:cs typeface="Arial" pitchFamily="34" charset="-120"/>
              </a:rPr>
              <a:t>Verified results, and the key insight</a:t>
            </a:r>
            <a:endParaRPr lang="en-US" sz="2600" dirty="0"/>
          </a:p>
        </p:txBody>
      </p:sp>
      <p:sp>
        <p:nvSpPr>
          <p:cNvPr id="5" name="Shape 2"/>
          <p:cNvSpPr/>
          <p:nvPr/>
        </p:nvSpPr>
        <p:spPr>
          <a:xfrm>
            <a:off x="457200" y="1243584"/>
            <a:ext cx="1097280" cy="54864"/>
          </a:xfrm>
          <a:prstGeom prst="rect">
            <a:avLst/>
          </a:prstGeom>
          <a:solidFill>
            <a:srgbClr val="EB1000"/>
          </a:solidFill>
          <a:ln w="12700">
            <a:solidFill>
              <a:srgbClr val="EB1000"/>
            </a:solidFill>
            <a:prstDash val="solid"/>
          </a:ln>
        </p:spPr>
      </p:sp>
      <p:sp>
        <p:nvSpPr>
          <p:cNvPr id="6" name="Text 3"/>
          <p:cNvSpPr/>
          <p:nvPr/>
        </p:nvSpPr>
        <p:spPr>
          <a:xfrm>
            <a:off x="457200" y="6446520"/>
            <a:ext cx="7315200" cy="274320"/>
          </a:xfrm>
          <a:prstGeom prst="rect">
            <a:avLst/>
          </a:prstGeom>
          <a:noFill/>
          <a:ln/>
        </p:spPr>
        <p:txBody>
          <a:bodyPr wrap="square" rtlCol="0" anchor="ctr"/>
          <a:lstStyle/>
          <a:p>
            <a:pPr indent="0" marL="0">
              <a:buNone/>
            </a:pPr>
            <a:r>
              <a:rPr lang="en-US" sz="900" dirty="0">
                <a:solidFill>
                  <a:srgbClr val="6E6E6E"/>
                </a:solidFill>
                <a:latin typeface="Arial" pitchFamily="34" charset="0"/>
                <a:ea typeface="Arial" pitchFamily="34" charset="-122"/>
                <a:cs typeface="Arial" pitchFamily="34" charset="-120"/>
              </a:rPr>
              <a:t>© 2026 Adobe. All Rights Reserved. Adobe Confidential.</a:t>
            </a:r>
            <a:endParaRPr lang="en-US" sz="900" dirty="0"/>
          </a:p>
        </p:txBody>
      </p:sp>
      <p:sp>
        <p:nvSpPr>
          <p:cNvPr id="7" name="Text 4"/>
          <p:cNvSpPr/>
          <p:nvPr/>
        </p:nvSpPr>
        <p:spPr>
          <a:xfrm>
            <a:off x="11274552" y="6446520"/>
            <a:ext cx="457200" cy="274320"/>
          </a:xfrm>
          <a:prstGeom prst="rect">
            <a:avLst/>
          </a:prstGeom>
          <a:noFill/>
          <a:ln/>
        </p:spPr>
        <p:txBody>
          <a:bodyPr wrap="square" rtlCol="0" anchor="ctr"/>
          <a:lstStyle/>
          <a:p>
            <a:pPr algn="r" indent="0" marL="0">
              <a:buNone/>
            </a:pPr>
            <a:r>
              <a:rPr lang="en-US" sz="900" dirty="0">
                <a:solidFill>
                  <a:srgbClr val="6E6E6E"/>
                </a:solidFill>
                <a:latin typeface="Arial" pitchFamily="34" charset="0"/>
                <a:ea typeface="Arial" pitchFamily="34" charset="-122"/>
                <a:cs typeface="Arial" pitchFamily="34" charset="-120"/>
              </a:rPr>
              <a:t>6</a:t>
            </a:r>
            <a:endParaRPr lang="en-US" sz="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417320"/>
          <a:ext cx="11247120" cy="914400"/>
        </p:xfrm>
        <a:graphic>
          <a:graphicData uri="http://schemas.openxmlformats.org/drawingml/2006/table">
            <a:tbl>
              <a:tblPr/>
              <a:tblGrid>
                <a:gridCol w="1828800"/>
                <a:gridCol w="8229600"/>
                <a:gridCol w="118872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Time (IST, 22 Oct)</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What happened</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Evidence</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r>
              <a:tr h="0">
                <a:tc>
                  <a:txBody>
                    <a:bodyPr/>
                    <a:lstStyle/>
                    <a:p>
                      <a:pPr indent="0" marL="0">
                        <a:buNone/>
                      </a:pPr>
                      <a:r>
                        <a:rPr lang="en-US" sz="1200" dirty="0">
                          <a:solidFill>
                            <a:srgbClr val="2C2C2C"/>
                          </a:solidFill>
                          <a:latin typeface="Arial" pitchFamily="34" charset="0"/>
                          <a:ea typeface="Arial" pitchFamily="34" charset="-122"/>
                          <a:cs typeface="Arial" pitchFamily="34" charset="-120"/>
                        </a:rPr>
                        <a:t>12:00:08</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2C2C2C"/>
                          </a:solidFill>
                          <a:latin typeface="Arial" pitchFamily="34" charset="0"/>
                          <a:ea typeface="Arial" pitchFamily="34" charset="-122"/>
                          <a:cs typeface="Arial" pitchFamily="34" charset="-120"/>
                        </a:rPr>
                        <a:t>Page published by the system account helix@adobe.com</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b="1" dirty="0">
                          <a:solidFill>
                            <a:srgbClr val="2D9D78"/>
                          </a:solidFill>
                          <a:latin typeface="Arial" pitchFamily="34" charset="0"/>
                          <a:ea typeface="Arial" pitchFamily="34" charset="-122"/>
                          <a:cs typeface="Arial" pitchFamily="34" charset="-120"/>
                        </a:rPr>
                        <a:t>M8</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1200" dirty="0">
                          <a:solidFill>
                            <a:srgbClr val="2C2C2C"/>
                          </a:solidFill>
                          <a:latin typeface="Arial" pitchFamily="34" charset="0"/>
                          <a:ea typeface="Arial" pitchFamily="34" charset="-122"/>
                          <a:cs typeface="Arial" pitchFamily="34" charset="-120"/>
                        </a:rPr>
                        <a:t>12:00</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200" dirty="0">
                          <a:solidFill>
                            <a:srgbClr val="2C2C2C"/>
                          </a:solidFill>
                          <a:latin typeface="Arial" pitchFamily="34" charset="0"/>
                          <a:ea typeface="Arial" pitchFamily="34" charset="-122"/>
                          <a:cs typeface="Arial" pitchFamily="34" charset="-120"/>
                        </a:rPr>
                        <a:t>Live = V1 only. The V2 edit made after scheduling, not previewed, did NOT go live</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200" b="1" dirty="0">
                          <a:solidFill>
                            <a:srgbClr val="2D9D78"/>
                          </a:solidFill>
                          <a:latin typeface="Arial" pitchFamily="34" charset="0"/>
                          <a:ea typeface="Arial" pitchFamily="34" charset="-122"/>
                          <a:cs typeface="Arial" pitchFamily="34" charset="-120"/>
                        </a:rPr>
                        <a:t>M9</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r h="0">
                <a:tc>
                  <a:txBody>
                    <a:bodyPr/>
                    <a:lstStyle/>
                    <a:p>
                      <a:pPr indent="0" marL="0">
                        <a:buNone/>
                      </a:pPr>
                      <a:r>
                        <a:rPr lang="en-US" sz="1200" dirty="0">
                          <a:solidFill>
                            <a:srgbClr val="2C2C2C"/>
                          </a:solidFill>
                          <a:latin typeface="Arial" pitchFamily="34" charset="0"/>
                          <a:ea typeface="Arial" pitchFamily="34" charset="-122"/>
                          <a:cs typeface="Arial" pitchFamily="34" charset="-120"/>
                        </a:rPr>
                        <a:t>12:25 → 12:30:07</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2C2C2C"/>
                          </a:solidFill>
                          <a:latin typeface="Arial" pitchFamily="34" charset="0"/>
                          <a:ea typeface="Arial" pitchFamily="34" charset="-122"/>
                          <a:cs typeface="Arial" pitchFamily="34" charset="-120"/>
                        </a:rPr>
                        <a:t>Rescheduled: nothing at the old time; live at the new time</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b="1" dirty="0">
                          <a:solidFill>
                            <a:srgbClr val="2D9D78"/>
                          </a:solidFill>
                          <a:latin typeface="Arial" pitchFamily="34" charset="0"/>
                          <a:ea typeface="Arial" pitchFamily="34" charset="-122"/>
                          <a:cs typeface="Arial" pitchFamily="34" charset="-120"/>
                        </a:rPr>
                        <a:t>M11, M12</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1200" dirty="0">
                          <a:solidFill>
                            <a:srgbClr val="2C2C2C"/>
                          </a:solidFill>
                          <a:latin typeface="Arial" pitchFamily="34" charset="0"/>
                          <a:ea typeface="Arial" pitchFamily="34" charset="-122"/>
                          <a:cs typeface="Arial" pitchFamily="34" charset="-120"/>
                        </a:rPr>
                        <a:t>12:40 / 12:45</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200" dirty="0">
                          <a:solidFill>
                            <a:srgbClr val="2C2C2C"/>
                          </a:solidFill>
                          <a:latin typeface="Arial" pitchFamily="34" charset="0"/>
                          <a:ea typeface="Arial" pitchFamily="34" charset="-122"/>
                          <a:cs typeface="Arial" pitchFamily="34" charset="-120"/>
                        </a:rPr>
                        <a:t>Deleted in the scheduler list (no confirmation): page never went live</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200" b="1" dirty="0">
                          <a:solidFill>
                            <a:srgbClr val="2D9D78"/>
                          </a:solidFill>
                          <a:latin typeface="Arial" pitchFamily="34" charset="0"/>
                          <a:ea typeface="Arial" pitchFamily="34" charset="-122"/>
                          <a:cs typeface="Arial" pitchFamily="34" charset="-120"/>
                        </a:rPr>
                        <a:t>M13, M14</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bl>
          </a:graphicData>
        </a:graphic>
      </p:graphicFrame>
      <p:sp>
        <p:nvSpPr>
          <p:cNvPr id="9" name="Shape 5"/>
          <p:cNvSpPr/>
          <p:nvPr/>
        </p:nvSpPr>
        <p:spPr>
          <a:xfrm>
            <a:off x="457200" y="3429000"/>
            <a:ext cx="3931920" cy="1371600"/>
          </a:xfrm>
          <a:prstGeom prst="roundRect">
            <a:avLst>
              <a:gd name="adj" fmla="val 5333"/>
            </a:avLst>
          </a:prstGeom>
          <a:solidFill>
            <a:srgbClr val="FDECEA"/>
          </a:solidFill>
          <a:ln w="15875">
            <a:solidFill>
              <a:srgbClr val="EB1000"/>
            </a:solidFill>
            <a:prstDash val="solid"/>
          </a:ln>
        </p:spPr>
      </p:sp>
      <p:sp>
        <p:nvSpPr>
          <p:cNvPr id="10" name="Text 6"/>
          <p:cNvSpPr/>
          <p:nvPr/>
        </p:nvSpPr>
        <p:spPr>
          <a:xfrm>
            <a:off x="594360" y="3429000"/>
            <a:ext cx="3657600" cy="1371600"/>
          </a:xfrm>
          <a:prstGeom prst="rect">
            <a:avLst/>
          </a:prstGeom>
          <a:noFill/>
          <a:ln/>
        </p:spPr>
        <p:txBody>
          <a:bodyPr wrap="square" rtlCol="0" anchor="ctr"/>
          <a:lstStyle/>
          <a:p>
            <a:pPr indent="0" marL="0">
              <a:buNone/>
            </a:pPr>
            <a:r>
              <a:rPr lang="en-US" sz="1300" b="1" dirty="0">
                <a:solidFill>
                  <a:srgbClr val="EB1000"/>
                </a:solidFill>
                <a:latin typeface="Arial" pitchFamily="34" charset="0"/>
                <a:ea typeface="Arial" pitchFamily="34" charset="-122"/>
                <a:cs typeface="Arial" pitchFamily="34" charset="-120"/>
              </a:rPr>
              <a:t>KEY INSIGHT</a:t>
            </a:r>
            <a:endParaRPr lang="en-US" sz="1300" dirty="0"/>
          </a:p>
          <a:p>
            <a:pPr indent="0" marL="0">
              <a:buNone/>
            </a:pPr>
            <a:r>
              <a:rPr lang="en-US" sz="1300" b="1" dirty="0">
                <a:solidFill>
                  <a:srgbClr val="2C2C2C"/>
                </a:solidFill>
                <a:latin typeface="Arial" pitchFamily="34" charset="0"/>
                <a:ea typeface="Arial" pitchFamily="34" charset="-122"/>
                <a:cs typeface="Arial" pitchFamily="34" charset="-120"/>
              </a:rPr>
              <a:t>The scheduler publishes the PREVIEW, not later edits. Edit, then preview again, before go-live.</a:t>
            </a:r>
            <a:endParaRPr lang="en-US" sz="1300" dirty="0"/>
          </a:p>
        </p:txBody>
      </p:sp>
      <p:sp>
        <p:nvSpPr>
          <p:cNvPr id="11" name="Text 7"/>
          <p:cNvSpPr/>
          <p:nvPr/>
        </p:nvSpPr>
        <p:spPr>
          <a:xfrm>
            <a:off x="457200" y="4937760"/>
            <a:ext cx="3931920" cy="1005840"/>
          </a:xfrm>
          <a:prstGeom prst="rect">
            <a:avLst/>
          </a:prstGeom>
          <a:noFill/>
          <a:ln/>
        </p:spPr>
        <p:txBody>
          <a:bodyPr wrap="square" rtlCol="0" anchor="t"/>
          <a:lstStyle/>
          <a:p>
            <a:pPr marL="177800" indent="-177800">
              <a:spcAft>
                <a:spcPts val="400"/>
              </a:spcAft>
              <a:buSzPct val="100000"/>
              <a:buChar char="■"/>
            </a:pPr>
            <a:r>
              <a:rPr lang="en-US" sz="1100" b="1" dirty="0">
                <a:solidFill>
                  <a:srgbClr val="E68619"/>
                </a:solidFill>
                <a:latin typeface="Arial" pitchFamily="34" charset="0"/>
                <a:ea typeface="Arial" pitchFamily="34" charset="-122"/>
                <a:cs typeface="Arial" pitchFamily="34" charset="-120"/>
              </a:rPr>
              <a:t>No cancel inside the dialog (only Schedule / X)</a:t>
            </a:r>
            <a:endParaRPr lang="en-US" sz="1100" dirty="0"/>
          </a:p>
          <a:p>
            <a:pPr marL="177800" indent="-177800">
              <a:spcAft>
                <a:spcPts val="400"/>
              </a:spcAft>
              <a:buSzPct val="100000"/>
              <a:buChar char="■"/>
            </a:pPr>
            <a:r>
              <a:rPr lang="en-US" sz="1100" b="1" dirty="0">
                <a:solidFill>
                  <a:srgbClr val="E68619"/>
                </a:solidFill>
                <a:latin typeface="Arial" pitchFamily="34" charset="0"/>
                <a:ea typeface="Arial" pitchFamily="34" charset="-122"/>
                <a:cs typeface="Arial" pitchFamily="34" charset="-120"/>
              </a:rPr>
              <a:t>No scheduled unpublish in the dialog</a:t>
            </a:r>
            <a:endParaRPr lang="en-US" sz="1100" dirty="0"/>
          </a:p>
        </p:txBody>
      </p:sp>
      <p:pic>
        <p:nvPicPr>
          <p:cNvPr id="12" name="Image 1" descr="Figure 7: Editor: V1 + V2 (V2 not previewed)">    </p:cNvPr>
          <p:cNvPicPr>
            <a:picLocks noChangeAspect="1"/>
          </p:cNvPicPr>
          <p:nvPr/>
        </p:nvPicPr>
        <p:blipFill>
          <a:blip r:embed="rId2"/>
          <a:stretch>
            <a:fillRect/>
          </a:stretch>
        </p:blipFill>
        <p:spPr>
          <a:xfrm>
            <a:off x="4885599" y="3383280"/>
            <a:ext cx="2938962" cy="2377440"/>
          </a:xfrm>
          <a:prstGeom prst="rect">
            <a:avLst/>
          </a:prstGeom>
        </p:spPr>
      </p:pic>
      <p:sp>
        <p:nvSpPr>
          <p:cNvPr id="13" name="Shape 8"/>
          <p:cNvSpPr/>
          <p:nvPr/>
        </p:nvSpPr>
        <p:spPr>
          <a:xfrm>
            <a:off x="4885599" y="3383280"/>
            <a:ext cx="2938962" cy="2377440"/>
          </a:xfrm>
          <a:prstGeom prst="rect">
            <a:avLst/>
          </a:prstGeom>
          <a:ln w="9525">
            <a:solidFill>
              <a:srgbClr val="D9D9D9"/>
            </a:solidFill>
            <a:prstDash val="solid"/>
          </a:ln>
        </p:spPr>
      </p:sp>
      <p:sp>
        <p:nvSpPr>
          <p:cNvPr id="14" name="Text 9"/>
          <p:cNvSpPr/>
          <p:nvPr/>
        </p:nvSpPr>
        <p:spPr>
          <a:xfrm>
            <a:off x="4663440" y="5788152"/>
            <a:ext cx="3383280" cy="256032"/>
          </a:xfrm>
          <a:prstGeom prst="rect">
            <a:avLst/>
          </a:prstGeom>
          <a:noFill/>
          <a:ln/>
        </p:spPr>
        <p:txBody>
          <a:bodyPr wrap="square" rtlCol="0" anchor="ctr"/>
          <a:lstStyle/>
          <a:p>
            <a:pPr algn="ctr" indent="0" marL="0">
              <a:buNone/>
            </a:pPr>
            <a:r>
              <a:rPr lang="en-US" sz="900" i="1" dirty="0">
                <a:solidFill>
                  <a:srgbClr val="6E6E6E"/>
                </a:solidFill>
                <a:latin typeface="Arial" pitchFamily="34" charset="0"/>
                <a:ea typeface="Arial" pitchFamily="34" charset="-122"/>
                <a:cs typeface="Arial" pitchFamily="34" charset="-120"/>
              </a:rPr>
              <a:t>Figure 7: Editor: V1 + V2 (V2 not previewed)</a:t>
            </a:r>
            <a:endParaRPr lang="en-US" sz="900" dirty="0"/>
          </a:p>
        </p:txBody>
      </p:sp>
      <p:pic>
        <p:nvPicPr>
          <p:cNvPr id="15" name="Image 2" descr="Figure 8: Live page: V1 only">    </p:cNvPr>
          <p:cNvPicPr>
            <a:picLocks noChangeAspect="1"/>
          </p:cNvPicPr>
          <p:nvPr/>
        </p:nvPicPr>
        <p:blipFill>
          <a:blip r:embed="rId3"/>
          <a:stretch>
            <a:fillRect/>
          </a:stretch>
        </p:blipFill>
        <p:spPr>
          <a:xfrm>
            <a:off x="8275320" y="3383280"/>
            <a:ext cx="3474720" cy="1644354"/>
          </a:xfrm>
          <a:prstGeom prst="rect">
            <a:avLst/>
          </a:prstGeom>
        </p:spPr>
      </p:pic>
      <p:sp>
        <p:nvSpPr>
          <p:cNvPr id="16" name="Shape 10"/>
          <p:cNvSpPr/>
          <p:nvPr/>
        </p:nvSpPr>
        <p:spPr>
          <a:xfrm>
            <a:off x="8275320" y="3383280"/>
            <a:ext cx="3474720" cy="1644354"/>
          </a:xfrm>
          <a:prstGeom prst="rect">
            <a:avLst/>
          </a:prstGeom>
          <a:ln w="9525">
            <a:solidFill>
              <a:srgbClr val="D9D9D9"/>
            </a:solidFill>
            <a:prstDash val="solid"/>
          </a:ln>
        </p:spPr>
      </p:sp>
      <p:sp>
        <p:nvSpPr>
          <p:cNvPr id="17" name="Text 11"/>
          <p:cNvSpPr/>
          <p:nvPr/>
        </p:nvSpPr>
        <p:spPr>
          <a:xfrm>
            <a:off x="8275320" y="5055066"/>
            <a:ext cx="3474720" cy="256032"/>
          </a:xfrm>
          <a:prstGeom prst="rect">
            <a:avLst/>
          </a:prstGeom>
          <a:noFill/>
          <a:ln/>
        </p:spPr>
        <p:txBody>
          <a:bodyPr wrap="square" rtlCol="0" anchor="ctr"/>
          <a:lstStyle/>
          <a:p>
            <a:pPr algn="ctr" indent="0" marL="0">
              <a:buNone/>
            </a:pPr>
            <a:r>
              <a:rPr lang="en-US" sz="900" i="1" dirty="0">
                <a:solidFill>
                  <a:srgbClr val="6E6E6E"/>
                </a:solidFill>
                <a:latin typeface="Arial" pitchFamily="34" charset="0"/>
                <a:ea typeface="Arial" pitchFamily="34" charset="-122"/>
                <a:cs typeface="Arial" pitchFamily="34" charset="-120"/>
              </a:rPr>
              <a:t>Figure 8: Live page: V1 only</a:t>
            </a:r>
            <a:endParaRPr lang="en-US" sz="900" dirty="0"/>
          </a:p>
        </p:txBody>
      </p:sp>
      <p:sp>
        <p:nvSpPr>
          <p:cNvPr id="18" name="Text 12"/>
          <p:cNvSpPr/>
          <p:nvPr/>
        </p:nvSpPr>
        <p:spPr>
          <a:xfrm>
            <a:off x="457200" y="6053328"/>
            <a:ext cx="11247120" cy="292608"/>
          </a:xfrm>
          <a:prstGeom prst="rect">
            <a:avLst/>
          </a:prstGeom>
          <a:noFill/>
          <a:ln/>
        </p:spPr>
        <p:txBody>
          <a:bodyPr wrap="square" rtlCol="0" anchor="ctr"/>
          <a:lstStyle/>
          <a:p>
            <a:pPr indent="0" marL="0">
              <a:buNone/>
            </a:pPr>
            <a:r>
              <a:rPr lang="en-US" sz="1100" b="1" dirty="0">
                <a:solidFill>
                  <a:srgbClr val="EB1000"/>
                </a:solidFill>
                <a:latin typeface="Arial" pitchFamily="34" charset="0"/>
                <a:ea typeface="Arial" pitchFamily="34" charset="-122"/>
                <a:cs typeface="Arial" pitchFamily="34" charset="-120"/>
              </a:rPr>
              <a:t>LIVE  </a:t>
            </a:r>
            <a:pPr indent="0" marL="0">
              <a:buNone/>
            </a:pPr>
            <a:r>
              <a:rPr lang="en-US" sz="1100" dirty="0">
                <a:solidFill>
                  <a:srgbClr val="1473E6"/>
                </a:solidFill>
                <a:latin typeface="Arial" pitchFamily="34" charset="0"/>
                <a:ea typeface="Arial" pitchFamily="34" charset="-122"/>
                <a:cs typeface="Arial" pitchFamily="34" charset="-120"/>
              </a:rPr>
              <a:t>https://main--bv-poc-wknd-aln--araji-adobe.aem.live/us/en/scheduled-publish-test</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Adobe">    </p:cNvPr>
          <p:cNvPicPr>
            <a:picLocks noChangeAspect="1"/>
          </p:cNvPicPr>
          <p:nvPr/>
        </p:nvPicPr>
        <p:blipFill>
          <a:blip r:embed="rId1"/>
          <a:stretch>
            <a:fillRect/>
          </a:stretch>
        </p:blipFill>
        <p:spPr>
          <a:xfrm>
            <a:off x="10588752" y="292608"/>
            <a:ext cx="1133856" cy="274320"/>
          </a:xfrm>
          <a:prstGeom prst="rect">
            <a:avLst/>
          </a:prstGeom>
        </p:spPr>
      </p:pic>
      <p:sp>
        <p:nvSpPr>
          <p:cNvPr id="3" name="Text 0"/>
          <p:cNvSpPr/>
          <p:nvPr/>
        </p:nvSpPr>
        <p:spPr>
          <a:xfrm>
            <a:off x="457200" y="274320"/>
            <a:ext cx="9144000" cy="274320"/>
          </a:xfrm>
          <a:prstGeom prst="rect">
            <a:avLst/>
          </a:prstGeom>
          <a:noFill/>
          <a:ln/>
        </p:spPr>
        <p:txBody>
          <a:bodyPr wrap="square" rtlCol="0" anchor="ctr"/>
          <a:lstStyle/>
          <a:p>
            <a:pPr indent="0" marL="0">
              <a:buNone/>
            </a:pPr>
            <a:r>
              <a:rPr lang="en-US" sz="1100" b="1" spc="100" kern="0" dirty="0">
                <a:solidFill>
                  <a:srgbClr val="EB1000"/>
                </a:solidFill>
                <a:latin typeface="Arial" pitchFamily="34" charset="0"/>
                <a:ea typeface="Arial" pitchFamily="34" charset="-122"/>
                <a:cs typeface="Arial" pitchFamily="34" charset="-120"/>
              </a:rPr>
              <a:t>3 · MANUAL SCHEDULED PUBLISHING</a:t>
            </a:r>
            <a:endParaRPr lang="en-US" sz="1100" dirty="0"/>
          </a:p>
        </p:txBody>
      </p:sp>
      <p:sp>
        <p:nvSpPr>
          <p:cNvPr id="4" name="Text 1"/>
          <p:cNvSpPr/>
          <p:nvPr/>
        </p:nvSpPr>
        <p:spPr>
          <a:xfrm>
            <a:off x="457200" y="566928"/>
            <a:ext cx="10241280" cy="640080"/>
          </a:xfrm>
          <a:prstGeom prst="rect">
            <a:avLst/>
          </a:prstGeom>
          <a:noFill/>
          <a:ln/>
        </p:spPr>
        <p:txBody>
          <a:bodyPr wrap="square" rtlCol="0" anchor="ctr"/>
          <a:lstStyle/>
          <a:p>
            <a:pPr indent="0" marL="0">
              <a:buNone/>
            </a:pPr>
            <a:r>
              <a:rPr lang="en-US" sz="2600" b="1" dirty="0">
                <a:solidFill>
                  <a:srgbClr val="2C2C2C"/>
                </a:solidFill>
                <a:latin typeface="Arial" pitchFamily="34" charset="0"/>
                <a:ea typeface="Arial" pitchFamily="34" charset="-122"/>
                <a:cs typeface="Arial" pitchFamily="34" charset="-120"/>
              </a:rPr>
              <a:t>Verified: queue, reschedule and cancel</a:t>
            </a:r>
            <a:endParaRPr lang="en-US" sz="2600" dirty="0"/>
          </a:p>
        </p:txBody>
      </p:sp>
      <p:sp>
        <p:nvSpPr>
          <p:cNvPr id="5" name="Shape 2"/>
          <p:cNvSpPr/>
          <p:nvPr/>
        </p:nvSpPr>
        <p:spPr>
          <a:xfrm>
            <a:off x="457200" y="1243584"/>
            <a:ext cx="1097280" cy="54864"/>
          </a:xfrm>
          <a:prstGeom prst="rect">
            <a:avLst/>
          </a:prstGeom>
          <a:solidFill>
            <a:srgbClr val="EB1000"/>
          </a:solidFill>
          <a:ln w="12700">
            <a:solidFill>
              <a:srgbClr val="EB1000"/>
            </a:solidFill>
            <a:prstDash val="solid"/>
          </a:ln>
        </p:spPr>
      </p:sp>
      <p:sp>
        <p:nvSpPr>
          <p:cNvPr id="6" name="Text 3"/>
          <p:cNvSpPr/>
          <p:nvPr/>
        </p:nvSpPr>
        <p:spPr>
          <a:xfrm>
            <a:off x="457200" y="6446520"/>
            <a:ext cx="7315200" cy="274320"/>
          </a:xfrm>
          <a:prstGeom prst="rect">
            <a:avLst/>
          </a:prstGeom>
          <a:noFill/>
          <a:ln/>
        </p:spPr>
        <p:txBody>
          <a:bodyPr wrap="square" rtlCol="0" anchor="ctr"/>
          <a:lstStyle/>
          <a:p>
            <a:pPr indent="0" marL="0">
              <a:buNone/>
            </a:pPr>
            <a:r>
              <a:rPr lang="en-US" sz="900" dirty="0">
                <a:solidFill>
                  <a:srgbClr val="6E6E6E"/>
                </a:solidFill>
                <a:latin typeface="Arial" pitchFamily="34" charset="0"/>
                <a:ea typeface="Arial" pitchFamily="34" charset="-122"/>
                <a:cs typeface="Arial" pitchFamily="34" charset="-120"/>
              </a:rPr>
              <a:t>© 2026 Adobe. All Rights Reserved. Adobe Confidential.</a:t>
            </a:r>
            <a:endParaRPr lang="en-US" sz="900" dirty="0"/>
          </a:p>
        </p:txBody>
      </p:sp>
      <p:sp>
        <p:nvSpPr>
          <p:cNvPr id="7" name="Text 4"/>
          <p:cNvSpPr/>
          <p:nvPr/>
        </p:nvSpPr>
        <p:spPr>
          <a:xfrm>
            <a:off x="11274552" y="6446520"/>
            <a:ext cx="457200" cy="274320"/>
          </a:xfrm>
          <a:prstGeom prst="rect">
            <a:avLst/>
          </a:prstGeom>
          <a:noFill/>
          <a:ln/>
        </p:spPr>
        <p:txBody>
          <a:bodyPr wrap="square" rtlCol="0" anchor="ctr"/>
          <a:lstStyle/>
          <a:p>
            <a:pPr algn="r" indent="0" marL="0">
              <a:buNone/>
            </a:pPr>
            <a:r>
              <a:rPr lang="en-US" sz="900" dirty="0">
                <a:solidFill>
                  <a:srgbClr val="6E6E6E"/>
                </a:solidFill>
                <a:latin typeface="Arial" pitchFamily="34" charset="0"/>
                <a:ea typeface="Arial" pitchFamily="34" charset="-122"/>
                <a:cs typeface="Arial" pitchFamily="34" charset="-120"/>
              </a:rPr>
              <a:t>7</a:t>
            </a:r>
            <a:endParaRPr lang="en-US" sz="900" dirty="0"/>
          </a:p>
        </p:txBody>
      </p:sp>
      <p:sp>
        <p:nvSpPr>
          <p:cNvPr id="8" name="Text 5"/>
          <p:cNvSpPr/>
          <p:nvPr/>
        </p:nvSpPr>
        <p:spPr>
          <a:xfrm>
            <a:off x="457200" y="1417320"/>
            <a:ext cx="11247120" cy="1554480"/>
          </a:xfrm>
          <a:prstGeom prst="rect">
            <a:avLst/>
          </a:prstGeom>
          <a:noFill/>
          <a:ln/>
        </p:spPr>
        <p:txBody>
          <a:bodyPr wrap="square" rtlCol="0" anchor="t"/>
          <a:lstStyle/>
          <a:p>
            <a:pPr marL="177800" indent="-177800">
              <a:spcAft>
                <a:spcPts val="400"/>
              </a:spcAft>
              <a:buSzPct val="100000"/>
              <a:buChar char="■"/>
            </a:pPr>
            <a:r>
              <a:rPr lang="en-US" sz="1300" b="1" dirty="0">
                <a:solidFill>
                  <a:srgbClr val="2C2C2C"/>
                </a:solidFill>
                <a:latin typeface="Arial" pitchFamily="34" charset="0"/>
                <a:ea typeface="Arial" pitchFamily="34" charset="-122"/>
                <a:cs typeface="Arial" pitchFamily="34" charset="-120"/>
              </a:rPr>
              <a:t>Queue (scheduler app): Type, Item, "Publishes on" with time zone and countdown, Requested by, Open / Delete</a:t>
            </a:r>
            <a:endParaRPr lang="en-US" sz="1300" dirty="0"/>
          </a:p>
          <a:p>
            <a:pPr lvl="1" marL="457200" indent="-228600">
              <a:spcAft>
                <a:spcPts val="400"/>
              </a:spcAft>
              <a:buSzPct val="100000"/>
              <a:buChar char="•"/>
            </a:pPr>
            <a:r>
              <a:rPr lang="en-US" sz="1300" dirty="0">
                <a:solidFill>
                  <a:srgbClr val="2D9D78"/>
                </a:solidFill>
                <a:latin typeface="Arial" pitchFamily="34" charset="0"/>
                <a:ea typeface="Arial" pitchFamily="34" charset="-122"/>
                <a:cs typeface="Arial" pitchFamily="34" charset="-120"/>
              </a:rPr>
              <a:t>Figure 9: "Oct 22, 2026, 12:30 PM GMT+5:30 · in 7m · araji@adobe.com". Tested</a:t>
            </a:r>
            <a:endParaRPr lang="en-US" sz="1300" dirty="0"/>
          </a:p>
          <a:p>
            <a:pPr marL="177800" indent="-177800">
              <a:spcAft>
                <a:spcPts val="400"/>
              </a:spcAft>
              <a:buSzPct val="100000"/>
              <a:buChar char="■"/>
            </a:pPr>
            <a:r>
              <a:rPr lang="en-US" sz="1300" b="1" dirty="0">
                <a:solidFill>
                  <a:srgbClr val="2C2C2C"/>
                </a:solidFill>
                <a:latin typeface="Arial" pitchFamily="34" charset="0"/>
                <a:ea typeface="Arial" pitchFamily="34" charset="-122"/>
                <a:cs typeface="Arial" pitchFamily="34" charset="-120"/>
              </a:rPr>
              <a:t>Reschedule: reopen the dialog (old time prefilled) → re-preview → only the new time runs (M11, M12)</a:t>
            </a:r>
            <a:endParaRPr lang="en-US" sz="1300" dirty="0"/>
          </a:p>
          <a:p>
            <a:pPr marL="177800" indent="-177800">
              <a:spcAft>
                <a:spcPts val="400"/>
              </a:spcAft>
              <a:buSzPct val="100000"/>
              <a:buChar char="■"/>
            </a:pPr>
            <a:r>
              <a:rPr lang="en-US" sz="1300" b="1" dirty="0">
                <a:solidFill>
                  <a:srgbClr val="2C2C2C"/>
                </a:solidFill>
                <a:latin typeface="Arial" pitchFamily="34" charset="0"/>
                <a:ea typeface="Arial" pitchFamily="34" charset="-122"/>
                <a:cs typeface="Arial" pitchFamily="34" charset="-120"/>
              </a:rPr>
              <a:t>Cancel: Delete in the list, with no confirmation prompt → entry gone → page never went live (M13, M14)</a:t>
            </a:r>
            <a:endParaRPr lang="en-US" sz="1300" dirty="0"/>
          </a:p>
        </p:txBody>
      </p:sp>
      <p:pic>
        <p:nvPicPr>
          <p:cNvPr id="9" name="Image 1" descr="Figure 9: Queue with the pending job">    </p:cNvPr>
          <p:cNvPicPr>
            <a:picLocks noChangeAspect="1"/>
          </p:cNvPicPr>
          <p:nvPr/>
        </p:nvPicPr>
        <p:blipFill>
          <a:blip r:embed="rId2"/>
          <a:stretch>
            <a:fillRect/>
          </a:stretch>
        </p:blipFill>
        <p:spPr>
          <a:xfrm>
            <a:off x="457200" y="3017520"/>
            <a:ext cx="3611880" cy="2375729"/>
          </a:xfrm>
          <a:prstGeom prst="rect">
            <a:avLst/>
          </a:prstGeom>
        </p:spPr>
      </p:pic>
      <p:sp>
        <p:nvSpPr>
          <p:cNvPr id="10" name="Shape 6"/>
          <p:cNvSpPr/>
          <p:nvPr/>
        </p:nvSpPr>
        <p:spPr>
          <a:xfrm>
            <a:off x="457200" y="3017520"/>
            <a:ext cx="3611880" cy="2375729"/>
          </a:xfrm>
          <a:prstGeom prst="rect">
            <a:avLst/>
          </a:prstGeom>
          <a:ln w="9525">
            <a:solidFill>
              <a:srgbClr val="D9D9D9"/>
            </a:solidFill>
            <a:prstDash val="solid"/>
          </a:ln>
        </p:spPr>
      </p:sp>
      <p:sp>
        <p:nvSpPr>
          <p:cNvPr id="11" name="Text 7"/>
          <p:cNvSpPr/>
          <p:nvPr/>
        </p:nvSpPr>
        <p:spPr>
          <a:xfrm>
            <a:off x="457200" y="5420681"/>
            <a:ext cx="3611880" cy="256032"/>
          </a:xfrm>
          <a:prstGeom prst="rect">
            <a:avLst/>
          </a:prstGeom>
          <a:noFill/>
          <a:ln/>
        </p:spPr>
        <p:txBody>
          <a:bodyPr wrap="square" rtlCol="0" anchor="ctr"/>
          <a:lstStyle/>
          <a:p>
            <a:pPr algn="ctr" indent="0" marL="0">
              <a:buNone/>
            </a:pPr>
            <a:r>
              <a:rPr lang="en-US" sz="900" i="1" dirty="0">
                <a:solidFill>
                  <a:srgbClr val="6E6E6E"/>
                </a:solidFill>
                <a:latin typeface="Arial" pitchFamily="34" charset="0"/>
                <a:ea typeface="Arial" pitchFamily="34" charset="-122"/>
                <a:cs typeface="Arial" pitchFamily="34" charset="-120"/>
              </a:rPr>
              <a:t>Figure 9: Queue with the pending job</a:t>
            </a:r>
            <a:endParaRPr lang="en-US" sz="900" dirty="0"/>
          </a:p>
        </p:txBody>
      </p:sp>
      <p:pic>
        <p:nvPicPr>
          <p:cNvPr id="12" name="Image 2" descr="Figure 10: Queue empty after Delete">    </p:cNvPr>
          <p:cNvPicPr>
            <a:picLocks noChangeAspect="1"/>
          </p:cNvPicPr>
          <p:nvPr/>
        </p:nvPicPr>
        <p:blipFill>
          <a:blip r:embed="rId3"/>
          <a:stretch>
            <a:fillRect/>
          </a:stretch>
        </p:blipFill>
        <p:spPr>
          <a:xfrm>
            <a:off x="4279392" y="3017520"/>
            <a:ext cx="3611880" cy="2103412"/>
          </a:xfrm>
          <a:prstGeom prst="rect">
            <a:avLst/>
          </a:prstGeom>
        </p:spPr>
      </p:pic>
      <p:sp>
        <p:nvSpPr>
          <p:cNvPr id="13" name="Shape 8"/>
          <p:cNvSpPr/>
          <p:nvPr/>
        </p:nvSpPr>
        <p:spPr>
          <a:xfrm>
            <a:off x="4279392" y="3017520"/>
            <a:ext cx="3611880" cy="2103412"/>
          </a:xfrm>
          <a:prstGeom prst="rect">
            <a:avLst/>
          </a:prstGeom>
          <a:ln w="9525">
            <a:solidFill>
              <a:srgbClr val="D9D9D9"/>
            </a:solidFill>
            <a:prstDash val="solid"/>
          </a:ln>
        </p:spPr>
      </p:sp>
      <p:sp>
        <p:nvSpPr>
          <p:cNvPr id="14" name="Text 9"/>
          <p:cNvSpPr/>
          <p:nvPr/>
        </p:nvSpPr>
        <p:spPr>
          <a:xfrm>
            <a:off x="4279392" y="5148364"/>
            <a:ext cx="3611880" cy="256032"/>
          </a:xfrm>
          <a:prstGeom prst="rect">
            <a:avLst/>
          </a:prstGeom>
          <a:noFill/>
          <a:ln/>
        </p:spPr>
        <p:txBody>
          <a:bodyPr wrap="square" rtlCol="0" anchor="ctr"/>
          <a:lstStyle/>
          <a:p>
            <a:pPr algn="ctr" indent="0" marL="0">
              <a:buNone/>
            </a:pPr>
            <a:r>
              <a:rPr lang="en-US" sz="900" i="1" dirty="0">
                <a:solidFill>
                  <a:srgbClr val="6E6E6E"/>
                </a:solidFill>
                <a:latin typeface="Arial" pitchFamily="34" charset="0"/>
                <a:ea typeface="Arial" pitchFamily="34" charset="-122"/>
                <a:cs typeface="Arial" pitchFamily="34" charset="-120"/>
              </a:rPr>
              <a:t>Figure 10: Queue empty after Delete</a:t>
            </a:r>
            <a:endParaRPr lang="en-US" sz="900" dirty="0"/>
          </a:p>
        </p:txBody>
      </p:sp>
      <p:pic>
        <p:nvPicPr>
          <p:cNvPr id="15" name="Image 3" descr="Figure 11: Cancelled page still not live (404)">    </p:cNvPr>
          <p:cNvPicPr>
            <a:picLocks noChangeAspect="1"/>
          </p:cNvPicPr>
          <p:nvPr/>
        </p:nvPicPr>
        <p:blipFill>
          <a:blip r:embed="rId4"/>
          <a:stretch>
            <a:fillRect/>
          </a:stretch>
        </p:blipFill>
        <p:spPr>
          <a:xfrm>
            <a:off x="8403024" y="3017520"/>
            <a:ext cx="3009000" cy="2697480"/>
          </a:xfrm>
          <a:prstGeom prst="rect">
            <a:avLst/>
          </a:prstGeom>
        </p:spPr>
      </p:pic>
      <p:sp>
        <p:nvSpPr>
          <p:cNvPr id="16" name="Shape 10"/>
          <p:cNvSpPr/>
          <p:nvPr/>
        </p:nvSpPr>
        <p:spPr>
          <a:xfrm>
            <a:off x="8403024" y="3017520"/>
            <a:ext cx="3009000" cy="2697480"/>
          </a:xfrm>
          <a:prstGeom prst="rect">
            <a:avLst/>
          </a:prstGeom>
          <a:ln w="9525">
            <a:solidFill>
              <a:srgbClr val="D9D9D9"/>
            </a:solidFill>
            <a:prstDash val="solid"/>
          </a:ln>
        </p:spPr>
      </p:sp>
      <p:sp>
        <p:nvSpPr>
          <p:cNvPr id="17" name="Text 11"/>
          <p:cNvSpPr/>
          <p:nvPr/>
        </p:nvSpPr>
        <p:spPr>
          <a:xfrm>
            <a:off x="8101584" y="5742432"/>
            <a:ext cx="3611880" cy="256032"/>
          </a:xfrm>
          <a:prstGeom prst="rect">
            <a:avLst/>
          </a:prstGeom>
          <a:noFill/>
          <a:ln/>
        </p:spPr>
        <p:txBody>
          <a:bodyPr wrap="square" rtlCol="0" anchor="ctr"/>
          <a:lstStyle/>
          <a:p>
            <a:pPr algn="ctr" indent="0" marL="0">
              <a:buNone/>
            </a:pPr>
            <a:r>
              <a:rPr lang="en-US" sz="900" i="1" dirty="0">
                <a:solidFill>
                  <a:srgbClr val="6E6E6E"/>
                </a:solidFill>
                <a:latin typeface="Arial" pitchFamily="34" charset="0"/>
                <a:ea typeface="Arial" pitchFamily="34" charset="-122"/>
                <a:cs typeface="Arial" pitchFamily="34" charset="-120"/>
              </a:rPr>
              <a:t>Figure 11: Cancelled page still not live (404)</a:t>
            </a:r>
            <a:endParaRPr lang="en-US" sz="900" dirty="0"/>
          </a:p>
        </p:txBody>
      </p:sp>
      <p:sp>
        <p:nvSpPr>
          <p:cNvPr id="18" name="Text 12"/>
          <p:cNvSpPr/>
          <p:nvPr/>
        </p:nvSpPr>
        <p:spPr>
          <a:xfrm>
            <a:off x="457200" y="6053328"/>
            <a:ext cx="11247120" cy="292608"/>
          </a:xfrm>
          <a:prstGeom prst="rect">
            <a:avLst/>
          </a:prstGeom>
          <a:noFill/>
          <a:ln/>
        </p:spPr>
        <p:txBody>
          <a:bodyPr wrap="square" rtlCol="0" anchor="ctr"/>
          <a:lstStyle/>
          <a:p>
            <a:pPr indent="0" marL="0">
              <a:buNone/>
            </a:pPr>
            <a:r>
              <a:rPr lang="en-US" sz="1100" b="1" dirty="0">
                <a:solidFill>
                  <a:srgbClr val="EB1000"/>
                </a:solidFill>
                <a:latin typeface="Arial" pitchFamily="34" charset="0"/>
                <a:ea typeface="Arial" pitchFamily="34" charset="-122"/>
                <a:cs typeface="Arial" pitchFamily="34" charset="-120"/>
              </a:rPr>
              <a:t>LIVE  </a:t>
            </a:r>
            <a:pPr indent="0" marL="0">
              <a:buNone/>
            </a:pPr>
            <a:r>
              <a:rPr lang="en-US" sz="1100" dirty="0">
                <a:solidFill>
                  <a:srgbClr val="1473E6"/>
                </a:solidFill>
                <a:latin typeface="Arial" pitchFamily="34" charset="0"/>
                <a:ea typeface="Arial" pitchFamily="34" charset="-122"/>
                <a:cs typeface="Arial" pitchFamily="34" charset="-120"/>
              </a:rPr>
              <a:t>https://da.live/apps/scheduler  (enter /araji-adobe/bv-poc-wknd-aln/)</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Adobe">    </p:cNvPr>
          <p:cNvPicPr>
            <a:picLocks noChangeAspect="1"/>
          </p:cNvPicPr>
          <p:nvPr/>
        </p:nvPicPr>
        <p:blipFill>
          <a:blip r:embed="rId1"/>
          <a:stretch>
            <a:fillRect/>
          </a:stretch>
        </p:blipFill>
        <p:spPr>
          <a:xfrm>
            <a:off x="10588752" y="292608"/>
            <a:ext cx="1133856" cy="274320"/>
          </a:xfrm>
          <a:prstGeom prst="rect">
            <a:avLst/>
          </a:prstGeom>
        </p:spPr>
      </p:pic>
      <p:sp>
        <p:nvSpPr>
          <p:cNvPr id="3" name="Text 0"/>
          <p:cNvSpPr/>
          <p:nvPr/>
        </p:nvSpPr>
        <p:spPr>
          <a:xfrm>
            <a:off x="457200" y="274320"/>
            <a:ext cx="9144000" cy="274320"/>
          </a:xfrm>
          <a:prstGeom prst="rect">
            <a:avLst/>
          </a:prstGeom>
          <a:noFill/>
          <a:ln/>
        </p:spPr>
        <p:txBody>
          <a:bodyPr wrap="square" rtlCol="0" anchor="ctr"/>
          <a:lstStyle/>
          <a:p>
            <a:pPr indent="0" marL="0">
              <a:buNone/>
            </a:pPr>
            <a:r>
              <a:rPr lang="en-US" sz="1100" b="1" spc="100" kern="0" dirty="0">
                <a:solidFill>
                  <a:srgbClr val="EB1000"/>
                </a:solidFill>
                <a:latin typeface="Arial" pitchFamily="34" charset="0"/>
                <a:ea typeface="Arial" pitchFamily="34" charset="-122"/>
                <a:cs typeface="Arial" pitchFamily="34" charset="-120"/>
              </a:rPr>
              <a:t>4 · EMA-ASSISTED SCHEDULED PUBLISHING</a:t>
            </a:r>
            <a:endParaRPr lang="en-US" sz="1100" dirty="0"/>
          </a:p>
        </p:txBody>
      </p:sp>
      <p:sp>
        <p:nvSpPr>
          <p:cNvPr id="4" name="Text 1"/>
          <p:cNvSpPr/>
          <p:nvPr/>
        </p:nvSpPr>
        <p:spPr>
          <a:xfrm>
            <a:off x="457200" y="566928"/>
            <a:ext cx="10241280" cy="640080"/>
          </a:xfrm>
          <a:prstGeom prst="rect">
            <a:avLst/>
          </a:prstGeom>
          <a:noFill/>
          <a:ln/>
        </p:spPr>
        <p:txBody>
          <a:bodyPr wrap="square" rtlCol="0" anchor="ctr"/>
          <a:lstStyle/>
          <a:p>
            <a:pPr indent="0" marL="0">
              <a:buNone/>
            </a:pPr>
            <a:r>
              <a:rPr lang="en-US" sz="2600" b="1" dirty="0">
                <a:solidFill>
                  <a:srgbClr val="2C2C2C"/>
                </a:solidFill>
                <a:latin typeface="Arial" pitchFamily="34" charset="0"/>
                <a:ea typeface="Arial" pitchFamily="34" charset="-122"/>
                <a:cs typeface="Arial" pitchFamily="34" charset="-120"/>
              </a:rPr>
              <a:t>How Ema scheduled the pages (19 Oct)</a:t>
            </a:r>
            <a:endParaRPr lang="en-US" sz="2600" dirty="0"/>
          </a:p>
        </p:txBody>
      </p:sp>
      <p:sp>
        <p:nvSpPr>
          <p:cNvPr id="5" name="Shape 2"/>
          <p:cNvSpPr/>
          <p:nvPr/>
        </p:nvSpPr>
        <p:spPr>
          <a:xfrm>
            <a:off x="457200" y="1243584"/>
            <a:ext cx="1097280" cy="54864"/>
          </a:xfrm>
          <a:prstGeom prst="rect">
            <a:avLst/>
          </a:prstGeom>
          <a:solidFill>
            <a:srgbClr val="EB1000"/>
          </a:solidFill>
          <a:ln w="12700">
            <a:solidFill>
              <a:srgbClr val="EB1000"/>
            </a:solidFill>
            <a:prstDash val="solid"/>
          </a:ln>
        </p:spPr>
      </p:sp>
      <p:sp>
        <p:nvSpPr>
          <p:cNvPr id="6" name="Text 3"/>
          <p:cNvSpPr/>
          <p:nvPr/>
        </p:nvSpPr>
        <p:spPr>
          <a:xfrm>
            <a:off x="457200" y="6446520"/>
            <a:ext cx="7315200" cy="274320"/>
          </a:xfrm>
          <a:prstGeom prst="rect">
            <a:avLst/>
          </a:prstGeom>
          <a:noFill/>
          <a:ln/>
        </p:spPr>
        <p:txBody>
          <a:bodyPr wrap="square" rtlCol="0" anchor="ctr"/>
          <a:lstStyle/>
          <a:p>
            <a:pPr indent="0" marL="0">
              <a:buNone/>
            </a:pPr>
            <a:r>
              <a:rPr lang="en-US" sz="900" dirty="0">
                <a:solidFill>
                  <a:srgbClr val="6E6E6E"/>
                </a:solidFill>
                <a:latin typeface="Arial" pitchFamily="34" charset="0"/>
                <a:ea typeface="Arial" pitchFamily="34" charset="-122"/>
                <a:cs typeface="Arial" pitchFamily="34" charset="-120"/>
              </a:rPr>
              <a:t>© 2026 Adobe. All Rights Reserved. Adobe Confidential.</a:t>
            </a:r>
            <a:endParaRPr lang="en-US" sz="900" dirty="0"/>
          </a:p>
        </p:txBody>
      </p:sp>
      <p:sp>
        <p:nvSpPr>
          <p:cNvPr id="7" name="Text 4"/>
          <p:cNvSpPr/>
          <p:nvPr/>
        </p:nvSpPr>
        <p:spPr>
          <a:xfrm>
            <a:off x="11274552" y="6446520"/>
            <a:ext cx="457200" cy="274320"/>
          </a:xfrm>
          <a:prstGeom prst="rect">
            <a:avLst/>
          </a:prstGeom>
          <a:noFill/>
          <a:ln/>
        </p:spPr>
        <p:txBody>
          <a:bodyPr wrap="square" rtlCol="0" anchor="ctr"/>
          <a:lstStyle/>
          <a:p>
            <a:pPr algn="r" indent="0" marL="0">
              <a:buNone/>
            </a:pPr>
            <a:r>
              <a:rPr lang="en-US" sz="900" dirty="0">
                <a:solidFill>
                  <a:srgbClr val="6E6E6E"/>
                </a:solidFill>
                <a:latin typeface="Arial" pitchFamily="34" charset="0"/>
                <a:ea typeface="Arial" pitchFamily="34" charset="-122"/>
                <a:cs typeface="Arial" pitchFamily="34" charset="-120"/>
              </a:rPr>
              <a:t>8</a:t>
            </a:r>
            <a:endParaRPr lang="en-US" sz="900" dirty="0"/>
          </a:p>
        </p:txBody>
      </p:sp>
      <p:sp>
        <p:nvSpPr>
          <p:cNvPr id="8" name="Shape 5"/>
          <p:cNvSpPr/>
          <p:nvPr/>
        </p:nvSpPr>
        <p:spPr>
          <a:xfrm>
            <a:off x="457200" y="1554480"/>
            <a:ext cx="1417320" cy="548640"/>
          </a:xfrm>
          <a:prstGeom prst="roundRect">
            <a:avLst>
              <a:gd name="adj" fmla="val 13333"/>
            </a:avLst>
          </a:prstGeom>
          <a:solidFill>
            <a:srgbClr val="2C2C2C"/>
          </a:solidFill>
          <a:ln w="12700">
            <a:solidFill>
              <a:srgbClr val="2C2C2C"/>
            </a:solidFill>
            <a:prstDash val="solid"/>
          </a:ln>
        </p:spPr>
      </p:sp>
      <p:sp>
        <p:nvSpPr>
          <p:cNvPr id="9" name="Text 6"/>
          <p:cNvSpPr/>
          <p:nvPr/>
        </p:nvSpPr>
        <p:spPr>
          <a:xfrm>
            <a:off x="457200" y="1554480"/>
            <a:ext cx="1417320" cy="54864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Discover</a:t>
            </a:r>
            <a:endParaRPr lang="en-US" sz="1200" dirty="0"/>
          </a:p>
        </p:txBody>
      </p:sp>
      <p:sp>
        <p:nvSpPr>
          <p:cNvPr id="10" name="Text 7"/>
          <p:cNvSpPr/>
          <p:nvPr/>
        </p:nvSpPr>
        <p:spPr>
          <a:xfrm>
            <a:off x="411480" y="2148840"/>
            <a:ext cx="1508760" cy="640080"/>
          </a:xfrm>
          <a:prstGeom prst="rect">
            <a:avLst/>
          </a:prstGeom>
          <a:noFill/>
          <a:ln/>
        </p:spPr>
        <p:txBody>
          <a:bodyPr wrap="square" rtlCol="0" anchor="t"/>
          <a:lstStyle/>
          <a:p>
            <a:pPr algn="ctr" indent="0" marL="0">
              <a:buNone/>
            </a:pPr>
            <a:r>
              <a:rPr lang="en-US" sz="1000" dirty="0">
                <a:solidFill>
                  <a:srgbClr val="6E6E6E"/>
                </a:solidFill>
                <a:latin typeface="Arial" pitchFamily="34" charset="0"/>
                <a:ea typeface="Arial" pitchFamily="34" charset="-122"/>
                <a:cs typeface="Arial" pitchFamily="34" charset="-120"/>
              </a:rPr>
              <a:t>read-only: 28 pages, status, found the crontab</a:t>
            </a:r>
            <a:endParaRPr lang="en-US" sz="1000" dirty="0"/>
          </a:p>
        </p:txBody>
      </p:sp>
      <p:sp>
        <p:nvSpPr>
          <p:cNvPr id="11" name="Shape 8"/>
          <p:cNvSpPr/>
          <p:nvPr/>
        </p:nvSpPr>
        <p:spPr>
          <a:xfrm>
            <a:off x="1883664" y="1828800"/>
            <a:ext cx="192024" cy="0"/>
          </a:xfrm>
          <a:prstGeom prst="line">
            <a:avLst/>
          </a:prstGeom>
          <a:noFill/>
          <a:ln w="19050">
            <a:solidFill>
              <a:srgbClr val="6E6E6E"/>
            </a:solidFill>
            <a:prstDash val="solid"/>
            <a:tailEnd type="triangle"/>
          </a:ln>
        </p:spPr>
      </p:sp>
      <p:sp>
        <p:nvSpPr>
          <p:cNvPr id="12" name="Shape 9"/>
          <p:cNvSpPr/>
          <p:nvPr/>
        </p:nvSpPr>
        <p:spPr>
          <a:xfrm>
            <a:off x="2084832" y="1554480"/>
            <a:ext cx="1417320" cy="548640"/>
          </a:xfrm>
          <a:prstGeom prst="roundRect">
            <a:avLst>
              <a:gd name="adj" fmla="val 13333"/>
            </a:avLst>
          </a:prstGeom>
          <a:solidFill>
            <a:srgbClr val="2C2C2C"/>
          </a:solidFill>
          <a:ln w="12700">
            <a:solidFill>
              <a:srgbClr val="2C2C2C"/>
            </a:solidFill>
            <a:prstDash val="solid"/>
          </a:ln>
        </p:spPr>
      </p:sp>
      <p:sp>
        <p:nvSpPr>
          <p:cNvPr id="13" name="Text 10"/>
          <p:cNvSpPr/>
          <p:nvPr/>
        </p:nvSpPr>
        <p:spPr>
          <a:xfrm>
            <a:off x="2084832" y="1554480"/>
            <a:ext cx="1417320" cy="54864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Plan</a:t>
            </a:r>
            <a:endParaRPr lang="en-US" sz="1200" dirty="0"/>
          </a:p>
        </p:txBody>
      </p:sp>
      <p:sp>
        <p:nvSpPr>
          <p:cNvPr id="14" name="Text 11"/>
          <p:cNvSpPr/>
          <p:nvPr/>
        </p:nvSpPr>
        <p:spPr>
          <a:xfrm>
            <a:off x="2039112" y="2148840"/>
            <a:ext cx="1508760" cy="640080"/>
          </a:xfrm>
          <a:prstGeom prst="rect">
            <a:avLst/>
          </a:prstGeom>
          <a:noFill/>
          <a:ln/>
        </p:spPr>
        <p:txBody>
          <a:bodyPr wrap="square" rtlCol="0" anchor="t"/>
          <a:lstStyle/>
          <a:p>
            <a:pPr algn="ctr" indent="0" marL="0">
              <a:buNone/>
            </a:pPr>
            <a:r>
              <a:rPr lang="en-US" sz="1000" dirty="0">
                <a:solidFill>
                  <a:srgbClr val="6E6E6E"/>
                </a:solidFill>
                <a:latin typeface="Arial" pitchFamily="34" charset="0"/>
                <a:ea typeface="Arial" pitchFamily="34" charset="-122"/>
                <a:cs typeface="Arial" pitchFamily="34" charset="-120"/>
              </a:rPr>
              <a:t>timed test plan, IST + UTC</a:t>
            </a:r>
            <a:endParaRPr lang="en-US" sz="1000" dirty="0"/>
          </a:p>
        </p:txBody>
      </p:sp>
      <p:sp>
        <p:nvSpPr>
          <p:cNvPr id="15" name="Shape 12"/>
          <p:cNvSpPr/>
          <p:nvPr/>
        </p:nvSpPr>
        <p:spPr>
          <a:xfrm>
            <a:off x="3511296" y="1828800"/>
            <a:ext cx="192024" cy="0"/>
          </a:xfrm>
          <a:prstGeom prst="line">
            <a:avLst/>
          </a:prstGeom>
          <a:noFill/>
          <a:ln w="19050">
            <a:solidFill>
              <a:srgbClr val="6E6E6E"/>
            </a:solidFill>
            <a:prstDash val="solid"/>
            <a:tailEnd type="triangle"/>
          </a:ln>
        </p:spPr>
      </p:sp>
      <p:sp>
        <p:nvSpPr>
          <p:cNvPr id="16" name="Shape 13"/>
          <p:cNvSpPr/>
          <p:nvPr/>
        </p:nvSpPr>
        <p:spPr>
          <a:xfrm>
            <a:off x="3712464" y="1554480"/>
            <a:ext cx="1417320" cy="548640"/>
          </a:xfrm>
          <a:prstGeom prst="roundRect">
            <a:avLst>
              <a:gd name="adj" fmla="val 13333"/>
            </a:avLst>
          </a:prstGeom>
          <a:solidFill>
            <a:srgbClr val="EB1000"/>
          </a:solidFill>
          <a:ln w="12700">
            <a:solidFill>
              <a:srgbClr val="EB1000"/>
            </a:solidFill>
            <a:prstDash val="solid"/>
          </a:ln>
        </p:spPr>
      </p:sp>
      <p:sp>
        <p:nvSpPr>
          <p:cNvPr id="17" name="Text 14"/>
          <p:cNvSpPr/>
          <p:nvPr/>
        </p:nvSpPr>
        <p:spPr>
          <a:xfrm>
            <a:off x="3712464" y="1554480"/>
            <a:ext cx="1417320" cy="54864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Approve</a:t>
            </a:r>
            <a:endParaRPr lang="en-US" sz="1200" dirty="0"/>
          </a:p>
        </p:txBody>
      </p:sp>
      <p:sp>
        <p:nvSpPr>
          <p:cNvPr id="18" name="Text 15"/>
          <p:cNvSpPr/>
          <p:nvPr/>
        </p:nvSpPr>
        <p:spPr>
          <a:xfrm>
            <a:off x="3666744" y="2148840"/>
            <a:ext cx="1508760" cy="640080"/>
          </a:xfrm>
          <a:prstGeom prst="rect">
            <a:avLst/>
          </a:prstGeom>
          <a:noFill/>
          <a:ln/>
        </p:spPr>
        <p:txBody>
          <a:bodyPr wrap="square" rtlCol="0" anchor="t"/>
          <a:lstStyle/>
          <a:p>
            <a:pPr algn="ctr" indent="0" marL="0">
              <a:buNone/>
            </a:pPr>
            <a:r>
              <a:rPr lang="en-US" sz="1000" dirty="0">
                <a:solidFill>
                  <a:srgbClr val="6E6E6E"/>
                </a:solidFill>
                <a:latin typeface="Arial" pitchFamily="34" charset="0"/>
                <a:ea typeface="Arial" pitchFamily="34" charset="-122"/>
                <a:cs typeface="Arial" pitchFamily="34" charset="-120"/>
              </a:rPr>
              <a:t>user approves every change</a:t>
            </a:r>
            <a:endParaRPr lang="en-US" sz="1000" dirty="0"/>
          </a:p>
        </p:txBody>
      </p:sp>
      <p:sp>
        <p:nvSpPr>
          <p:cNvPr id="19" name="Shape 16"/>
          <p:cNvSpPr/>
          <p:nvPr/>
        </p:nvSpPr>
        <p:spPr>
          <a:xfrm>
            <a:off x="5138928" y="1828800"/>
            <a:ext cx="192024" cy="0"/>
          </a:xfrm>
          <a:prstGeom prst="line">
            <a:avLst/>
          </a:prstGeom>
          <a:noFill/>
          <a:ln w="19050">
            <a:solidFill>
              <a:srgbClr val="6E6E6E"/>
            </a:solidFill>
            <a:prstDash val="solid"/>
            <a:tailEnd type="triangle"/>
          </a:ln>
        </p:spPr>
      </p:sp>
      <p:sp>
        <p:nvSpPr>
          <p:cNvPr id="20" name="Shape 17"/>
          <p:cNvSpPr/>
          <p:nvPr/>
        </p:nvSpPr>
        <p:spPr>
          <a:xfrm>
            <a:off x="5340096" y="1554480"/>
            <a:ext cx="1417320" cy="548640"/>
          </a:xfrm>
          <a:prstGeom prst="roundRect">
            <a:avLst>
              <a:gd name="adj" fmla="val 13333"/>
            </a:avLst>
          </a:prstGeom>
          <a:solidFill>
            <a:srgbClr val="2C2C2C"/>
          </a:solidFill>
          <a:ln w="12700">
            <a:solidFill>
              <a:srgbClr val="2C2C2C"/>
            </a:solidFill>
            <a:prstDash val="solid"/>
          </a:ln>
        </p:spPr>
      </p:sp>
      <p:sp>
        <p:nvSpPr>
          <p:cNvPr id="21" name="Text 18"/>
          <p:cNvSpPr/>
          <p:nvPr/>
        </p:nvSpPr>
        <p:spPr>
          <a:xfrm>
            <a:off x="5340096" y="1554480"/>
            <a:ext cx="1417320" cy="54864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Write</a:t>
            </a:r>
            <a:endParaRPr lang="en-US" sz="1200" dirty="0"/>
          </a:p>
        </p:txBody>
      </p:sp>
      <p:sp>
        <p:nvSpPr>
          <p:cNvPr id="22" name="Text 19"/>
          <p:cNvSpPr/>
          <p:nvPr/>
        </p:nvSpPr>
        <p:spPr>
          <a:xfrm>
            <a:off x="5294376" y="2148840"/>
            <a:ext cx="1508760" cy="640080"/>
          </a:xfrm>
          <a:prstGeom prst="rect">
            <a:avLst/>
          </a:prstGeom>
          <a:noFill/>
          <a:ln/>
        </p:spPr>
        <p:txBody>
          <a:bodyPr wrap="square" rtlCol="0" anchor="t"/>
          <a:lstStyle/>
          <a:p>
            <a:pPr algn="ctr" indent="0" marL="0">
              <a:buNone/>
            </a:pPr>
            <a:r>
              <a:rPr lang="en-US" sz="1000" dirty="0">
                <a:solidFill>
                  <a:srgbClr val="6E6E6E"/>
                </a:solidFill>
                <a:latin typeface="Arial" pitchFamily="34" charset="0"/>
                <a:ea typeface="Arial" pitchFamily="34" charset="-122"/>
                <a:cs typeface="Arial" pitchFamily="34" charset="-120"/>
              </a:rPr>
              <a:t>crontab rows via DA API</a:t>
            </a:r>
            <a:endParaRPr lang="en-US" sz="1000" dirty="0"/>
          </a:p>
        </p:txBody>
      </p:sp>
      <p:sp>
        <p:nvSpPr>
          <p:cNvPr id="23" name="Shape 20"/>
          <p:cNvSpPr/>
          <p:nvPr/>
        </p:nvSpPr>
        <p:spPr>
          <a:xfrm>
            <a:off x="6766560" y="1828800"/>
            <a:ext cx="192024" cy="0"/>
          </a:xfrm>
          <a:prstGeom prst="line">
            <a:avLst/>
          </a:prstGeom>
          <a:noFill/>
          <a:ln w="19050">
            <a:solidFill>
              <a:srgbClr val="6E6E6E"/>
            </a:solidFill>
            <a:prstDash val="solid"/>
            <a:tailEnd type="triangle"/>
          </a:ln>
        </p:spPr>
      </p:sp>
      <p:sp>
        <p:nvSpPr>
          <p:cNvPr id="24" name="Shape 21"/>
          <p:cNvSpPr/>
          <p:nvPr/>
        </p:nvSpPr>
        <p:spPr>
          <a:xfrm>
            <a:off x="6967728" y="1554480"/>
            <a:ext cx="1417320" cy="548640"/>
          </a:xfrm>
          <a:prstGeom prst="roundRect">
            <a:avLst>
              <a:gd name="adj" fmla="val 13333"/>
            </a:avLst>
          </a:prstGeom>
          <a:solidFill>
            <a:srgbClr val="2C2C2C"/>
          </a:solidFill>
          <a:ln w="12700">
            <a:solidFill>
              <a:srgbClr val="2C2C2C"/>
            </a:solidFill>
            <a:prstDash val="solid"/>
          </a:ln>
        </p:spPr>
      </p:sp>
      <p:sp>
        <p:nvSpPr>
          <p:cNvPr id="25" name="Text 22"/>
          <p:cNvSpPr/>
          <p:nvPr/>
        </p:nvSpPr>
        <p:spPr>
          <a:xfrm>
            <a:off x="6967728" y="1554480"/>
            <a:ext cx="1417320" cy="54864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Activate</a:t>
            </a:r>
            <a:endParaRPr lang="en-US" sz="1200" dirty="0"/>
          </a:p>
        </p:txBody>
      </p:sp>
      <p:sp>
        <p:nvSpPr>
          <p:cNvPr id="26" name="Text 23"/>
          <p:cNvSpPr/>
          <p:nvPr/>
        </p:nvSpPr>
        <p:spPr>
          <a:xfrm>
            <a:off x="6922008" y="2148840"/>
            <a:ext cx="1508760" cy="640080"/>
          </a:xfrm>
          <a:prstGeom prst="rect">
            <a:avLst/>
          </a:prstGeom>
          <a:noFill/>
          <a:ln/>
        </p:spPr>
        <p:txBody>
          <a:bodyPr wrap="square" rtlCol="0" anchor="t"/>
          <a:lstStyle/>
          <a:p>
            <a:pPr algn="ctr" indent="0" marL="0">
              <a:buNone/>
            </a:pPr>
            <a:r>
              <a:rPr lang="en-US" sz="1000" dirty="0">
                <a:solidFill>
                  <a:srgbClr val="6E6E6E"/>
                </a:solidFill>
                <a:latin typeface="Arial" pitchFamily="34" charset="0"/>
                <a:ea typeface="Arial" pitchFamily="34" charset="-122"/>
                <a:cs typeface="Arial" pitchFamily="34" charset="-120"/>
              </a:rPr>
              <a:t>preview the sheet</a:t>
            </a:r>
            <a:endParaRPr lang="en-US" sz="1000" dirty="0"/>
          </a:p>
        </p:txBody>
      </p:sp>
      <p:sp>
        <p:nvSpPr>
          <p:cNvPr id="27" name="Shape 24"/>
          <p:cNvSpPr/>
          <p:nvPr/>
        </p:nvSpPr>
        <p:spPr>
          <a:xfrm>
            <a:off x="8394192" y="1828800"/>
            <a:ext cx="192024" cy="0"/>
          </a:xfrm>
          <a:prstGeom prst="line">
            <a:avLst/>
          </a:prstGeom>
          <a:noFill/>
          <a:ln w="19050">
            <a:solidFill>
              <a:srgbClr val="6E6E6E"/>
            </a:solidFill>
            <a:prstDash val="solid"/>
            <a:tailEnd type="triangle"/>
          </a:ln>
        </p:spPr>
      </p:sp>
      <p:sp>
        <p:nvSpPr>
          <p:cNvPr id="28" name="Shape 25"/>
          <p:cNvSpPr/>
          <p:nvPr/>
        </p:nvSpPr>
        <p:spPr>
          <a:xfrm>
            <a:off x="8595360" y="1554480"/>
            <a:ext cx="1417320" cy="548640"/>
          </a:xfrm>
          <a:prstGeom prst="roundRect">
            <a:avLst>
              <a:gd name="adj" fmla="val 13333"/>
            </a:avLst>
          </a:prstGeom>
          <a:solidFill>
            <a:srgbClr val="2C2C2C"/>
          </a:solidFill>
          <a:ln w="12700">
            <a:solidFill>
              <a:srgbClr val="2C2C2C"/>
            </a:solidFill>
            <a:prstDash val="solid"/>
          </a:ln>
        </p:spPr>
      </p:sp>
      <p:sp>
        <p:nvSpPr>
          <p:cNvPr id="29" name="Text 26"/>
          <p:cNvSpPr/>
          <p:nvPr/>
        </p:nvSpPr>
        <p:spPr>
          <a:xfrm>
            <a:off x="8595360" y="1554480"/>
            <a:ext cx="1417320" cy="54864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Verify</a:t>
            </a:r>
            <a:endParaRPr lang="en-US" sz="1200" dirty="0"/>
          </a:p>
        </p:txBody>
      </p:sp>
      <p:sp>
        <p:nvSpPr>
          <p:cNvPr id="30" name="Text 27"/>
          <p:cNvSpPr/>
          <p:nvPr/>
        </p:nvSpPr>
        <p:spPr>
          <a:xfrm>
            <a:off x="8549640" y="2148840"/>
            <a:ext cx="1508760" cy="640080"/>
          </a:xfrm>
          <a:prstGeom prst="rect">
            <a:avLst/>
          </a:prstGeom>
          <a:noFill/>
          <a:ln/>
        </p:spPr>
        <p:txBody>
          <a:bodyPr wrap="square" rtlCol="0" anchor="t"/>
          <a:lstStyle/>
          <a:p>
            <a:pPr algn="ctr" indent="0" marL="0">
              <a:buNone/>
            </a:pPr>
            <a:r>
              <a:rPr lang="en-US" sz="1000" dirty="0">
                <a:solidFill>
                  <a:srgbClr val="6E6E6E"/>
                </a:solidFill>
                <a:latin typeface="Arial" pitchFamily="34" charset="0"/>
                <a:ea typeface="Arial" pitchFamily="34" charset="-122"/>
                <a:cs typeface="Arial" pitchFamily="34" charset="-120"/>
              </a:rPr>
              <a:t>status + audit-log polling</a:t>
            </a:r>
            <a:endParaRPr lang="en-US" sz="1000" dirty="0"/>
          </a:p>
        </p:txBody>
      </p:sp>
      <p:sp>
        <p:nvSpPr>
          <p:cNvPr id="31" name="Shape 28"/>
          <p:cNvSpPr/>
          <p:nvPr/>
        </p:nvSpPr>
        <p:spPr>
          <a:xfrm>
            <a:off x="10021824" y="1828800"/>
            <a:ext cx="192024" cy="0"/>
          </a:xfrm>
          <a:prstGeom prst="line">
            <a:avLst/>
          </a:prstGeom>
          <a:noFill/>
          <a:ln w="19050">
            <a:solidFill>
              <a:srgbClr val="6E6E6E"/>
            </a:solidFill>
            <a:prstDash val="solid"/>
            <a:tailEnd type="triangle"/>
          </a:ln>
        </p:spPr>
      </p:sp>
      <p:sp>
        <p:nvSpPr>
          <p:cNvPr id="32" name="Shape 29"/>
          <p:cNvSpPr/>
          <p:nvPr/>
        </p:nvSpPr>
        <p:spPr>
          <a:xfrm>
            <a:off x="10222992" y="1554480"/>
            <a:ext cx="1417320" cy="548640"/>
          </a:xfrm>
          <a:prstGeom prst="roundRect">
            <a:avLst>
              <a:gd name="adj" fmla="val 13333"/>
            </a:avLst>
          </a:prstGeom>
          <a:solidFill>
            <a:srgbClr val="2C2C2C"/>
          </a:solidFill>
          <a:ln w="12700">
            <a:solidFill>
              <a:srgbClr val="2C2C2C"/>
            </a:solidFill>
            <a:prstDash val="solid"/>
          </a:ln>
        </p:spPr>
      </p:sp>
      <p:sp>
        <p:nvSpPr>
          <p:cNvPr id="33" name="Text 30"/>
          <p:cNvSpPr/>
          <p:nvPr/>
        </p:nvSpPr>
        <p:spPr>
          <a:xfrm>
            <a:off x="10222992" y="1554480"/>
            <a:ext cx="1417320" cy="548640"/>
          </a:xfrm>
          <a:prstGeom prst="rect">
            <a:avLst/>
          </a:prstGeom>
          <a:noFill/>
          <a:ln/>
        </p:spPr>
        <p:txBody>
          <a:bodyPr wrap="square"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Report</a:t>
            </a:r>
            <a:endParaRPr lang="en-US" sz="1200" dirty="0"/>
          </a:p>
        </p:txBody>
      </p:sp>
      <p:sp>
        <p:nvSpPr>
          <p:cNvPr id="34" name="Text 31"/>
          <p:cNvSpPr/>
          <p:nvPr/>
        </p:nvSpPr>
        <p:spPr>
          <a:xfrm>
            <a:off x="10177272" y="2148840"/>
            <a:ext cx="1508760" cy="640080"/>
          </a:xfrm>
          <a:prstGeom prst="rect">
            <a:avLst/>
          </a:prstGeom>
          <a:noFill/>
          <a:ln/>
        </p:spPr>
        <p:txBody>
          <a:bodyPr wrap="square" rtlCol="0" anchor="t"/>
          <a:lstStyle/>
          <a:p>
            <a:pPr algn="ctr" indent="0" marL="0">
              <a:buNone/>
            </a:pPr>
            <a:r>
              <a:rPr lang="en-US" sz="1000" dirty="0">
                <a:solidFill>
                  <a:srgbClr val="6E6E6E"/>
                </a:solidFill>
                <a:latin typeface="Arial" pitchFamily="34" charset="0"/>
                <a:ea typeface="Arial" pitchFamily="34" charset="-122"/>
                <a:cs typeface="Arial" pitchFamily="34" charset="-120"/>
              </a:rPr>
              <a:t>evidence workbook</a:t>
            </a:r>
            <a:endParaRPr lang="en-US" sz="1000" dirty="0"/>
          </a:p>
        </p:txBody>
      </p:sp>
      <p:sp>
        <p:nvSpPr>
          <p:cNvPr id="35" name="Text 32"/>
          <p:cNvSpPr/>
          <p:nvPr/>
        </p:nvSpPr>
        <p:spPr>
          <a:xfrm>
            <a:off x="457200" y="2971800"/>
            <a:ext cx="6766560" cy="2926080"/>
          </a:xfrm>
          <a:prstGeom prst="rect">
            <a:avLst/>
          </a:prstGeom>
          <a:noFill/>
          <a:ln/>
        </p:spPr>
        <p:txBody>
          <a:bodyPr wrap="square" rtlCol="0" anchor="t"/>
          <a:lstStyle/>
          <a:p>
            <a:pPr marL="177800" indent="-177800">
              <a:spcAft>
                <a:spcPts val="400"/>
              </a:spcAft>
              <a:buSzPct val="100000"/>
              <a:buChar char="■"/>
            </a:pPr>
            <a:r>
              <a:rPr lang="en-US" sz="1300" b="1" dirty="0">
                <a:solidFill>
                  <a:srgbClr val="2C2C2C"/>
                </a:solidFill>
                <a:latin typeface="Arial" pitchFamily="34" charset="0"/>
                <a:ea typeface="Arial" pitchFamily="34" charset="-122"/>
                <a:cs typeface="Arial" pitchFamily="34" charset="-120"/>
              </a:rPr>
              <a:t>Interaction flow: reconstructed from the 19 Oct test log (the original prompt was not retained)</a:t>
            </a:r>
            <a:endParaRPr lang="en-US" sz="1300" dirty="0"/>
          </a:p>
          <a:p>
            <a:pPr lvl="1" marL="457200" indent="-228600">
              <a:spcAft>
                <a:spcPts val="400"/>
              </a:spcAft>
              <a:buSzPct val="100000"/>
              <a:buChar char="•"/>
            </a:pPr>
            <a:r>
              <a:rPr lang="en-US" sz="1300" dirty="0">
                <a:solidFill>
                  <a:srgbClr val="2C2C2C"/>
                </a:solidFill>
                <a:latin typeface="Arial" pitchFamily="34" charset="0"/>
                <a:ea typeface="Arial" pitchFamily="34" charset="-122"/>
                <a:cs typeface="Arial" pitchFamily="34" charset="-120"/>
              </a:rPr>
              <a:t>20 recorded user entries (plan approval, page choices, per-task approvals, "wait for check") and 24 recorded Ema actions</a:t>
            </a:r>
            <a:endParaRPr lang="en-US" sz="1300" dirty="0"/>
          </a:p>
          <a:p>
            <a:pPr marL="177800" indent="-177800">
              <a:spcAft>
                <a:spcPts val="400"/>
              </a:spcAft>
              <a:buSzPct val="100000"/>
              <a:buChar char="■"/>
            </a:pPr>
            <a:r>
              <a:rPr lang="en-US" sz="1300" b="1" dirty="0">
                <a:solidFill>
                  <a:srgbClr val="2C2C2C"/>
                </a:solidFill>
                <a:latin typeface="Arial" pitchFamily="34" charset="0"/>
                <a:ea typeface="Arial" pitchFamily="34" charset="-122"/>
                <a:cs typeface="Arial" pitchFamily="34" charset="-120"/>
              </a:rPr>
              <a:t>Ema never published directly: every go-live came from the scheduler</a:t>
            </a:r>
            <a:endParaRPr lang="en-US" sz="1300" dirty="0"/>
          </a:p>
          <a:p>
            <a:pPr lvl="1" marL="457200" indent="-228600">
              <a:spcAft>
                <a:spcPts val="400"/>
              </a:spcAft>
              <a:buSzPct val="100000"/>
              <a:buChar char="•"/>
            </a:pPr>
            <a:r>
              <a:rPr lang="en-US" sz="1300" dirty="0">
                <a:solidFill>
                  <a:srgbClr val="2D9D78"/>
                </a:solidFill>
                <a:latin typeface="Arial" pitchFamily="34" charset="0"/>
                <a:ea typeface="Arial" pitchFamily="34" charset="-122"/>
                <a:cs typeface="Arial" pitchFamily="34" charset="-120"/>
              </a:rPr>
              <a:t>Audit log: only sheet previews (user account) and system indexing entries; no direct publish calls. Tested</a:t>
            </a:r>
            <a:endParaRPr lang="en-US" sz="1300" dirty="0"/>
          </a:p>
          <a:p>
            <a:pPr marL="177800" indent="-177800">
              <a:spcAft>
                <a:spcPts val="400"/>
              </a:spcAft>
              <a:buSzPct val="100000"/>
              <a:buChar char="■"/>
            </a:pPr>
            <a:r>
              <a:rPr lang="en-US" sz="1300" b="1" dirty="0">
                <a:solidFill>
                  <a:srgbClr val="2C2C2C"/>
                </a:solidFill>
                <a:latin typeface="Arial" pitchFamily="34" charset="0"/>
                <a:ea typeface="Arial" pitchFamily="34" charset="-122"/>
                <a:cs typeface="Arial" pitchFamily="34" charset="-120"/>
              </a:rPr>
              <a:t>Mechanism: schedule sheet /.helix/crontab (UTC, 5-minute ticks), not the editor plugin</a:t>
            </a:r>
            <a:endParaRPr lang="en-US" sz="1300" dirty="0"/>
          </a:p>
        </p:txBody>
      </p:sp>
      <p:pic>
        <p:nvPicPr>
          <p:cNvPr id="36" name="Image 1" descr="Figure 12: Schedule sheet with Ema's 5 rows">    </p:cNvPr>
          <p:cNvPicPr>
            <a:picLocks noChangeAspect="1"/>
          </p:cNvPicPr>
          <p:nvPr/>
        </p:nvPicPr>
        <p:blipFill>
          <a:blip r:embed="rId2"/>
          <a:stretch>
            <a:fillRect/>
          </a:stretch>
        </p:blipFill>
        <p:spPr>
          <a:xfrm>
            <a:off x="7863514" y="2926080"/>
            <a:ext cx="3612532" cy="2788920"/>
          </a:xfrm>
          <a:prstGeom prst="rect">
            <a:avLst/>
          </a:prstGeom>
        </p:spPr>
      </p:pic>
      <p:sp>
        <p:nvSpPr>
          <p:cNvPr id="37" name="Shape 33"/>
          <p:cNvSpPr/>
          <p:nvPr/>
        </p:nvSpPr>
        <p:spPr>
          <a:xfrm>
            <a:off x="7863514" y="2926080"/>
            <a:ext cx="3612532" cy="2788920"/>
          </a:xfrm>
          <a:prstGeom prst="rect">
            <a:avLst/>
          </a:prstGeom>
          <a:ln w="9525">
            <a:solidFill>
              <a:srgbClr val="D9D9D9"/>
            </a:solidFill>
            <a:prstDash val="solid"/>
          </a:ln>
        </p:spPr>
      </p:sp>
      <p:sp>
        <p:nvSpPr>
          <p:cNvPr id="38" name="Text 34"/>
          <p:cNvSpPr/>
          <p:nvPr/>
        </p:nvSpPr>
        <p:spPr>
          <a:xfrm>
            <a:off x="7589520" y="5742432"/>
            <a:ext cx="4160520" cy="256032"/>
          </a:xfrm>
          <a:prstGeom prst="rect">
            <a:avLst/>
          </a:prstGeom>
          <a:noFill/>
          <a:ln/>
        </p:spPr>
        <p:txBody>
          <a:bodyPr wrap="square" rtlCol="0" anchor="ctr"/>
          <a:lstStyle/>
          <a:p>
            <a:pPr algn="ctr" indent="0" marL="0">
              <a:buNone/>
            </a:pPr>
            <a:r>
              <a:rPr lang="en-US" sz="900" i="1" dirty="0">
                <a:solidFill>
                  <a:srgbClr val="6E6E6E"/>
                </a:solidFill>
                <a:latin typeface="Arial" pitchFamily="34" charset="0"/>
                <a:ea typeface="Arial" pitchFamily="34" charset="-122"/>
                <a:cs typeface="Arial" pitchFamily="34" charset="-120"/>
              </a:rPr>
              <a:t>Figure 12: Schedule sheet with Ema's 5 rows</a:t>
            </a:r>
            <a:endParaRPr lang="en-US" sz="900" dirty="0"/>
          </a:p>
        </p:txBody>
      </p:sp>
      <p:sp>
        <p:nvSpPr>
          <p:cNvPr id="39" name="Text 35"/>
          <p:cNvSpPr/>
          <p:nvPr/>
        </p:nvSpPr>
        <p:spPr>
          <a:xfrm>
            <a:off x="457200" y="6053328"/>
            <a:ext cx="11247120" cy="292608"/>
          </a:xfrm>
          <a:prstGeom prst="rect">
            <a:avLst/>
          </a:prstGeom>
          <a:noFill/>
          <a:ln/>
        </p:spPr>
        <p:txBody>
          <a:bodyPr wrap="square" rtlCol="0" anchor="ctr"/>
          <a:lstStyle/>
          <a:p>
            <a:pPr indent="0" marL="0">
              <a:buNone/>
            </a:pPr>
            <a:r>
              <a:rPr lang="en-US" sz="1100" b="1" dirty="0">
                <a:solidFill>
                  <a:srgbClr val="EB1000"/>
                </a:solidFill>
                <a:latin typeface="Arial" pitchFamily="34" charset="0"/>
                <a:ea typeface="Arial" pitchFamily="34" charset="-122"/>
                <a:cs typeface="Arial" pitchFamily="34" charset="-120"/>
              </a:rPr>
              <a:t>LIVE  </a:t>
            </a:r>
            <a:pPr indent="0" marL="0">
              <a:buNone/>
            </a:pPr>
            <a:r>
              <a:rPr lang="en-US" sz="1100" dirty="0">
                <a:solidFill>
                  <a:srgbClr val="1473E6"/>
                </a:solidFill>
                <a:latin typeface="Arial" pitchFamily="34" charset="0"/>
                <a:ea typeface="Arial" pitchFamily="34" charset="-122"/>
                <a:cs typeface="Arial" pitchFamily="34" charset="-120"/>
              </a:rPr>
              <a:t>https://da.live/sheet#/araji-adobe/bv-poc-wknd-aln/.helix/crontab</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Adobe">    </p:cNvPr>
          <p:cNvPicPr>
            <a:picLocks noChangeAspect="1"/>
          </p:cNvPicPr>
          <p:nvPr/>
        </p:nvPicPr>
        <p:blipFill>
          <a:blip r:embed="rId1"/>
          <a:stretch>
            <a:fillRect/>
          </a:stretch>
        </p:blipFill>
        <p:spPr>
          <a:xfrm>
            <a:off x="10588752" y="292608"/>
            <a:ext cx="1133856" cy="274320"/>
          </a:xfrm>
          <a:prstGeom prst="rect">
            <a:avLst/>
          </a:prstGeom>
        </p:spPr>
      </p:pic>
      <p:sp>
        <p:nvSpPr>
          <p:cNvPr id="3" name="Text 0"/>
          <p:cNvSpPr/>
          <p:nvPr/>
        </p:nvSpPr>
        <p:spPr>
          <a:xfrm>
            <a:off x="457200" y="274320"/>
            <a:ext cx="9144000" cy="274320"/>
          </a:xfrm>
          <a:prstGeom prst="rect">
            <a:avLst/>
          </a:prstGeom>
          <a:noFill/>
          <a:ln/>
        </p:spPr>
        <p:txBody>
          <a:bodyPr wrap="square" rtlCol="0" anchor="ctr"/>
          <a:lstStyle/>
          <a:p>
            <a:pPr indent="0" marL="0">
              <a:buNone/>
            </a:pPr>
            <a:r>
              <a:rPr lang="en-US" sz="1100" b="1" spc="100" kern="0" dirty="0">
                <a:solidFill>
                  <a:srgbClr val="EB1000"/>
                </a:solidFill>
                <a:latin typeface="Arial" pitchFamily="34" charset="0"/>
                <a:ea typeface="Arial" pitchFamily="34" charset="-122"/>
                <a:cs typeface="Arial" pitchFamily="34" charset="-120"/>
              </a:rPr>
              <a:t>4 · EMA-ASSISTED SCHEDULED PUBLISHING</a:t>
            </a:r>
            <a:endParaRPr lang="en-US" sz="1100" dirty="0"/>
          </a:p>
        </p:txBody>
      </p:sp>
      <p:sp>
        <p:nvSpPr>
          <p:cNvPr id="4" name="Text 1"/>
          <p:cNvSpPr/>
          <p:nvPr/>
        </p:nvSpPr>
        <p:spPr>
          <a:xfrm>
            <a:off x="457200" y="566928"/>
            <a:ext cx="10241280" cy="640080"/>
          </a:xfrm>
          <a:prstGeom prst="rect">
            <a:avLst/>
          </a:prstGeom>
          <a:noFill/>
          <a:ln/>
        </p:spPr>
        <p:txBody>
          <a:bodyPr wrap="square" rtlCol="0" anchor="ctr"/>
          <a:lstStyle/>
          <a:p>
            <a:pPr indent="0" marL="0">
              <a:buNone/>
            </a:pPr>
            <a:r>
              <a:rPr lang="en-US" sz="2600" b="1" dirty="0">
                <a:solidFill>
                  <a:srgbClr val="2C2C2C"/>
                </a:solidFill>
                <a:latin typeface="Arial" pitchFamily="34" charset="0"/>
                <a:ea typeface="Arial" pitchFamily="34" charset="-122"/>
                <a:cs typeface="Arial" pitchFamily="34" charset="-120"/>
              </a:rPr>
              <a:t>Results: 5 of 5 tasks passed</a:t>
            </a:r>
            <a:endParaRPr lang="en-US" sz="2600" dirty="0"/>
          </a:p>
        </p:txBody>
      </p:sp>
      <p:sp>
        <p:nvSpPr>
          <p:cNvPr id="5" name="Shape 2"/>
          <p:cNvSpPr/>
          <p:nvPr/>
        </p:nvSpPr>
        <p:spPr>
          <a:xfrm>
            <a:off x="457200" y="1243584"/>
            <a:ext cx="1097280" cy="54864"/>
          </a:xfrm>
          <a:prstGeom prst="rect">
            <a:avLst/>
          </a:prstGeom>
          <a:solidFill>
            <a:srgbClr val="EB1000"/>
          </a:solidFill>
          <a:ln w="12700">
            <a:solidFill>
              <a:srgbClr val="EB1000"/>
            </a:solidFill>
            <a:prstDash val="solid"/>
          </a:ln>
        </p:spPr>
      </p:sp>
      <p:sp>
        <p:nvSpPr>
          <p:cNvPr id="6" name="Text 3"/>
          <p:cNvSpPr/>
          <p:nvPr/>
        </p:nvSpPr>
        <p:spPr>
          <a:xfrm>
            <a:off x="457200" y="6446520"/>
            <a:ext cx="7315200" cy="274320"/>
          </a:xfrm>
          <a:prstGeom prst="rect">
            <a:avLst/>
          </a:prstGeom>
          <a:noFill/>
          <a:ln/>
        </p:spPr>
        <p:txBody>
          <a:bodyPr wrap="square" rtlCol="0" anchor="ctr"/>
          <a:lstStyle/>
          <a:p>
            <a:pPr indent="0" marL="0">
              <a:buNone/>
            </a:pPr>
            <a:r>
              <a:rPr lang="en-US" sz="900" dirty="0">
                <a:solidFill>
                  <a:srgbClr val="6E6E6E"/>
                </a:solidFill>
                <a:latin typeface="Arial" pitchFamily="34" charset="0"/>
                <a:ea typeface="Arial" pitchFamily="34" charset="-122"/>
                <a:cs typeface="Arial" pitchFamily="34" charset="-120"/>
              </a:rPr>
              <a:t>© 2026 Adobe. All Rights Reserved. Adobe Confidential.</a:t>
            </a:r>
            <a:endParaRPr lang="en-US" sz="900" dirty="0"/>
          </a:p>
        </p:txBody>
      </p:sp>
      <p:sp>
        <p:nvSpPr>
          <p:cNvPr id="7" name="Text 4"/>
          <p:cNvSpPr/>
          <p:nvPr/>
        </p:nvSpPr>
        <p:spPr>
          <a:xfrm>
            <a:off x="11274552" y="6446520"/>
            <a:ext cx="457200" cy="274320"/>
          </a:xfrm>
          <a:prstGeom prst="rect">
            <a:avLst/>
          </a:prstGeom>
          <a:noFill/>
          <a:ln/>
        </p:spPr>
        <p:txBody>
          <a:bodyPr wrap="square" rtlCol="0" anchor="ctr"/>
          <a:lstStyle/>
          <a:p>
            <a:pPr algn="r" indent="0" marL="0">
              <a:buNone/>
            </a:pPr>
            <a:r>
              <a:rPr lang="en-US" sz="900" dirty="0">
                <a:solidFill>
                  <a:srgbClr val="6E6E6E"/>
                </a:solidFill>
                <a:latin typeface="Arial" pitchFamily="34" charset="0"/>
                <a:ea typeface="Arial" pitchFamily="34" charset="-122"/>
                <a:cs typeface="Arial" pitchFamily="34" charset="-120"/>
              </a:rPr>
              <a:t>9</a:t>
            </a:r>
            <a:endParaRPr lang="en-US" sz="9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11247120" cy="914400"/>
        </p:xfrm>
        <a:graphic>
          <a:graphicData uri="http://schemas.openxmlformats.org/drawingml/2006/table">
            <a:tbl>
              <a:tblPr/>
              <a:tblGrid>
                <a:gridCol w="2560320"/>
                <a:gridCol w="3291840"/>
                <a:gridCol w="2377440"/>
                <a:gridCol w="3017520"/>
              </a:tblGrid>
              <a:tr h="0">
                <a:tc>
                  <a:txBody>
                    <a:bodyPr/>
                    <a:lstStyle/>
                    <a:p>
                      <a:pPr indent="0" marL="0">
                        <a:buNone/>
                      </a:pPr>
                      <a:r>
                        <a:rPr lang="en-US" sz="1300" b="1" dirty="0">
                          <a:solidFill>
                            <a:srgbClr val="FFFFFF"/>
                          </a:solidFill>
                          <a:latin typeface="Arial" pitchFamily="34" charset="0"/>
                          <a:ea typeface="Arial" pitchFamily="34" charset="-122"/>
                          <a:cs typeface="Arial" pitchFamily="34" charset="-120"/>
                        </a:rPr>
                        <a:t>Test</a:t>
                      </a:r>
                      <a:endParaRPr lang="en-US" sz="13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Page(s)</a:t>
                      </a:r>
                      <a:endParaRPr lang="en-US" sz="13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Plan (IST, 19 Oct)</a:t>
                      </a:r>
                      <a:endParaRPr lang="en-US" sz="13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Result</a:t>
                      </a:r>
                      <a:endParaRPr lang="en-US" sz="13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r>
              <a:tr h="0">
                <a:tc>
                  <a:txBody>
                    <a:bodyPr/>
                    <a:lstStyle/>
                    <a:p>
                      <a:pPr indent="0" marL="0">
                        <a:buNone/>
                      </a:pPr>
                      <a:r>
                        <a:rPr lang="en-US" sz="1300" dirty="0">
                          <a:solidFill>
                            <a:srgbClr val="2C2C2C"/>
                          </a:solidFill>
                          <a:latin typeface="Arial" pitchFamily="34" charset="0"/>
                          <a:ea typeface="Arial" pitchFamily="34" charset="-122"/>
                          <a:cs typeface="Arial" pitchFamily="34" charset="-120"/>
                        </a:rPr>
                        <a:t>T1 Publish</a:t>
                      </a:r>
                      <a:endParaRPr lang="en-US" sz="13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C2C2C"/>
                          </a:solidFill>
                          <a:latin typeface="Arial" pitchFamily="34" charset="0"/>
                          <a:ea typeface="Arial" pitchFamily="34" charset="-122"/>
                          <a:cs typeface="Arial" pitchFamily="34" charset="-120"/>
                        </a:rPr>
                        <a:t>adventures/beervana-portland</a:t>
                      </a:r>
                      <a:endParaRPr lang="en-US" sz="13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C2C2C"/>
                          </a:solidFill>
                          <a:latin typeface="Arial" pitchFamily="34" charset="0"/>
                          <a:ea typeface="Arial" pitchFamily="34" charset="-122"/>
                          <a:cs typeface="Arial" pitchFamily="34" charset="-120"/>
                        </a:rPr>
                        <a:t>16:00</a:t>
                      </a:r>
                      <a:endParaRPr lang="en-US" sz="13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b="1" dirty="0">
                          <a:solidFill>
                            <a:srgbClr val="2D9D78"/>
                          </a:solidFill>
                          <a:latin typeface="Arial" pitchFamily="34" charset="0"/>
                          <a:ea typeface="Arial" pitchFamily="34" charset="-122"/>
                          <a:cs typeface="Arial" pitchFamily="34" charset="-120"/>
                        </a:rPr>
                        <a:t>Live 16:00:04</a:t>
                      </a:r>
                      <a:endParaRPr lang="en-US" sz="13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1300" dirty="0">
                          <a:solidFill>
                            <a:srgbClr val="2C2C2C"/>
                          </a:solidFill>
                          <a:latin typeface="Arial" pitchFamily="34" charset="0"/>
                          <a:ea typeface="Arial" pitchFamily="34" charset="-122"/>
                          <a:cs typeface="Arial" pitchFamily="34" charset="-120"/>
                        </a:rPr>
                        <a:t>T2 Schedule then cancel</a:t>
                      </a:r>
                      <a:endParaRPr lang="en-US" sz="13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300" dirty="0">
                          <a:solidFill>
                            <a:srgbClr val="2C2C2C"/>
                          </a:solidFill>
                          <a:latin typeface="Arial" pitchFamily="34" charset="0"/>
                          <a:ea typeface="Arial" pitchFamily="34" charset="-122"/>
                          <a:cs typeface="Arial" pitchFamily="34" charset="-120"/>
                        </a:rPr>
                        <a:t>adventures/napa-wine-tasting</a:t>
                      </a:r>
                      <a:endParaRPr lang="en-US" sz="13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300" dirty="0">
                          <a:solidFill>
                            <a:srgbClr val="2C2C2C"/>
                          </a:solidFill>
                          <a:latin typeface="Arial" pitchFamily="34" charset="0"/>
                          <a:ea typeface="Arial" pitchFamily="34" charset="-122"/>
                          <a:cs typeface="Arial" pitchFamily="34" charset="-120"/>
                        </a:rPr>
                        <a:t>16:10 → row removed</a:t>
                      </a:r>
                      <a:endParaRPr lang="en-US" sz="13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300" b="1" dirty="0">
                          <a:solidFill>
                            <a:srgbClr val="2D9D78"/>
                          </a:solidFill>
                          <a:latin typeface="Arial" pitchFamily="34" charset="0"/>
                          <a:ea typeface="Arial" pitchFamily="34" charset="-122"/>
                          <a:cs typeface="Arial" pitchFamily="34" charset="-120"/>
                        </a:rPr>
                        <a:t>Never published</a:t>
                      </a:r>
                      <a:endParaRPr lang="en-US" sz="13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r h="0">
                <a:tc>
                  <a:txBody>
                    <a:bodyPr/>
                    <a:lstStyle/>
                    <a:p>
                      <a:pPr indent="0" marL="0">
                        <a:buNone/>
                      </a:pPr>
                      <a:r>
                        <a:rPr lang="en-US" sz="1300" dirty="0">
                          <a:solidFill>
                            <a:srgbClr val="2C2C2C"/>
                          </a:solidFill>
                          <a:latin typeface="Arial" pitchFamily="34" charset="0"/>
                          <a:ea typeface="Arial" pitchFamily="34" charset="-122"/>
                          <a:cs typeface="Arial" pitchFamily="34" charset="-120"/>
                        </a:rPr>
                        <a:t>T3 Reschedule</a:t>
                      </a:r>
                      <a:endParaRPr lang="en-US" sz="13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C2C2C"/>
                          </a:solidFill>
                          <a:latin typeface="Arial" pitchFamily="34" charset="0"/>
                          <a:ea typeface="Arial" pitchFamily="34" charset="-122"/>
                          <a:cs typeface="Arial" pitchFamily="34" charset="-120"/>
                        </a:rPr>
                        <a:t>adventures/tahoe-skiing</a:t>
                      </a:r>
                      <a:endParaRPr lang="en-US" sz="13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C2C2C"/>
                          </a:solidFill>
                          <a:latin typeface="Arial" pitchFamily="34" charset="0"/>
                          <a:ea typeface="Arial" pitchFamily="34" charset="-122"/>
                          <a:cs typeface="Arial" pitchFamily="34" charset="-120"/>
                        </a:rPr>
                        <a:t>16:10 → 16:20</a:t>
                      </a:r>
                      <a:endParaRPr lang="en-US" sz="13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b="1" dirty="0">
                          <a:solidFill>
                            <a:srgbClr val="2D9D78"/>
                          </a:solidFill>
                          <a:latin typeface="Arial" pitchFamily="34" charset="0"/>
                          <a:ea typeface="Arial" pitchFamily="34" charset="-122"/>
                          <a:cs typeface="Arial" pitchFamily="34" charset="-120"/>
                        </a:rPr>
                        <a:t>Live 16:20:04 only</a:t>
                      </a:r>
                      <a:endParaRPr lang="en-US" sz="13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1300" dirty="0">
                          <a:solidFill>
                            <a:srgbClr val="2C2C2C"/>
                          </a:solidFill>
                          <a:latin typeface="Arial" pitchFamily="34" charset="0"/>
                          <a:ea typeface="Arial" pitchFamily="34" charset="-122"/>
                          <a:cs typeface="Arial" pitchFamily="34" charset="-120"/>
                        </a:rPr>
                        <a:t>T4 Bulk (4 pages, 1 row)</a:t>
                      </a:r>
                      <a:endParaRPr lang="en-US" sz="13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300" dirty="0">
                          <a:solidFill>
                            <a:srgbClr val="2C2C2C"/>
                          </a:solidFill>
                          <a:latin typeface="Arial" pitchFamily="34" charset="0"/>
                          <a:ea typeface="Arial" pitchFamily="34" charset="-122"/>
                          <a:cs typeface="Arial" pitchFamily="34" charset="-120"/>
                        </a:rPr>
                        <a:t>4 × magazine pages</a:t>
                      </a:r>
                      <a:endParaRPr lang="en-US" sz="13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300" dirty="0">
                          <a:solidFill>
                            <a:srgbClr val="2C2C2C"/>
                          </a:solidFill>
                          <a:latin typeface="Arial" pitchFamily="34" charset="0"/>
                          <a:ea typeface="Arial" pitchFamily="34" charset="-122"/>
                          <a:cs typeface="Arial" pitchFamily="34" charset="-120"/>
                        </a:rPr>
                        <a:t>16:25</a:t>
                      </a:r>
                      <a:endParaRPr lang="en-US" sz="13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300" b="1" dirty="0">
                          <a:solidFill>
                            <a:srgbClr val="2D9D78"/>
                          </a:solidFill>
                          <a:latin typeface="Arial" pitchFamily="34" charset="0"/>
                          <a:ea typeface="Arial" pitchFamily="34" charset="-122"/>
                          <a:cs typeface="Arial" pitchFamily="34" charset="-120"/>
                        </a:rPr>
                        <a:t>All 4 live 16:25:04–06</a:t>
                      </a:r>
                      <a:endParaRPr lang="en-US" sz="13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r h="0">
                <a:tc>
                  <a:txBody>
                    <a:bodyPr/>
                    <a:lstStyle/>
                    <a:p>
                      <a:pPr indent="0" marL="0">
                        <a:buNone/>
                      </a:pPr>
                      <a:r>
                        <a:rPr lang="en-US" sz="1300" dirty="0">
                          <a:solidFill>
                            <a:srgbClr val="2C2C2C"/>
                          </a:solidFill>
                          <a:latin typeface="Arial" pitchFamily="34" charset="0"/>
                          <a:ea typeface="Arial" pitchFamily="34" charset="-122"/>
                          <a:cs typeface="Arial" pitchFamily="34" charset="-120"/>
                        </a:rPr>
                        <a:t>T5 Publish + unpublish</a:t>
                      </a:r>
                      <a:endParaRPr lang="en-US" sz="13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C2C2C"/>
                          </a:solidFill>
                          <a:latin typeface="Arial" pitchFamily="34" charset="0"/>
                          <a:ea typeface="Arial" pitchFamily="34" charset="-122"/>
                          <a:cs typeface="Arial" pitchFamily="34" charset="-120"/>
                        </a:rPr>
                        <a:t>magazine/arctic-surfing</a:t>
                      </a:r>
                      <a:endParaRPr lang="en-US" sz="13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C2C2C"/>
                          </a:solidFill>
                          <a:latin typeface="Arial" pitchFamily="34" charset="0"/>
                          <a:ea typeface="Arial" pitchFamily="34" charset="-122"/>
                          <a:cs typeface="Arial" pitchFamily="34" charset="-120"/>
                        </a:rPr>
                        <a:t>16:25 / 16:40</a:t>
                      </a:r>
                      <a:endParaRPr lang="en-US" sz="13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b="1" dirty="0">
                          <a:solidFill>
                            <a:srgbClr val="2D9D78"/>
                          </a:solidFill>
                          <a:latin typeface="Arial" pitchFamily="34" charset="0"/>
                          <a:ea typeface="Arial" pitchFamily="34" charset="-122"/>
                          <a:cs typeface="Arial" pitchFamily="34" charset="-120"/>
                        </a:rPr>
                        <a:t>Live 16:25, removed 16:40</a:t>
                      </a:r>
                      <a:endParaRPr lang="en-US" sz="13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bl>
          </a:graphicData>
        </a:graphic>
      </p:graphicFrame>
      <p:sp>
        <p:nvSpPr>
          <p:cNvPr id="9" name="Text 5"/>
          <p:cNvSpPr/>
          <p:nvPr/>
        </p:nvSpPr>
        <p:spPr>
          <a:xfrm>
            <a:off x="457200" y="4160520"/>
            <a:ext cx="11247120" cy="1737360"/>
          </a:xfrm>
          <a:prstGeom prst="rect">
            <a:avLst/>
          </a:prstGeom>
          <a:noFill/>
          <a:ln/>
        </p:spPr>
        <p:txBody>
          <a:bodyPr wrap="square" rtlCol="0" anchor="t"/>
          <a:lstStyle/>
          <a:p>
            <a:pPr marL="177800" indent="-177800">
              <a:spcAft>
                <a:spcPts val="400"/>
              </a:spcAft>
              <a:buSzPct val="100000"/>
              <a:buChar char="■"/>
            </a:pPr>
            <a:r>
              <a:rPr lang="en-US" sz="1300" b="1" dirty="0">
                <a:solidFill>
                  <a:srgbClr val="2C2C2C"/>
                </a:solidFill>
                <a:latin typeface="Arial" pitchFamily="34" charset="0"/>
                <a:ea typeface="Arial" pitchFamily="34" charset="-122"/>
                <a:cs typeface="Arial" pitchFamily="34" charset="-120"/>
              </a:rPr>
              <a:t>Verified twice: Ema's evidence workbook AND Adobe's audit log (17 entries, re-checked 22 Oct)</a:t>
            </a:r>
            <a:endParaRPr lang="en-US" sz="1300" dirty="0"/>
          </a:p>
          <a:p>
            <a:pPr lvl="1" marL="457200" indent="-228600">
              <a:spcAft>
                <a:spcPts val="400"/>
              </a:spcAft>
              <a:buSzPct val="100000"/>
              <a:buChar char="•"/>
            </a:pPr>
            <a:r>
              <a:rPr lang="en-US" sz="1300" dirty="0">
                <a:solidFill>
                  <a:srgbClr val="2C2C2C"/>
                </a:solidFill>
                <a:latin typeface="Arial" pitchFamily="34" charset="0"/>
                <a:ea typeface="Arial" pitchFamily="34" charset="-122"/>
                <a:cs typeface="Arial" pitchFamily="34" charset="-120"/>
              </a:rPr>
              <a:t>Live content was identical to preview for all 7 publishes (workbook)</a:t>
            </a:r>
            <a:endParaRPr lang="en-US" sz="1300" dirty="0"/>
          </a:p>
          <a:p>
            <a:pPr marL="177800" indent="-177800">
              <a:spcAft>
                <a:spcPts val="400"/>
              </a:spcAft>
              <a:buSzPct val="100000"/>
              <a:buChar char="■"/>
            </a:pPr>
            <a:r>
              <a:rPr lang="en-US" sz="1300" b="1" dirty="0">
                <a:solidFill>
                  <a:srgbClr val="2D9D78"/>
                </a:solidFill>
                <a:latin typeface="Arial" pitchFamily="34" charset="0"/>
                <a:ea typeface="Arial" pitchFamily="34" charset="-122"/>
                <a:cs typeface="Arial" pitchFamily="34" charset="-120"/>
              </a:rPr>
              <a:t>Two capabilities the editor dialog doesn't offer: bulk publishing and scheduled unpublish</a:t>
            </a:r>
            <a:endParaRPr lang="en-US" sz="1300" dirty="0"/>
          </a:p>
        </p:txBody>
      </p:sp>
      <p:sp>
        <p:nvSpPr>
          <p:cNvPr id="10" name="Text 6"/>
          <p:cNvSpPr/>
          <p:nvPr/>
        </p:nvSpPr>
        <p:spPr>
          <a:xfrm>
            <a:off x="457200" y="6053328"/>
            <a:ext cx="11247120" cy="292608"/>
          </a:xfrm>
          <a:prstGeom prst="rect">
            <a:avLst/>
          </a:prstGeom>
          <a:noFill/>
          <a:ln/>
        </p:spPr>
        <p:txBody>
          <a:bodyPr wrap="square" rtlCol="0" anchor="ctr"/>
          <a:lstStyle/>
          <a:p>
            <a:pPr indent="0" marL="0">
              <a:buNone/>
            </a:pPr>
            <a:r>
              <a:rPr lang="en-US" sz="1100" b="1" dirty="0">
                <a:solidFill>
                  <a:srgbClr val="EB1000"/>
                </a:solidFill>
                <a:latin typeface="Arial" pitchFamily="34" charset="0"/>
                <a:ea typeface="Arial" pitchFamily="34" charset="-122"/>
                <a:cs typeface="Arial" pitchFamily="34" charset="-120"/>
              </a:rPr>
              <a:t>LIVE  </a:t>
            </a:r>
            <a:pPr indent="0" marL="0">
              <a:buNone/>
            </a:pPr>
            <a:r>
              <a:rPr lang="en-US" sz="1100" dirty="0">
                <a:solidFill>
                  <a:srgbClr val="1473E6"/>
                </a:solidFill>
                <a:latin typeface="Arial" pitchFamily="34" charset="0"/>
                <a:ea typeface="Arial" pitchFamily="34" charset="-122"/>
                <a:cs typeface="Arial" pitchFamily="34" charset="-120"/>
              </a:rPr>
              <a:t>https://main--bv-poc-wknd-aln--araji-adobe.aem.live/us/en/adventures/beervana-portland</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Adobe">    </p:cNvPr>
          <p:cNvPicPr>
            <a:picLocks noChangeAspect="1"/>
          </p:cNvPicPr>
          <p:nvPr/>
        </p:nvPicPr>
        <p:blipFill>
          <a:blip r:embed="rId1"/>
          <a:stretch>
            <a:fillRect/>
          </a:stretch>
        </p:blipFill>
        <p:spPr>
          <a:xfrm>
            <a:off x="10588752" y="292608"/>
            <a:ext cx="1133856" cy="274320"/>
          </a:xfrm>
          <a:prstGeom prst="rect">
            <a:avLst/>
          </a:prstGeom>
        </p:spPr>
      </p:pic>
      <p:sp>
        <p:nvSpPr>
          <p:cNvPr id="3" name="Text 0"/>
          <p:cNvSpPr/>
          <p:nvPr/>
        </p:nvSpPr>
        <p:spPr>
          <a:xfrm>
            <a:off x="457200" y="274320"/>
            <a:ext cx="9144000" cy="274320"/>
          </a:xfrm>
          <a:prstGeom prst="rect">
            <a:avLst/>
          </a:prstGeom>
          <a:noFill/>
          <a:ln/>
        </p:spPr>
        <p:txBody>
          <a:bodyPr wrap="square" rtlCol="0" anchor="ctr"/>
          <a:lstStyle/>
          <a:p>
            <a:pPr indent="0" marL="0">
              <a:buNone/>
            </a:pPr>
            <a:r>
              <a:rPr lang="en-US" sz="1100" b="1" spc="100" kern="0" dirty="0">
                <a:solidFill>
                  <a:srgbClr val="EB1000"/>
                </a:solidFill>
                <a:latin typeface="Arial" pitchFamily="34" charset="0"/>
                <a:ea typeface="Arial" pitchFamily="34" charset="-122"/>
                <a:cs typeface="Arial" pitchFamily="34" charset="-120"/>
              </a:rPr>
              <a:t>5 · EMA'S ADDED VALUE AND LIMITATIONS</a:t>
            </a:r>
            <a:endParaRPr lang="en-US" sz="1100" dirty="0"/>
          </a:p>
        </p:txBody>
      </p:sp>
      <p:sp>
        <p:nvSpPr>
          <p:cNvPr id="4" name="Text 1"/>
          <p:cNvSpPr/>
          <p:nvPr/>
        </p:nvSpPr>
        <p:spPr>
          <a:xfrm>
            <a:off x="457200" y="566928"/>
            <a:ext cx="10241280" cy="640080"/>
          </a:xfrm>
          <a:prstGeom prst="rect">
            <a:avLst/>
          </a:prstGeom>
          <a:noFill/>
          <a:ln/>
        </p:spPr>
        <p:txBody>
          <a:bodyPr wrap="square" rtlCol="0" anchor="ctr"/>
          <a:lstStyle/>
          <a:p>
            <a:pPr indent="0" marL="0">
              <a:buNone/>
            </a:pPr>
            <a:r>
              <a:rPr lang="en-US" sz="2600" b="1" dirty="0">
                <a:solidFill>
                  <a:srgbClr val="2C2C2C"/>
                </a:solidFill>
                <a:latin typeface="Arial" pitchFamily="34" charset="0"/>
                <a:ea typeface="Arial" pitchFamily="34" charset="-122"/>
                <a:cs typeface="Arial" pitchFamily="34" charset="-120"/>
              </a:rPr>
              <a:t>Manual vs Ema: what changes, what doesn't</a:t>
            </a:r>
            <a:endParaRPr lang="en-US" sz="2600" dirty="0"/>
          </a:p>
        </p:txBody>
      </p:sp>
      <p:sp>
        <p:nvSpPr>
          <p:cNvPr id="5" name="Shape 2"/>
          <p:cNvSpPr/>
          <p:nvPr/>
        </p:nvSpPr>
        <p:spPr>
          <a:xfrm>
            <a:off x="457200" y="1243584"/>
            <a:ext cx="1097280" cy="54864"/>
          </a:xfrm>
          <a:prstGeom prst="rect">
            <a:avLst/>
          </a:prstGeom>
          <a:solidFill>
            <a:srgbClr val="EB1000"/>
          </a:solidFill>
          <a:ln w="12700">
            <a:solidFill>
              <a:srgbClr val="EB1000"/>
            </a:solidFill>
            <a:prstDash val="solid"/>
          </a:ln>
        </p:spPr>
      </p:sp>
      <p:sp>
        <p:nvSpPr>
          <p:cNvPr id="6" name="Text 3"/>
          <p:cNvSpPr/>
          <p:nvPr/>
        </p:nvSpPr>
        <p:spPr>
          <a:xfrm>
            <a:off x="457200" y="6446520"/>
            <a:ext cx="7315200" cy="274320"/>
          </a:xfrm>
          <a:prstGeom prst="rect">
            <a:avLst/>
          </a:prstGeom>
          <a:noFill/>
          <a:ln/>
        </p:spPr>
        <p:txBody>
          <a:bodyPr wrap="square" rtlCol="0" anchor="ctr"/>
          <a:lstStyle/>
          <a:p>
            <a:pPr indent="0" marL="0">
              <a:buNone/>
            </a:pPr>
            <a:r>
              <a:rPr lang="en-US" sz="900" dirty="0">
                <a:solidFill>
                  <a:srgbClr val="6E6E6E"/>
                </a:solidFill>
                <a:latin typeface="Arial" pitchFamily="34" charset="0"/>
                <a:ea typeface="Arial" pitchFamily="34" charset="-122"/>
                <a:cs typeface="Arial" pitchFamily="34" charset="-120"/>
              </a:rPr>
              <a:t>© 2026 Adobe. All Rights Reserved. Adobe Confidential.</a:t>
            </a:r>
            <a:endParaRPr lang="en-US" sz="900" dirty="0"/>
          </a:p>
        </p:txBody>
      </p:sp>
      <p:sp>
        <p:nvSpPr>
          <p:cNvPr id="7" name="Text 4"/>
          <p:cNvSpPr/>
          <p:nvPr/>
        </p:nvSpPr>
        <p:spPr>
          <a:xfrm>
            <a:off x="11274552" y="6446520"/>
            <a:ext cx="457200" cy="274320"/>
          </a:xfrm>
          <a:prstGeom prst="rect">
            <a:avLst/>
          </a:prstGeom>
          <a:noFill/>
          <a:ln/>
        </p:spPr>
        <p:txBody>
          <a:bodyPr wrap="square" rtlCol="0" anchor="ctr"/>
          <a:lstStyle/>
          <a:p>
            <a:pPr algn="r" indent="0" marL="0">
              <a:buNone/>
            </a:pPr>
            <a:r>
              <a:rPr lang="en-US" sz="900" dirty="0">
                <a:solidFill>
                  <a:srgbClr val="6E6E6E"/>
                </a:solidFill>
                <a:latin typeface="Arial" pitchFamily="34" charset="0"/>
                <a:ea typeface="Arial" pitchFamily="34" charset="-122"/>
                <a:cs typeface="Arial" pitchFamily="34" charset="-120"/>
              </a:rPr>
              <a:t>10</a:t>
            </a:r>
            <a:endParaRPr lang="en-US" sz="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11247120" cy="914400"/>
        </p:xfrm>
        <a:graphic>
          <a:graphicData uri="http://schemas.openxmlformats.org/drawingml/2006/table">
            <a:tbl>
              <a:tblPr/>
              <a:tblGrid>
                <a:gridCol w="2194560"/>
                <a:gridCol w="4206240"/>
                <a:gridCol w="4846320"/>
              </a:tblGrid>
              <a:tr h="0">
                <a:tc>
                  <a:txBody>
                    <a:bodyPr/>
                    <a:lstStyle/>
                    <a:p>
                      <a:pPr indent="0" marL="0">
                        <a:buNone/>
                      </a:pP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Manual (editor Schedule Publish)</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Ema (schedule sheet)</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r>
              <a:tr h="0">
                <a:tc>
                  <a:txBody>
                    <a:bodyPr/>
                    <a:lstStyle/>
                    <a:p>
                      <a:pPr indent="0" marL="0">
                        <a:buNone/>
                      </a:pPr>
                      <a:r>
                        <a:rPr lang="en-US" sz="1200" dirty="0">
                          <a:solidFill>
                            <a:srgbClr val="2C2C2C"/>
                          </a:solidFill>
                          <a:latin typeface="Arial" pitchFamily="34" charset="0"/>
                          <a:ea typeface="Arial" pitchFamily="34" charset="-122"/>
                          <a:cs typeface="Arial" pitchFamily="34" charset="-120"/>
                        </a:rPr>
                        <a:t>Setup</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2C2C2C"/>
                          </a:solidFill>
                          <a:latin typeface="Arial" pitchFamily="34" charset="0"/>
                          <a:ea typeface="Arial" pitchFamily="34" charset="-122"/>
                          <a:cs typeface="Arial" pitchFamily="34" charset="-120"/>
                        </a:rPr>
                        <a:t>Config row + site registration</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2C2C2C"/>
                          </a:solidFill>
                          <a:latin typeface="Arial" pitchFamily="34" charset="0"/>
                          <a:ea typeface="Arial" pitchFamily="34" charset="-122"/>
                          <a:cs typeface="Arial" pitchFamily="34" charset="-120"/>
                        </a:rPr>
                        <a:t>None in the UI; Ema found and created the sheet</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1200" dirty="0">
                          <a:solidFill>
                            <a:srgbClr val="2C2C2C"/>
                          </a:solidFill>
                          <a:latin typeface="Arial" pitchFamily="34" charset="0"/>
                          <a:ea typeface="Arial" pitchFamily="34" charset="-122"/>
                          <a:cs typeface="Arial" pitchFamily="34" charset="-120"/>
                        </a:rPr>
                        <a:t>Bulk publishing</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200" dirty="0">
                          <a:solidFill>
                            <a:srgbClr val="2C2C2C"/>
                          </a:solidFill>
                          <a:latin typeface="Arial" pitchFamily="34" charset="0"/>
                          <a:ea typeface="Arial" pitchFamily="34" charset="-122"/>
                          <a:cs typeface="Arial" pitchFamily="34" charset="-120"/>
                        </a:rPr>
                        <a:t>One page per dialog</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200" b="1" dirty="0">
                          <a:solidFill>
                            <a:srgbClr val="2D9D78"/>
                          </a:solidFill>
                          <a:latin typeface="Arial" pitchFamily="34" charset="0"/>
                          <a:ea typeface="Arial" pitchFamily="34" charset="-122"/>
                          <a:cs typeface="Arial" pitchFamily="34" charset="-120"/>
                        </a:rPr>
                        <a:t>Many pages per instruction (T4)</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r h="0">
                <a:tc>
                  <a:txBody>
                    <a:bodyPr/>
                    <a:lstStyle/>
                    <a:p>
                      <a:pPr indent="0" marL="0">
                        <a:buNone/>
                      </a:pPr>
                      <a:r>
                        <a:rPr lang="en-US" sz="1200" dirty="0">
                          <a:solidFill>
                            <a:srgbClr val="2C2C2C"/>
                          </a:solidFill>
                          <a:latin typeface="Arial" pitchFamily="34" charset="0"/>
                          <a:ea typeface="Arial" pitchFamily="34" charset="-122"/>
                          <a:cs typeface="Arial" pitchFamily="34" charset="-120"/>
                        </a:rPr>
                        <a:t>Scheduled unpublish</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b="1" dirty="0">
                          <a:solidFill>
                            <a:srgbClr val="EB1000"/>
                          </a:solidFill>
                          <a:latin typeface="Arial" pitchFamily="34" charset="0"/>
                          <a:ea typeface="Arial" pitchFamily="34" charset="-122"/>
                          <a:cs typeface="Arial" pitchFamily="34" charset="-120"/>
                        </a:rPr>
                        <a:t>Not offered</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b="1" dirty="0">
                          <a:solidFill>
                            <a:srgbClr val="2D9D78"/>
                          </a:solidFill>
                          <a:latin typeface="Arial" pitchFamily="34" charset="0"/>
                          <a:ea typeface="Arial" pitchFamily="34" charset="-122"/>
                          <a:cs typeface="Arial" pitchFamily="34" charset="-120"/>
                        </a:rPr>
                        <a:t>Yes (T5)</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1200" dirty="0">
                          <a:solidFill>
                            <a:srgbClr val="2C2C2C"/>
                          </a:solidFill>
                          <a:latin typeface="Arial" pitchFamily="34" charset="0"/>
                          <a:ea typeface="Arial" pitchFamily="34" charset="-122"/>
                          <a:cs typeface="Arial" pitchFamily="34" charset="-120"/>
                        </a:rPr>
                        <a:t>Auto-preview</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200" b="1" dirty="0">
                          <a:solidFill>
                            <a:srgbClr val="2D9D78"/>
                          </a:solidFill>
                          <a:latin typeface="Arial" pitchFamily="34" charset="0"/>
                          <a:ea typeface="Arial" pitchFamily="34" charset="-122"/>
                          <a:cs typeface="Arial" pitchFamily="34" charset="-120"/>
                        </a:rPr>
                        <a:t>Yes (M6)</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200" b="1" dirty="0">
                          <a:solidFill>
                            <a:srgbClr val="E68619"/>
                          </a:solidFill>
                          <a:latin typeface="Arial" pitchFamily="34" charset="0"/>
                          <a:ea typeface="Arial" pitchFamily="34" charset="-122"/>
                          <a:cs typeface="Arial" pitchFamily="34" charset="-120"/>
                        </a:rPr>
                        <a:t>No: publishes the existing preview</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r h="0">
                <a:tc>
                  <a:txBody>
                    <a:bodyPr/>
                    <a:lstStyle/>
                    <a:p>
                      <a:pPr indent="0" marL="0">
                        <a:buNone/>
                      </a:pPr>
                      <a:r>
                        <a:rPr lang="en-US" sz="1200" dirty="0">
                          <a:solidFill>
                            <a:srgbClr val="2C2C2C"/>
                          </a:solidFill>
                          <a:latin typeface="Arial" pitchFamily="34" charset="0"/>
                          <a:ea typeface="Arial" pitchFamily="34" charset="-122"/>
                          <a:cs typeface="Arial" pitchFamily="34" charset="-120"/>
                        </a:rPr>
                        <a:t>Queue view</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b="1" dirty="0">
                          <a:solidFill>
                            <a:srgbClr val="2D9D78"/>
                          </a:solidFill>
                          <a:latin typeface="Arial" pitchFamily="34" charset="0"/>
                          <a:ea typeface="Arial" pitchFamily="34" charset="-122"/>
                          <a:cs typeface="Arial" pitchFamily="34" charset="-120"/>
                        </a:rPr>
                        <a:t>Scheduler app</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b="1" dirty="0">
                          <a:solidFill>
                            <a:srgbClr val="E68619"/>
                          </a:solidFill>
                          <a:latin typeface="Arial" pitchFamily="34" charset="0"/>
                          <a:ea typeface="Arial" pitchFamily="34" charset="-122"/>
                          <a:cs typeface="Arial" pitchFamily="34" charset="-120"/>
                        </a:rPr>
                        <a:t>Only the sheet itself</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1200" dirty="0">
                          <a:solidFill>
                            <a:srgbClr val="2C2C2C"/>
                          </a:solidFill>
                          <a:latin typeface="Arial" pitchFamily="34" charset="0"/>
                          <a:ea typeface="Arial" pitchFamily="34" charset="-122"/>
                          <a:cs typeface="Arial" pitchFamily="34" charset="-120"/>
                        </a:rPr>
                        <a:t>Time handling</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200" dirty="0">
                          <a:solidFill>
                            <a:srgbClr val="2C2C2C"/>
                          </a:solidFill>
                          <a:latin typeface="Arial" pitchFamily="34" charset="0"/>
                          <a:ea typeface="Arial" pitchFamily="34" charset="-122"/>
                          <a:cs typeface="Arial" pitchFamily="34" charset="-120"/>
                        </a:rPr>
                        <a:t>Browser time zone, to the minute</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200" dirty="0">
                          <a:solidFill>
                            <a:srgbClr val="2C2C2C"/>
                          </a:solidFill>
                          <a:latin typeface="Arial" pitchFamily="34" charset="0"/>
                          <a:ea typeface="Arial" pitchFamily="34" charset="-122"/>
                          <a:cs typeface="Arial" pitchFamily="34" charset="-120"/>
                        </a:rPr>
                        <a:t>UTC, 5-minute ticks</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r h="0">
                <a:tc>
                  <a:txBody>
                    <a:bodyPr/>
                    <a:lstStyle/>
                    <a:p>
                      <a:pPr indent="0" marL="0">
                        <a:buNone/>
                      </a:pPr>
                      <a:r>
                        <a:rPr lang="en-US" sz="1200" dirty="0">
                          <a:solidFill>
                            <a:srgbClr val="2C2C2C"/>
                          </a:solidFill>
                          <a:latin typeface="Arial" pitchFamily="34" charset="0"/>
                          <a:ea typeface="Arial" pitchFamily="34" charset="-122"/>
                          <a:cs typeface="Arial" pitchFamily="34" charset="-120"/>
                        </a:rPr>
                        <a:t>Audit trail</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b="1" dirty="0">
                          <a:solidFill>
                            <a:srgbClr val="2D9D78"/>
                          </a:solidFill>
                          <a:latin typeface="Arial" pitchFamily="34" charset="0"/>
                          <a:ea typeface="Arial" pitchFamily="34" charset="-122"/>
                          <a:cs typeface="Arial" pitchFamily="34" charset="-120"/>
                        </a:rPr>
                        <a:t>Explicit scheduled-publish entries</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b="1" dirty="0">
                          <a:solidFill>
                            <a:srgbClr val="E68619"/>
                          </a:solidFill>
                          <a:latin typeface="Arial" pitchFamily="34" charset="0"/>
                          <a:ea typeface="Arial" pitchFamily="34" charset="-122"/>
                          <a:cs typeface="Arial" pitchFamily="34" charset="-120"/>
                        </a:rPr>
                        <a:t>Side effects only; logged as the user account</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1200" dirty="0">
                          <a:solidFill>
                            <a:srgbClr val="2C2C2C"/>
                          </a:solidFill>
                          <a:latin typeface="Arial" pitchFamily="34" charset="0"/>
                          <a:ea typeface="Arial" pitchFamily="34" charset="-122"/>
                          <a:cs typeface="Arial" pitchFamily="34" charset="-120"/>
                        </a:rPr>
                        <a:t>Verification</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200" dirty="0">
                          <a:solidFill>
                            <a:srgbClr val="2C2C2C"/>
                          </a:solidFill>
                          <a:latin typeface="Arial" pitchFamily="34" charset="0"/>
                          <a:ea typeface="Arial" pitchFamily="34" charset="-122"/>
                          <a:cs typeface="Arial" pitchFamily="34" charset="-120"/>
                        </a:rPr>
                        <a:t>Human checks</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200" b="1" dirty="0">
                          <a:solidFill>
                            <a:srgbClr val="2D9D78"/>
                          </a:solidFill>
                          <a:latin typeface="Arial" pitchFamily="34" charset="0"/>
                          <a:ea typeface="Arial" pitchFamily="34" charset="-122"/>
                          <a:cs typeface="Arial" pitchFamily="34" charset="-120"/>
                        </a:rPr>
                        <a:t>Ema polls status + audit log, writes evidence</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bl>
          </a:graphicData>
        </a:graphic>
      </p:graphicFrame>
      <p:sp>
        <p:nvSpPr>
          <p:cNvPr id="9" name="Text 5"/>
          <p:cNvSpPr/>
          <p:nvPr/>
        </p:nvSpPr>
        <p:spPr>
          <a:xfrm>
            <a:off x="457200" y="4800600"/>
            <a:ext cx="11247120" cy="1234440"/>
          </a:xfrm>
          <a:prstGeom prst="rect">
            <a:avLst/>
          </a:prstGeom>
          <a:noFill/>
          <a:ln/>
        </p:spPr>
        <p:txBody>
          <a:bodyPr wrap="square" rtlCol="0" anchor="t"/>
          <a:lstStyle/>
          <a:p>
            <a:pPr marL="177800" indent="-177800">
              <a:spcAft>
                <a:spcPts val="400"/>
              </a:spcAft>
              <a:buSzPct val="100000"/>
              <a:buChar char="■"/>
            </a:pPr>
            <a:r>
              <a:rPr lang="en-US" sz="1200" b="1" dirty="0">
                <a:solidFill>
                  <a:srgbClr val="E68619"/>
                </a:solidFill>
                <a:latin typeface="Arial" pitchFamily="34" charset="0"/>
                <a:ea typeface="Arial" pitchFamily="34" charset="-122"/>
                <a:cs typeface="Arial" pitchFamily="34" charset="-120"/>
              </a:rPr>
              <a:t>Still needs the user: approvals (20 recorded entries) and staying in the session while Ema verifies (it can't monitor between turns)</a:t>
            </a:r>
            <a:endParaRPr lang="en-US" sz="1200" dirty="0"/>
          </a:p>
          <a:p>
            <a:pPr marL="177800" indent="-177800">
              <a:spcAft>
                <a:spcPts val="400"/>
              </a:spcAft>
              <a:buSzPct val="100000"/>
              <a:buChar char="■"/>
            </a:pPr>
            <a:r>
              <a:rPr lang="en-US" sz="1200" b="1" dirty="0">
                <a:solidFill>
                  <a:srgbClr val="E68619"/>
                </a:solidFill>
                <a:latin typeface="Arial" pitchFamily="34" charset="0"/>
                <a:ea typeface="Arial" pitchFamily="34" charset="-122"/>
                <a:cs typeface="Arial" pitchFamily="34" charset="-120"/>
              </a:rPr>
              <a:t>Risk: one syntax error in the shared sheet disables every job in it (workbook L5)</a:t>
            </a:r>
            <a:endParaRPr lang="en-US" sz="1200" dirty="0"/>
          </a:p>
          <a:p>
            <a:pPr marL="177800" indent="-177800">
              <a:spcAft>
                <a:spcPts val="400"/>
              </a:spcAft>
              <a:buSzPct val="100000"/>
              <a:buChar char="■"/>
            </a:pPr>
            <a:r>
              <a:rPr lang="en-US" sz="1200" dirty="0">
                <a:solidFill>
                  <a:srgbClr val="6E6E6E"/>
                </a:solidFill>
                <a:latin typeface="Arial" pitchFamily="34" charset="0"/>
                <a:ea typeface="Arial" pitchFamily="34" charset="-122"/>
                <a:cs typeface="Arial" pitchFamily="34" charset="-120"/>
              </a:rPr>
              <a:t>No efficiency metrics claimed: the 74-minute test window was driven by the schedule times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Adobe">    </p:cNvPr>
          <p:cNvPicPr>
            <a:picLocks noChangeAspect="1"/>
          </p:cNvPicPr>
          <p:nvPr/>
        </p:nvPicPr>
        <p:blipFill>
          <a:blip r:embed="rId1"/>
          <a:stretch>
            <a:fillRect/>
          </a:stretch>
        </p:blipFill>
        <p:spPr>
          <a:xfrm>
            <a:off x="10588752" y="292608"/>
            <a:ext cx="1133856" cy="274320"/>
          </a:xfrm>
          <a:prstGeom prst="rect">
            <a:avLst/>
          </a:prstGeom>
        </p:spPr>
      </p:pic>
      <p:sp>
        <p:nvSpPr>
          <p:cNvPr id="3" name="Text 0"/>
          <p:cNvSpPr/>
          <p:nvPr/>
        </p:nvSpPr>
        <p:spPr>
          <a:xfrm>
            <a:off x="457200" y="274320"/>
            <a:ext cx="9144000" cy="274320"/>
          </a:xfrm>
          <a:prstGeom prst="rect">
            <a:avLst/>
          </a:prstGeom>
          <a:noFill/>
          <a:ln/>
        </p:spPr>
        <p:txBody>
          <a:bodyPr wrap="square" rtlCol="0" anchor="ctr"/>
          <a:lstStyle/>
          <a:p>
            <a:pPr indent="0" marL="0">
              <a:buNone/>
            </a:pPr>
            <a:r>
              <a:rPr lang="en-US" sz="1100" b="1" spc="100" kern="0" dirty="0">
                <a:solidFill>
                  <a:srgbClr val="EB1000"/>
                </a:solidFill>
                <a:latin typeface="Arial" pitchFamily="34" charset="0"/>
                <a:ea typeface="Arial" pitchFamily="34" charset="-122"/>
                <a:cs typeface="Arial" pitchFamily="34" charset="-120"/>
              </a:rPr>
              <a:t>6 · EXPERIENCE WORKSPACE FINDINGS</a:t>
            </a:r>
            <a:endParaRPr lang="en-US" sz="1100" dirty="0"/>
          </a:p>
        </p:txBody>
      </p:sp>
      <p:sp>
        <p:nvSpPr>
          <p:cNvPr id="4" name="Text 1"/>
          <p:cNvSpPr/>
          <p:nvPr/>
        </p:nvSpPr>
        <p:spPr>
          <a:xfrm>
            <a:off x="457200" y="566928"/>
            <a:ext cx="10241280" cy="640080"/>
          </a:xfrm>
          <a:prstGeom prst="rect">
            <a:avLst/>
          </a:prstGeom>
          <a:noFill/>
          <a:ln/>
        </p:spPr>
        <p:txBody>
          <a:bodyPr wrap="square" rtlCol="0" anchor="ctr"/>
          <a:lstStyle/>
          <a:p>
            <a:pPr indent="0" marL="0">
              <a:buNone/>
            </a:pPr>
            <a:r>
              <a:rPr lang="en-US" sz="2600" b="1" dirty="0">
                <a:solidFill>
                  <a:srgbClr val="2C2C2C"/>
                </a:solidFill>
                <a:latin typeface="Arial" pitchFamily="34" charset="0"/>
                <a:ea typeface="Arial" pitchFamily="34" charset="-122"/>
                <a:cs typeface="Arial" pitchFamily="34" charset="-120"/>
              </a:rPr>
              <a:t>Coworker: what we asked, what happened (22 Oct)</a:t>
            </a:r>
            <a:endParaRPr lang="en-US" sz="2600" dirty="0"/>
          </a:p>
        </p:txBody>
      </p:sp>
      <p:sp>
        <p:nvSpPr>
          <p:cNvPr id="5" name="Shape 2"/>
          <p:cNvSpPr/>
          <p:nvPr/>
        </p:nvSpPr>
        <p:spPr>
          <a:xfrm>
            <a:off x="457200" y="1243584"/>
            <a:ext cx="1097280" cy="54864"/>
          </a:xfrm>
          <a:prstGeom prst="rect">
            <a:avLst/>
          </a:prstGeom>
          <a:solidFill>
            <a:srgbClr val="EB1000"/>
          </a:solidFill>
          <a:ln w="12700">
            <a:solidFill>
              <a:srgbClr val="EB1000"/>
            </a:solidFill>
            <a:prstDash val="solid"/>
          </a:ln>
        </p:spPr>
      </p:sp>
      <p:sp>
        <p:nvSpPr>
          <p:cNvPr id="6" name="Text 3"/>
          <p:cNvSpPr/>
          <p:nvPr/>
        </p:nvSpPr>
        <p:spPr>
          <a:xfrm>
            <a:off x="457200" y="6446520"/>
            <a:ext cx="7315200" cy="274320"/>
          </a:xfrm>
          <a:prstGeom prst="rect">
            <a:avLst/>
          </a:prstGeom>
          <a:noFill/>
          <a:ln/>
        </p:spPr>
        <p:txBody>
          <a:bodyPr wrap="square" rtlCol="0" anchor="ctr"/>
          <a:lstStyle/>
          <a:p>
            <a:pPr indent="0" marL="0">
              <a:buNone/>
            </a:pPr>
            <a:r>
              <a:rPr lang="en-US" sz="900" dirty="0">
                <a:solidFill>
                  <a:srgbClr val="6E6E6E"/>
                </a:solidFill>
                <a:latin typeface="Arial" pitchFamily="34" charset="0"/>
                <a:ea typeface="Arial" pitchFamily="34" charset="-122"/>
                <a:cs typeface="Arial" pitchFamily="34" charset="-120"/>
              </a:rPr>
              <a:t>© 2026 Adobe. All Rights Reserved. Adobe Confidential.</a:t>
            </a:r>
            <a:endParaRPr lang="en-US" sz="900" dirty="0"/>
          </a:p>
        </p:txBody>
      </p:sp>
      <p:sp>
        <p:nvSpPr>
          <p:cNvPr id="7" name="Text 4"/>
          <p:cNvSpPr/>
          <p:nvPr/>
        </p:nvSpPr>
        <p:spPr>
          <a:xfrm>
            <a:off x="11274552" y="6446520"/>
            <a:ext cx="457200" cy="274320"/>
          </a:xfrm>
          <a:prstGeom prst="rect">
            <a:avLst/>
          </a:prstGeom>
          <a:noFill/>
          <a:ln/>
        </p:spPr>
        <p:txBody>
          <a:bodyPr wrap="square" rtlCol="0" anchor="ctr"/>
          <a:lstStyle/>
          <a:p>
            <a:pPr algn="r" indent="0" marL="0">
              <a:buNone/>
            </a:pPr>
            <a:r>
              <a:rPr lang="en-US" sz="900" dirty="0">
                <a:solidFill>
                  <a:srgbClr val="6E6E6E"/>
                </a:solidFill>
                <a:latin typeface="Arial" pitchFamily="34" charset="0"/>
                <a:ea typeface="Arial" pitchFamily="34" charset="-122"/>
                <a:cs typeface="Arial" pitchFamily="34" charset="-120"/>
              </a:rPr>
              <a:t>11</a:t>
            </a:r>
            <a:endParaRPr lang="en-US" sz="900" dirty="0"/>
          </a:p>
        </p:txBody>
      </p:sp>
      <p:sp>
        <p:nvSpPr>
          <p:cNvPr id="8" name="Text 5"/>
          <p:cNvSpPr/>
          <p:nvPr/>
        </p:nvSpPr>
        <p:spPr>
          <a:xfrm>
            <a:off x="457200" y="1463040"/>
            <a:ext cx="6675120" cy="4754880"/>
          </a:xfrm>
          <a:prstGeom prst="rect">
            <a:avLst/>
          </a:prstGeom>
          <a:noFill/>
          <a:ln/>
        </p:spPr>
        <p:txBody>
          <a:bodyPr wrap="square" rtlCol="0" anchor="t"/>
          <a:lstStyle/>
          <a:p>
            <a:pPr marL="177800" indent="-177800">
              <a:spcAft>
                <a:spcPts val="400"/>
              </a:spcAft>
              <a:buSzPct val="100000"/>
              <a:buChar char="■"/>
            </a:pPr>
            <a:r>
              <a:rPr lang="en-US" sz="1300" b="1" dirty="0">
                <a:solidFill>
                  <a:srgbClr val="2C2C2C"/>
                </a:solidFill>
                <a:latin typeface="Arial" pitchFamily="34" charset="0"/>
                <a:ea typeface="Arial" pitchFamily="34" charset="-122"/>
                <a:cs typeface="Arial" pitchFamily="34" charset="-120"/>
              </a:rPr>
              <a:t>Same 5-task superprompt on 8 equivalent pages; hints included; 4 user messages</a:t>
            </a:r>
            <a:endParaRPr lang="en-US" sz="1300" dirty="0"/>
          </a:p>
          <a:p>
            <a:pPr marL="177800" indent="-177800">
              <a:spcAft>
                <a:spcPts val="400"/>
              </a:spcAft>
              <a:buSzPct val="100000"/>
              <a:buChar char="■"/>
            </a:pPr>
            <a:r>
              <a:rPr lang="en-US" sz="1300" dirty="0">
                <a:solidFill>
                  <a:srgbClr val="E68619"/>
                </a:solidFill>
                <a:latin typeface="Arial" pitchFamily="34" charset="0"/>
                <a:ea typeface="Arial" pitchFamily="34" charset="-122"/>
                <a:cs typeface="Arial" pitchFamily="34" charset="-120"/>
              </a:rPr>
              <a:t>Pre-check ("no changes yet") re-previewed all 8 pages, twice: 6:03 and 6:07 PM IST (W1)</a:t>
            </a:r>
            <a:endParaRPr lang="en-US" sz="1300" dirty="0"/>
          </a:p>
          <a:p>
            <a:pPr marL="177800" indent="-177800">
              <a:spcAft>
                <a:spcPts val="400"/>
              </a:spcAft>
              <a:buSzPct val="100000"/>
              <a:buChar char="■"/>
            </a:pPr>
            <a:r>
              <a:rPr lang="en-US" sz="1300" dirty="0">
                <a:solidFill>
                  <a:srgbClr val="2C2C2C"/>
                </a:solidFill>
                <a:latin typeface="Arial" pitchFamily="34" charset="0"/>
                <a:ea typeface="Arial" pitchFamily="34" charset="-122"/>
                <a:cs typeface="Arial" pitchFamily="34" charset="-120"/>
              </a:rPr>
              <a:t>Read the schedule sheet after errors and listed Ema's 5 rows correctly (W2)</a:t>
            </a:r>
            <a:endParaRPr lang="en-US" sz="1300" dirty="0"/>
          </a:p>
          <a:p>
            <a:pPr marL="177800" indent="-177800">
              <a:spcAft>
                <a:spcPts val="400"/>
              </a:spcAft>
              <a:buSzPct val="100000"/>
              <a:buChar char="■"/>
            </a:pPr>
            <a:r>
              <a:rPr lang="en-US" sz="1300" b="1" dirty="0">
                <a:solidFill>
                  <a:srgbClr val="2C2C2C"/>
                </a:solidFill>
                <a:latin typeface="Arial" pitchFamily="34" charset="0"/>
                <a:ea typeface="Arial" pitchFamily="34" charset="-122"/>
                <a:cs typeface="Arial" pitchFamily="34" charset="-120"/>
              </a:rPr>
              <a:t>"I cannot schedule a publish action": no real-time clock (W3, W4)</a:t>
            </a:r>
            <a:endParaRPr lang="en-US" sz="1300" dirty="0"/>
          </a:p>
          <a:p>
            <a:pPr marL="177800" indent="-177800">
              <a:spcAft>
                <a:spcPts val="400"/>
              </a:spcAft>
              <a:buSzPct val="100000"/>
              <a:buChar char="■"/>
            </a:pPr>
            <a:r>
              <a:rPr lang="en-US" sz="1300" b="1" dirty="0">
                <a:solidFill>
                  <a:srgbClr val="2C2C2C"/>
                </a:solidFill>
                <a:latin typeface="Arial" pitchFamily="34" charset="0"/>
                <a:ea typeface="Arial" pitchFamily="34" charset="-122"/>
                <a:cs typeface="Arial" pitchFamily="34" charset="-120"/>
              </a:rPr>
              <a:t>Given an exact time (6:45 PM IST): sheet read/write errors, then "cannot read or write" (W5)</a:t>
            </a:r>
            <a:endParaRPr lang="en-US" sz="1300" dirty="0"/>
          </a:p>
          <a:p>
            <a:pPr marL="177800" indent="-177800">
              <a:spcAft>
                <a:spcPts val="400"/>
              </a:spcAft>
              <a:buSzPct val="100000"/>
              <a:buChar char="■"/>
            </a:pPr>
            <a:r>
              <a:rPr lang="en-US" sz="1300" dirty="0">
                <a:solidFill>
                  <a:srgbClr val="E68619"/>
                </a:solidFill>
                <a:latin typeface="Arial" pitchFamily="34" charset="0"/>
                <a:ea typeface="Arial" pitchFamily="34" charset="-122"/>
                <a:cs typeface="Arial" pitchFamily="34" charset="-120"/>
              </a:rPr>
              <a:t>Fallback advice: a past date (14 Jul 2025) and a wrong activation step; claimed the scheduler app can create schedules (W4, W6)</a:t>
            </a:r>
            <a:endParaRPr lang="en-US" sz="1300" dirty="0"/>
          </a:p>
          <a:p>
            <a:pPr marL="177800" indent="-177800">
              <a:spcAft>
                <a:spcPts val="400"/>
              </a:spcAft>
              <a:buSzPct val="100000"/>
              <a:buChar char="■"/>
            </a:pPr>
            <a:r>
              <a:rPr lang="en-US" sz="1300" b="1" dirty="0">
                <a:solidFill>
                  <a:srgbClr val="EB1000"/>
                </a:solidFill>
                <a:latin typeface="Arial" pitchFamily="34" charset="0"/>
                <a:ea typeface="Arial" pitchFamily="34" charset="-122"/>
                <a:cs typeface="Arial" pitchFamily="34" charset="-120"/>
              </a:rPr>
              <a:t>Outcome: no schedule created, no page published (W7)</a:t>
            </a:r>
            <a:endParaRPr lang="en-US" sz="1300" dirty="0"/>
          </a:p>
          <a:p>
            <a:pPr lvl="1" marL="457200" indent="-228600">
              <a:spcAft>
                <a:spcPts val="400"/>
              </a:spcAft>
              <a:buSzPct val="100000"/>
              <a:buChar char="•"/>
            </a:pPr>
            <a:r>
              <a:rPr lang="en-US" sz="1300" dirty="0">
                <a:solidFill>
                  <a:srgbClr val="6E6E6E"/>
                </a:solidFill>
                <a:latin typeface="Arial" pitchFamily="34" charset="0"/>
                <a:ea typeface="Arial" pitchFamily="34" charset="-122"/>
                <a:cs typeface="Arial" pitchFamily="34" charset="-120"/>
              </a:rPr>
              <a:t>Verified with Adobe's audit log and page status; the user's own incomplete sheet row (never activated) is noted in the appendix</a:t>
            </a:r>
            <a:endParaRPr lang="en-US" sz="1300" dirty="0"/>
          </a:p>
        </p:txBody>
      </p:sp>
      <p:pic>
        <p:nvPicPr>
          <p:cNvPr id="9" name="Image 1" descr="Figure 13: Coworker: &quot;I cannot schedule&quot;">    </p:cNvPr>
          <p:cNvPicPr>
            <a:picLocks noChangeAspect="1"/>
          </p:cNvPicPr>
          <p:nvPr/>
        </p:nvPicPr>
        <p:blipFill>
          <a:blip r:embed="rId2"/>
          <a:stretch>
            <a:fillRect/>
          </a:stretch>
        </p:blipFill>
        <p:spPr>
          <a:xfrm>
            <a:off x="7511704" y="1417320"/>
            <a:ext cx="1664391" cy="4526280"/>
          </a:xfrm>
          <a:prstGeom prst="rect">
            <a:avLst/>
          </a:prstGeom>
        </p:spPr>
      </p:pic>
      <p:sp>
        <p:nvSpPr>
          <p:cNvPr id="10" name="Shape 6"/>
          <p:cNvSpPr/>
          <p:nvPr/>
        </p:nvSpPr>
        <p:spPr>
          <a:xfrm>
            <a:off x="7511704" y="1417320"/>
            <a:ext cx="1664391" cy="4526280"/>
          </a:xfrm>
          <a:prstGeom prst="rect">
            <a:avLst/>
          </a:prstGeom>
          <a:ln w="9525">
            <a:solidFill>
              <a:srgbClr val="D9D9D9"/>
            </a:solidFill>
            <a:prstDash val="solid"/>
          </a:ln>
        </p:spPr>
      </p:sp>
      <p:sp>
        <p:nvSpPr>
          <p:cNvPr id="11" name="Text 7"/>
          <p:cNvSpPr/>
          <p:nvPr/>
        </p:nvSpPr>
        <p:spPr>
          <a:xfrm>
            <a:off x="7269480" y="5971032"/>
            <a:ext cx="2148840" cy="256032"/>
          </a:xfrm>
          <a:prstGeom prst="rect">
            <a:avLst/>
          </a:prstGeom>
          <a:noFill/>
          <a:ln/>
        </p:spPr>
        <p:txBody>
          <a:bodyPr wrap="square" rtlCol="0" anchor="ctr"/>
          <a:lstStyle/>
          <a:p>
            <a:pPr algn="ctr" indent="0" marL="0">
              <a:buNone/>
            </a:pPr>
            <a:r>
              <a:rPr lang="en-US" sz="900" i="1" dirty="0">
                <a:solidFill>
                  <a:srgbClr val="6E6E6E"/>
                </a:solidFill>
                <a:latin typeface="Arial" pitchFamily="34" charset="0"/>
                <a:ea typeface="Arial" pitchFamily="34" charset="-122"/>
                <a:cs typeface="Arial" pitchFamily="34" charset="-120"/>
              </a:rPr>
              <a:t>Figure 13: Coworker: "I cannot schedule"</a:t>
            </a:r>
            <a:endParaRPr lang="en-US" sz="900" dirty="0"/>
          </a:p>
        </p:txBody>
      </p:sp>
      <p:pic>
        <p:nvPicPr>
          <p:cNvPr id="12" name="Image 2" descr="Figure 14: Coworker: sheet errors and a past date">    </p:cNvPr>
          <p:cNvPicPr>
            <a:picLocks noChangeAspect="1"/>
          </p:cNvPicPr>
          <p:nvPr/>
        </p:nvPicPr>
        <p:blipFill>
          <a:blip r:embed="rId3"/>
          <a:stretch>
            <a:fillRect/>
          </a:stretch>
        </p:blipFill>
        <p:spPr>
          <a:xfrm>
            <a:off x="9641346" y="1417320"/>
            <a:ext cx="2068547" cy="4526280"/>
          </a:xfrm>
          <a:prstGeom prst="rect">
            <a:avLst/>
          </a:prstGeom>
        </p:spPr>
      </p:pic>
      <p:sp>
        <p:nvSpPr>
          <p:cNvPr id="13" name="Shape 8"/>
          <p:cNvSpPr/>
          <p:nvPr/>
        </p:nvSpPr>
        <p:spPr>
          <a:xfrm>
            <a:off x="9641346" y="1417320"/>
            <a:ext cx="2068547" cy="4526280"/>
          </a:xfrm>
          <a:prstGeom prst="rect">
            <a:avLst/>
          </a:prstGeom>
          <a:ln w="9525">
            <a:solidFill>
              <a:srgbClr val="D9D9D9"/>
            </a:solidFill>
            <a:prstDash val="solid"/>
          </a:ln>
        </p:spPr>
      </p:sp>
      <p:sp>
        <p:nvSpPr>
          <p:cNvPr id="14" name="Text 9"/>
          <p:cNvSpPr/>
          <p:nvPr/>
        </p:nvSpPr>
        <p:spPr>
          <a:xfrm>
            <a:off x="9601200" y="5971032"/>
            <a:ext cx="2148840" cy="256032"/>
          </a:xfrm>
          <a:prstGeom prst="rect">
            <a:avLst/>
          </a:prstGeom>
          <a:noFill/>
          <a:ln/>
        </p:spPr>
        <p:txBody>
          <a:bodyPr wrap="square" rtlCol="0" anchor="ctr"/>
          <a:lstStyle/>
          <a:p>
            <a:pPr algn="ctr" indent="0" marL="0">
              <a:buNone/>
            </a:pPr>
            <a:r>
              <a:rPr lang="en-US" sz="900" i="1" dirty="0">
                <a:solidFill>
                  <a:srgbClr val="6E6E6E"/>
                </a:solidFill>
                <a:latin typeface="Arial" pitchFamily="34" charset="0"/>
                <a:ea typeface="Arial" pitchFamily="34" charset="-122"/>
                <a:cs typeface="Arial" pitchFamily="34" charset="-120"/>
              </a:rPr>
              <a:t>Figure 14: Coworker: sheet errors and a past date</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Adobe">    </p:cNvPr>
          <p:cNvPicPr>
            <a:picLocks noChangeAspect="1"/>
          </p:cNvPicPr>
          <p:nvPr/>
        </p:nvPicPr>
        <p:blipFill>
          <a:blip r:embed="rId1"/>
          <a:stretch>
            <a:fillRect/>
          </a:stretch>
        </p:blipFill>
        <p:spPr>
          <a:xfrm>
            <a:off x="10588752" y="292608"/>
            <a:ext cx="1133856" cy="274320"/>
          </a:xfrm>
          <a:prstGeom prst="rect">
            <a:avLst/>
          </a:prstGeom>
        </p:spPr>
      </p:pic>
      <p:sp>
        <p:nvSpPr>
          <p:cNvPr id="3" name="Text 0"/>
          <p:cNvSpPr/>
          <p:nvPr/>
        </p:nvSpPr>
        <p:spPr>
          <a:xfrm>
            <a:off x="457200" y="274320"/>
            <a:ext cx="9144000" cy="274320"/>
          </a:xfrm>
          <a:prstGeom prst="rect">
            <a:avLst/>
          </a:prstGeom>
          <a:noFill/>
          <a:ln/>
        </p:spPr>
        <p:txBody>
          <a:bodyPr wrap="square" rtlCol="0" anchor="ctr"/>
          <a:lstStyle/>
          <a:p>
            <a:pPr indent="0" marL="0">
              <a:buNone/>
            </a:pPr>
            <a:r>
              <a:rPr lang="en-US" sz="1100" b="1" spc="100" kern="0" dirty="0">
                <a:solidFill>
                  <a:srgbClr val="EB1000"/>
                </a:solidFill>
                <a:latin typeface="Arial" pitchFamily="34" charset="0"/>
                <a:ea typeface="Arial" pitchFamily="34" charset="-122"/>
                <a:cs typeface="Arial" pitchFamily="34" charset="-120"/>
              </a:rPr>
              <a:t>6 · EXPERIENCE WORKSPACE FINDINGS</a:t>
            </a:r>
            <a:endParaRPr lang="en-US" sz="1100" dirty="0"/>
          </a:p>
        </p:txBody>
      </p:sp>
      <p:sp>
        <p:nvSpPr>
          <p:cNvPr id="4" name="Text 1"/>
          <p:cNvSpPr/>
          <p:nvPr/>
        </p:nvSpPr>
        <p:spPr>
          <a:xfrm>
            <a:off x="457200" y="566928"/>
            <a:ext cx="10241280" cy="640080"/>
          </a:xfrm>
          <a:prstGeom prst="rect">
            <a:avLst/>
          </a:prstGeom>
          <a:noFill/>
          <a:ln/>
        </p:spPr>
        <p:txBody>
          <a:bodyPr wrap="square" rtlCol="0" anchor="ctr"/>
          <a:lstStyle/>
          <a:p>
            <a:pPr indent="0" marL="0">
              <a:buNone/>
            </a:pPr>
            <a:r>
              <a:rPr lang="en-US" sz="2600" b="1" dirty="0">
                <a:solidFill>
                  <a:srgbClr val="2C2C2C"/>
                </a:solidFill>
                <a:latin typeface="Arial" pitchFamily="34" charset="0"/>
                <a:ea typeface="Arial" pitchFamily="34" charset="-122"/>
                <a:cs typeface="Arial" pitchFamily="34" charset="-120"/>
              </a:rPr>
              <a:t>Ema vs Experience Workspace (Coworker)</a:t>
            </a:r>
            <a:endParaRPr lang="en-US" sz="2600" dirty="0"/>
          </a:p>
        </p:txBody>
      </p:sp>
      <p:sp>
        <p:nvSpPr>
          <p:cNvPr id="5" name="Shape 2"/>
          <p:cNvSpPr/>
          <p:nvPr/>
        </p:nvSpPr>
        <p:spPr>
          <a:xfrm>
            <a:off x="457200" y="1243584"/>
            <a:ext cx="1097280" cy="54864"/>
          </a:xfrm>
          <a:prstGeom prst="rect">
            <a:avLst/>
          </a:prstGeom>
          <a:solidFill>
            <a:srgbClr val="EB1000"/>
          </a:solidFill>
          <a:ln w="12700">
            <a:solidFill>
              <a:srgbClr val="EB1000"/>
            </a:solidFill>
            <a:prstDash val="solid"/>
          </a:ln>
        </p:spPr>
      </p:sp>
      <p:sp>
        <p:nvSpPr>
          <p:cNvPr id="6" name="Text 3"/>
          <p:cNvSpPr/>
          <p:nvPr/>
        </p:nvSpPr>
        <p:spPr>
          <a:xfrm>
            <a:off x="457200" y="6446520"/>
            <a:ext cx="7315200" cy="274320"/>
          </a:xfrm>
          <a:prstGeom prst="rect">
            <a:avLst/>
          </a:prstGeom>
          <a:noFill/>
          <a:ln/>
        </p:spPr>
        <p:txBody>
          <a:bodyPr wrap="square" rtlCol="0" anchor="ctr"/>
          <a:lstStyle/>
          <a:p>
            <a:pPr indent="0" marL="0">
              <a:buNone/>
            </a:pPr>
            <a:r>
              <a:rPr lang="en-US" sz="900" dirty="0">
                <a:solidFill>
                  <a:srgbClr val="6E6E6E"/>
                </a:solidFill>
                <a:latin typeface="Arial" pitchFamily="34" charset="0"/>
                <a:ea typeface="Arial" pitchFamily="34" charset="-122"/>
                <a:cs typeface="Arial" pitchFamily="34" charset="-120"/>
              </a:rPr>
              <a:t>© 2026 Adobe. All Rights Reserved. Adobe Confidential.</a:t>
            </a:r>
            <a:endParaRPr lang="en-US" sz="900" dirty="0"/>
          </a:p>
        </p:txBody>
      </p:sp>
      <p:sp>
        <p:nvSpPr>
          <p:cNvPr id="7" name="Text 4"/>
          <p:cNvSpPr/>
          <p:nvPr/>
        </p:nvSpPr>
        <p:spPr>
          <a:xfrm>
            <a:off x="11274552" y="6446520"/>
            <a:ext cx="457200" cy="274320"/>
          </a:xfrm>
          <a:prstGeom prst="rect">
            <a:avLst/>
          </a:prstGeom>
          <a:noFill/>
          <a:ln/>
        </p:spPr>
        <p:txBody>
          <a:bodyPr wrap="square" rtlCol="0" anchor="ctr"/>
          <a:lstStyle/>
          <a:p>
            <a:pPr algn="r" indent="0" marL="0">
              <a:buNone/>
            </a:pPr>
            <a:r>
              <a:rPr lang="en-US" sz="900" dirty="0">
                <a:solidFill>
                  <a:srgbClr val="6E6E6E"/>
                </a:solidFill>
                <a:latin typeface="Arial" pitchFamily="34" charset="0"/>
                <a:ea typeface="Arial" pitchFamily="34" charset="-122"/>
                <a:cs typeface="Arial" pitchFamily="34" charset="-120"/>
              </a:rPr>
              <a:t>12</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11247120" cy="914400"/>
        </p:xfrm>
        <a:graphic>
          <a:graphicData uri="http://schemas.openxmlformats.org/drawingml/2006/table">
            <a:tbl>
              <a:tblPr/>
              <a:tblGrid>
                <a:gridCol w="3291840"/>
                <a:gridCol w="3566160"/>
                <a:gridCol w="4389120"/>
              </a:tblGrid>
              <a:tr h="0">
                <a:tc>
                  <a:txBody>
                    <a:bodyPr/>
                    <a:lstStyle/>
                    <a:p>
                      <a:pPr indent="0" marL="0">
                        <a:buNone/>
                      </a:pPr>
                      <a:endParaRPr lang="en-US" sz="13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Ema (19 Oct)</a:t>
                      </a:r>
                      <a:endParaRPr lang="en-US" sz="13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Coworker (22 Oct)</a:t>
                      </a:r>
                      <a:endParaRPr lang="en-US" sz="13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r>
              <a:tr h="0">
                <a:tc>
                  <a:txBody>
                    <a:bodyPr/>
                    <a:lstStyle/>
                    <a:p>
                      <a:pPr indent="0" marL="0">
                        <a:buNone/>
                      </a:pPr>
                      <a:r>
                        <a:rPr lang="en-US" sz="1300" dirty="0">
                          <a:solidFill>
                            <a:srgbClr val="2C2C2C"/>
                          </a:solidFill>
                          <a:latin typeface="Arial" pitchFamily="34" charset="0"/>
                          <a:ea typeface="Arial" pitchFamily="34" charset="-122"/>
                          <a:cs typeface="Arial" pitchFamily="34" charset="-120"/>
                        </a:rPr>
                        <a:t>Schedules created</a:t>
                      </a:r>
                      <a:endParaRPr lang="en-US" sz="13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b="1" dirty="0">
                          <a:solidFill>
                            <a:srgbClr val="2D9D78"/>
                          </a:solidFill>
                          <a:latin typeface="Arial" pitchFamily="34" charset="0"/>
                          <a:ea typeface="Arial" pitchFamily="34" charset="-122"/>
                          <a:cs typeface="Arial" pitchFamily="34" charset="-120"/>
                        </a:rPr>
                        <a:t>5 / 5 tasks</a:t>
                      </a:r>
                      <a:endParaRPr lang="en-US" sz="13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b="1" dirty="0">
                          <a:solidFill>
                            <a:srgbClr val="EB1000"/>
                          </a:solidFill>
                          <a:latin typeface="Arial" pitchFamily="34" charset="0"/>
                          <a:ea typeface="Arial" pitchFamily="34" charset="-122"/>
                          <a:cs typeface="Arial" pitchFamily="34" charset="-120"/>
                        </a:rPr>
                        <a:t>0</a:t>
                      </a:r>
                      <a:endParaRPr lang="en-US" sz="13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1300" dirty="0">
                          <a:solidFill>
                            <a:srgbClr val="2C2C2C"/>
                          </a:solidFill>
                          <a:latin typeface="Arial" pitchFamily="34" charset="0"/>
                          <a:ea typeface="Arial" pitchFamily="34" charset="-122"/>
                          <a:cs typeface="Arial" pitchFamily="34" charset="-120"/>
                        </a:rPr>
                        <a:t>Pages published / unpublished on time</a:t>
                      </a:r>
                      <a:endParaRPr lang="en-US" sz="13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300" b="1" dirty="0">
                          <a:solidFill>
                            <a:srgbClr val="2D9D78"/>
                          </a:solidFill>
                          <a:latin typeface="Arial" pitchFamily="34" charset="0"/>
                          <a:ea typeface="Arial" pitchFamily="34" charset="-122"/>
                          <a:cs typeface="Arial" pitchFamily="34" charset="-120"/>
                        </a:rPr>
                        <a:t>7 / 7 + 1 unpublish</a:t>
                      </a:r>
                      <a:endParaRPr lang="en-US" sz="13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300" b="1" dirty="0">
                          <a:solidFill>
                            <a:srgbClr val="EB1000"/>
                          </a:solidFill>
                          <a:latin typeface="Arial" pitchFamily="34" charset="0"/>
                          <a:ea typeface="Arial" pitchFamily="34" charset="-122"/>
                          <a:cs typeface="Arial" pitchFamily="34" charset="-120"/>
                        </a:rPr>
                        <a:t>None</a:t>
                      </a:r>
                      <a:endParaRPr lang="en-US" sz="13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r h="0">
                <a:tc>
                  <a:txBody>
                    <a:bodyPr/>
                    <a:lstStyle/>
                    <a:p>
                      <a:pPr indent="0" marL="0">
                        <a:buNone/>
                      </a:pPr>
                      <a:r>
                        <a:rPr lang="en-US" sz="1300" dirty="0">
                          <a:solidFill>
                            <a:srgbClr val="2C2C2C"/>
                          </a:solidFill>
                          <a:latin typeface="Arial" pitchFamily="34" charset="0"/>
                          <a:ea typeface="Arial" pitchFamily="34" charset="-122"/>
                          <a:cs typeface="Arial" pitchFamily="34" charset="-120"/>
                        </a:rPr>
                        <a:t>User messages</a:t>
                      </a:r>
                      <a:endParaRPr lang="en-US" sz="13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C2C2C"/>
                          </a:solidFill>
                          <a:latin typeface="Arial" pitchFamily="34" charset="0"/>
                          <a:ea typeface="Arial" pitchFamily="34" charset="-122"/>
                          <a:cs typeface="Arial" pitchFamily="34" charset="-120"/>
                        </a:rPr>
                        <a:t>20 recorded entries</a:t>
                      </a:r>
                      <a:endParaRPr lang="en-US" sz="13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C2C2C"/>
                          </a:solidFill>
                          <a:latin typeface="Arial" pitchFamily="34" charset="0"/>
                          <a:ea typeface="Arial" pitchFamily="34" charset="-122"/>
                          <a:cs typeface="Arial" pitchFamily="34" charset="-120"/>
                        </a:rPr>
                        <a:t>4</a:t>
                      </a:r>
                      <a:endParaRPr lang="en-US" sz="13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1300" dirty="0">
                          <a:solidFill>
                            <a:srgbClr val="2C2C2C"/>
                          </a:solidFill>
                          <a:latin typeface="Arial" pitchFamily="34" charset="0"/>
                          <a:ea typeface="Arial" pitchFamily="34" charset="-122"/>
                          <a:cs typeface="Arial" pitchFamily="34" charset="-120"/>
                        </a:rPr>
                        <a:t>Found the mechanism</a:t>
                      </a:r>
                      <a:endParaRPr lang="en-US" sz="13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300" b="1" dirty="0">
                          <a:solidFill>
                            <a:srgbClr val="2D9D78"/>
                          </a:solidFill>
                          <a:latin typeface="Arial" pitchFamily="34" charset="0"/>
                          <a:ea typeface="Arial" pitchFamily="34" charset="-122"/>
                          <a:cs typeface="Arial" pitchFamily="34" charset="-120"/>
                        </a:rPr>
                        <a:t>By itself</a:t>
                      </a:r>
                      <a:endParaRPr lang="en-US" sz="13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300" dirty="0">
                          <a:solidFill>
                            <a:srgbClr val="2C2C2C"/>
                          </a:solidFill>
                          <a:latin typeface="Arial" pitchFamily="34" charset="0"/>
                          <a:ea typeface="Arial" pitchFamily="34" charset="-122"/>
                          <a:cs typeface="Arial" pitchFamily="34" charset="-120"/>
                        </a:rPr>
                        <a:t>Given hints; read the sheet, couldn't write it</a:t>
                      </a:r>
                      <a:endParaRPr lang="en-US" sz="13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r h="0">
                <a:tc>
                  <a:txBody>
                    <a:bodyPr/>
                    <a:lstStyle/>
                    <a:p>
                      <a:pPr indent="0" marL="0">
                        <a:buNone/>
                      </a:pPr>
                      <a:r>
                        <a:rPr lang="en-US" sz="1300" dirty="0">
                          <a:solidFill>
                            <a:srgbClr val="2C2C2C"/>
                          </a:solidFill>
                          <a:latin typeface="Arial" pitchFamily="34" charset="0"/>
                          <a:ea typeface="Arial" pitchFamily="34" charset="-122"/>
                          <a:cs typeface="Arial" pitchFamily="34" charset="-120"/>
                        </a:rPr>
                        <a:t>Verified results</a:t>
                      </a:r>
                      <a:endParaRPr lang="en-US" sz="13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b="1" dirty="0">
                          <a:solidFill>
                            <a:srgbClr val="2D9D78"/>
                          </a:solidFill>
                          <a:latin typeface="Arial" pitchFamily="34" charset="0"/>
                          <a:ea typeface="Arial" pitchFamily="34" charset="-122"/>
                          <a:cs typeface="Arial" pitchFamily="34" charset="-120"/>
                        </a:rPr>
                        <a:t>Status + audit log</a:t>
                      </a:r>
                      <a:endParaRPr lang="en-US" sz="13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b="1" dirty="0">
                          <a:solidFill>
                            <a:srgbClr val="EB1000"/>
                          </a:solidFill>
                          <a:latin typeface="Arial" pitchFamily="34" charset="0"/>
                          <a:ea typeface="Arial" pitchFamily="34" charset="-122"/>
                          <a:cs typeface="Arial" pitchFamily="34" charset="-120"/>
                        </a:rPr>
                        <a:t>Not reached</a:t>
                      </a:r>
                      <a:endParaRPr lang="en-US" sz="13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1300" dirty="0">
                          <a:solidFill>
                            <a:srgbClr val="2C2C2C"/>
                          </a:solidFill>
                          <a:latin typeface="Arial" pitchFamily="34" charset="0"/>
                          <a:ea typeface="Arial" pitchFamily="34" charset="-122"/>
                          <a:cs typeface="Arial" pitchFamily="34" charset="-120"/>
                        </a:rPr>
                        <a:t>Errors</a:t>
                      </a:r>
                      <a:endParaRPr lang="en-US" sz="13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300" dirty="0">
                          <a:solidFill>
                            <a:srgbClr val="2C2C2C"/>
                          </a:solidFill>
                          <a:latin typeface="Arial" pitchFamily="34" charset="0"/>
                          <a:ea typeface="Arial" pitchFamily="34" charset="-122"/>
                          <a:cs typeface="Arial" pitchFamily="34" charset="-120"/>
                        </a:rPr>
                        <a:t>1 retry, 1 trimmed output</a:t>
                      </a:r>
                      <a:endParaRPr lang="en-US" sz="13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300" b="1" dirty="0">
                          <a:solidFill>
                            <a:srgbClr val="E68619"/>
                          </a:solidFill>
                          <a:latin typeface="Arial" pitchFamily="34" charset="0"/>
                          <a:ea typeface="Arial" pitchFamily="34" charset="-122"/>
                          <a:cs typeface="Arial" pitchFamily="34" charset="-120"/>
                        </a:rPr>
                        <a:t>6 × Bad Request; contradictory answers</a:t>
                      </a:r>
                      <a:endParaRPr lang="en-US" sz="13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r h="0">
                <a:tc>
                  <a:txBody>
                    <a:bodyPr/>
                    <a:lstStyle/>
                    <a:p>
                      <a:pPr indent="0" marL="0">
                        <a:buNone/>
                      </a:pPr>
                      <a:r>
                        <a:rPr lang="en-US" sz="1300" dirty="0">
                          <a:solidFill>
                            <a:srgbClr val="2C2C2C"/>
                          </a:solidFill>
                          <a:latin typeface="Arial" pitchFamily="34" charset="0"/>
                          <a:ea typeface="Arial" pitchFamily="34" charset="-122"/>
                          <a:cs typeface="Arial" pitchFamily="34" charset="-120"/>
                        </a:rPr>
                        <a:t>Unrequested changes</a:t>
                      </a:r>
                      <a:endParaRPr lang="en-US" sz="13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dirty="0">
                          <a:solidFill>
                            <a:srgbClr val="2C2C2C"/>
                          </a:solidFill>
                          <a:latin typeface="Arial" pitchFamily="34" charset="0"/>
                          <a:ea typeface="Arial" pitchFamily="34" charset="-122"/>
                          <a:cs typeface="Arial" pitchFamily="34" charset="-120"/>
                        </a:rPr>
                        <a:t>None recorded</a:t>
                      </a:r>
                      <a:endParaRPr lang="en-US" sz="13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300" b="1" dirty="0">
                          <a:solidFill>
                            <a:srgbClr val="E68619"/>
                          </a:solidFill>
                          <a:latin typeface="Arial" pitchFamily="34" charset="0"/>
                          <a:ea typeface="Arial" pitchFamily="34" charset="-122"/>
                          <a:cs typeface="Arial" pitchFamily="34" charset="-120"/>
                        </a:rPr>
                        <a:t>8 pages re-previewed twice</a:t>
                      </a:r>
                      <a:endParaRPr lang="en-US" sz="13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1300" dirty="0">
                          <a:solidFill>
                            <a:srgbClr val="2C2C2C"/>
                          </a:solidFill>
                          <a:latin typeface="Arial" pitchFamily="34" charset="0"/>
                          <a:ea typeface="Arial" pitchFamily="34" charset="-122"/>
                          <a:cs typeface="Arial" pitchFamily="34" charset="-120"/>
                        </a:rPr>
                        <a:t>Advice quality</a:t>
                      </a:r>
                      <a:endParaRPr lang="en-US" sz="13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300" dirty="0">
                          <a:solidFill>
                            <a:srgbClr val="2C2C2C"/>
                          </a:solidFill>
                          <a:latin typeface="Arial" pitchFamily="34" charset="0"/>
                          <a:ea typeface="Arial" pitchFamily="34" charset="-122"/>
                          <a:cs typeface="Arial" pitchFamily="34" charset="-120"/>
                        </a:rPr>
                        <a:t>—</a:t>
                      </a:r>
                      <a:endParaRPr lang="en-US" sz="13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300" b="1" dirty="0">
                          <a:solidFill>
                            <a:srgbClr val="E68619"/>
                          </a:solidFill>
                          <a:latin typeface="Arial" pitchFamily="34" charset="0"/>
                          <a:ea typeface="Arial" pitchFamily="34" charset="-122"/>
                          <a:cs typeface="Arial" pitchFamily="34" charset="-120"/>
                        </a:rPr>
                        <a:t>Past date; wrong activation step; scheduler-app claim contradicts docs</a:t>
                      </a:r>
                      <a:endParaRPr lang="en-US" sz="13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bl>
          </a:graphicData>
        </a:graphic>
      </p:graphicFrame>
      <p:sp>
        <p:nvSpPr>
          <p:cNvPr id="9" name="Text 5"/>
          <p:cNvSpPr/>
          <p:nvPr/>
        </p:nvSpPr>
        <p:spPr>
          <a:xfrm>
            <a:off x="457200" y="5257800"/>
            <a:ext cx="11247120" cy="640080"/>
          </a:xfrm>
          <a:prstGeom prst="rect">
            <a:avLst/>
          </a:prstGeom>
          <a:noFill/>
          <a:ln/>
        </p:spPr>
        <p:txBody>
          <a:bodyPr wrap="square" rtlCol="0" anchor="ctr"/>
          <a:lstStyle/>
          <a:p>
            <a:pPr indent="0" marL="0">
              <a:buNone/>
            </a:pPr>
            <a:r>
              <a:rPr lang="en-US" sz="1300" b="1" dirty="0">
                <a:solidFill>
                  <a:srgbClr val="2C2C2C"/>
                </a:solidFill>
                <a:latin typeface="Arial" pitchFamily="34" charset="0"/>
                <a:ea typeface="Arial" pitchFamily="34" charset="-122"/>
                <a:cs typeface="Arial" pitchFamily="34" charset="-120"/>
              </a:rPr>
              <a:t>Characterisation: unsuccessful in our environment. Coworker reported tool limitations (no time access, schedule-sheet read/write errors). Not shown to be unsupported in general.</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Adobe">    </p:cNvPr>
          <p:cNvPicPr>
            <a:picLocks noChangeAspect="1"/>
          </p:cNvPicPr>
          <p:nvPr/>
        </p:nvPicPr>
        <p:blipFill>
          <a:blip r:embed="rId1"/>
          <a:stretch>
            <a:fillRect/>
          </a:stretch>
        </p:blipFill>
        <p:spPr>
          <a:xfrm>
            <a:off x="10588752" y="292608"/>
            <a:ext cx="1133856" cy="274320"/>
          </a:xfrm>
          <a:prstGeom prst="rect">
            <a:avLst/>
          </a:prstGeom>
        </p:spPr>
      </p:pic>
      <p:sp>
        <p:nvSpPr>
          <p:cNvPr id="3" name="Text 0"/>
          <p:cNvSpPr/>
          <p:nvPr/>
        </p:nvSpPr>
        <p:spPr>
          <a:xfrm>
            <a:off x="457200" y="274320"/>
            <a:ext cx="9144000" cy="274320"/>
          </a:xfrm>
          <a:prstGeom prst="rect">
            <a:avLst/>
          </a:prstGeom>
          <a:noFill/>
          <a:ln/>
        </p:spPr>
        <p:txBody>
          <a:bodyPr wrap="square" rtlCol="0" anchor="ctr"/>
          <a:lstStyle/>
          <a:p>
            <a:pPr indent="0" marL="0">
              <a:buNone/>
            </a:pPr>
            <a:r>
              <a:rPr lang="en-US" sz="1100" b="1" spc="100" kern="0" dirty="0">
                <a:solidFill>
                  <a:srgbClr val="EB1000"/>
                </a:solidFill>
                <a:latin typeface="Arial" pitchFamily="34" charset="0"/>
                <a:ea typeface="Arial" pitchFamily="34" charset="-122"/>
                <a:cs typeface="Arial" pitchFamily="34" charset="-120"/>
              </a:rPr>
              <a:t>7 · ADDITIONAL INVESTIGATIONS AND FINDINGS</a:t>
            </a:r>
            <a:endParaRPr lang="en-US" sz="1100" dirty="0"/>
          </a:p>
        </p:txBody>
      </p:sp>
      <p:sp>
        <p:nvSpPr>
          <p:cNvPr id="4" name="Text 1"/>
          <p:cNvSpPr/>
          <p:nvPr/>
        </p:nvSpPr>
        <p:spPr>
          <a:xfrm>
            <a:off x="457200" y="566928"/>
            <a:ext cx="10241280" cy="640080"/>
          </a:xfrm>
          <a:prstGeom prst="rect">
            <a:avLst/>
          </a:prstGeom>
          <a:noFill/>
          <a:ln/>
        </p:spPr>
        <p:txBody>
          <a:bodyPr wrap="square" rtlCol="0" anchor="ctr"/>
          <a:lstStyle/>
          <a:p>
            <a:pPr indent="0" marL="0">
              <a:buNone/>
            </a:pPr>
            <a:r>
              <a:rPr lang="en-US" sz="2600" b="1" dirty="0">
                <a:solidFill>
                  <a:srgbClr val="2C2C2C"/>
                </a:solidFill>
                <a:latin typeface="Arial" pitchFamily="34" charset="0"/>
                <a:ea typeface="Arial" pitchFamily="34" charset="-122"/>
                <a:cs typeface="Arial" pitchFamily="34" charset="-120"/>
              </a:rPr>
              <a:t>7A · Unpublishing a page: what happens to its assets</a:t>
            </a:r>
            <a:endParaRPr lang="en-US" sz="2600" dirty="0"/>
          </a:p>
        </p:txBody>
      </p:sp>
      <p:sp>
        <p:nvSpPr>
          <p:cNvPr id="5" name="Shape 2"/>
          <p:cNvSpPr/>
          <p:nvPr/>
        </p:nvSpPr>
        <p:spPr>
          <a:xfrm>
            <a:off x="457200" y="1243584"/>
            <a:ext cx="1097280" cy="54864"/>
          </a:xfrm>
          <a:prstGeom prst="rect">
            <a:avLst/>
          </a:prstGeom>
          <a:solidFill>
            <a:srgbClr val="EB1000"/>
          </a:solidFill>
          <a:ln w="12700">
            <a:solidFill>
              <a:srgbClr val="EB1000"/>
            </a:solidFill>
            <a:prstDash val="solid"/>
          </a:ln>
        </p:spPr>
      </p:sp>
      <p:sp>
        <p:nvSpPr>
          <p:cNvPr id="6" name="Text 3"/>
          <p:cNvSpPr/>
          <p:nvPr/>
        </p:nvSpPr>
        <p:spPr>
          <a:xfrm>
            <a:off x="457200" y="6446520"/>
            <a:ext cx="7315200" cy="274320"/>
          </a:xfrm>
          <a:prstGeom prst="rect">
            <a:avLst/>
          </a:prstGeom>
          <a:noFill/>
          <a:ln/>
        </p:spPr>
        <p:txBody>
          <a:bodyPr wrap="square" rtlCol="0" anchor="ctr"/>
          <a:lstStyle/>
          <a:p>
            <a:pPr indent="0" marL="0">
              <a:buNone/>
            </a:pPr>
            <a:r>
              <a:rPr lang="en-US" sz="900" dirty="0">
                <a:solidFill>
                  <a:srgbClr val="6E6E6E"/>
                </a:solidFill>
                <a:latin typeface="Arial" pitchFamily="34" charset="0"/>
                <a:ea typeface="Arial" pitchFamily="34" charset="-122"/>
                <a:cs typeface="Arial" pitchFamily="34" charset="-120"/>
              </a:rPr>
              <a:t>© 2026 Adobe. All Rights Reserved. Adobe Confidential.</a:t>
            </a:r>
            <a:endParaRPr lang="en-US" sz="900" dirty="0"/>
          </a:p>
        </p:txBody>
      </p:sp>
      <p:sp>
        <p:nvSpPr>
          <p:cNvPr id="7" name="Text 4"/>
          <p:cNvSpPr/>
          <p:nvPr/>
        </p:nvSpPr>
        <p:spPr>
          <a:xfrm>
            <a:off x="11274552" y="6446520"/>
            <a:ext cx="457200" cy="274320"/>
          </a:xfrm>
          <a:prstGeom prst="rect">
            <a:avLst/>
          </a:prstGeom>
          <a:noFill/>
          <a:ln/>
        </p:spPr>
        <p:txBody>
          <a:bodyPr wrap="square" rtlCol="0" anchor="ctr"/>
          <a:lstStyle/>
          <a:p>
            <a:pPr algn="r" indent="0" marL="0">
              <a:buNone/>
            </a:pPr>
            <a:r>
              <a:rPr lang="en-US" sz="900" dirty="0">
                <a:solidFill>
                  <a:srgbClr val="6E6E6E"/>
                </a:solidFill>
                <a:latin typeface="Arial" pitchFamily="34" charset="0"/>
                <a:ea typeface="Arial" pitchFamily="34" charset="-122"/>
                <a:cs typeface="Arial" pitchFamily="34" charset="-120"/>
              </a:rPr>
              <a:t>13</a:t>
            </a:r>
            <a:endParaRPr lang="en-US" sz="900" dirty="0"/>
          </a:p>
        </p:txBody>
      </p:sp>
      <p:sp>
        <p:nvSpPr>
          <p:cNvPr id="8" name="Text 5"/>
          <p:cNvSpPr/>
          <p:nvPr/>
        </p:nvSpPr>
        <p:spPr>
          <a:xfrm>
            <a:off x="457200" y="1417320"/>
            <a:ext cx="11247120" cy="320040"/>
          </a:xfrm>
          <a:prstGeom prst="rect">
            <a:avLst/>
          </a:prstGeom>
          <a:noFill/>
          <a:ln/>
        </p:spPr>
        <p:txBody>
          <a:bodyPr wrap="square" rtlCol="0" anchor="ctr"/>
          <a:lstStyle/>
          <a:p>
            <a:pPr indent="0" marL="0">
              <a:buNone/>
            </a:pPr>
            <a:r>
              <a:rPr lang="en-US" sz="1300" dirty="0">
                <a:solidFill>
                  <a:srgbClr val="6E6E6E"/>
                </a:solidFill>
                <a:latin typeface="Arial" pitchFamily="34" charset="0"/>
                <a:ea typeface="Arial" pitchFamily="34" charset="-122"/>
                <a:cs typeface="Arial" pitchFamily="34" charset="-120"/>
              </a:rPr>
              <a:t>Test: new page with a new image → scheduled publish → Unpublish from the editor (B1–B5, 22 Oct)</a:t>
            </a:r>
            <a:endParaRPr lang="en-US" sz="1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783080"/>
          <a:ext cx="7315200" cy="914400"/>
        </p:xfrm>
        <a:graphic>
          <a:graphicData uri="http://schemas.openxmlformats.org/drawingml/2006/table">
            <a:tbl>
              <a:tblPr/>
              <a:tblGrid>
                <a:gridCol w="2286000"/>
                <a:gridCol w="3931920"/>
                <a:gridCol w="109728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What</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After the page was unpublished</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Evidence</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r>
              <a:tr h="0">
                <a:tc>
                  <a:txBody>
                    <a:bodyPr/>
                    <a:lstStyle/>
                    <a:p>
                      <a:pPr indent="0" marL="0">
                        <a:buNone/>
                      </a:pPr>
                      <a:r>
                        <a:rPr lang="en-US" sz="1200" dirty="0">
                          <a:solidFill>
                            <a:srgbClr val="2C2C2C"/>
                          </a:solidFill>
                          <a:latin typeface="Arial" pitchFamily="34" charset="0"/>
                          <a:ea typeface="Arial" pitchFamily="34" charset="-122"/>
                          <a:cs typeface="Arial" pitchFamily="34" charset="-120"/>
                        </a:rPr>
                        <a:t>Page on the live site</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2C2C2C"/>
                          </a:solidFill>
                          <a:latin typeface="Arial" pitchFamily="34" charset="0"/>
                          <a:ea typeface="Arial" pitchFamily="34" charset="-122"/>
                          <a:cs typeface="Arial" pitchFamily="34" charset="-120"/>
                        </a:rPr>
                        <a:t>Gone (404)</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b="1" dirty="0">
                          <a:solidFill>
                            <a:srgbClr val="2D9D78"/>
                          </a:solidFill>
                          <a:latin typeface="Arial" pitchFamily="34" charset="0"/>
                          <a:ea typeface="Arial" pitchFamily="34" charset="-122"/>
                          <a:cs typeface="Arial" pitchFamily="34" charset="-120"/>
                        </a:rPr>
                        <a:t>Tested B5</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1200" dirty="0">
                          <a:solidFill>
                            <a:srgbClr val="2C2C2C"/>
                          </a:solidFill>
                          <a:latin typeface="Arial" pitchFamily="34" charset="0"/>
                          <a:ea typeface="Arial" pitchFamily="34" charset="-122"/>
                          <a:cs typeface="Arial" pitchFamily="34" charset="-120"/>
                        </a:rPr>
                        <a:t>Page in preview</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200" dirty="0">
                          <a:solidFill>
                            <a:srgbClr val="2C2C2C"/>
                          </a:solidFill>
                          <a:latin typeface="Arial" pitchFamily="34" charset="0"/>
                          <a:ea typeface="Arial" pitchFamily="34" charset="-122"/>
                          <a:cs typeface="Arial" pitchFamily="34" charset="-120"/>
                        </a:rPr>
                        <a:t>Also gone: the editor's Unpublish removes preview and live</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200" b="1" dirty="0">
                          <a:solidFill>
                            <a:srgbClr val="2D9D78"/>
                          </a:solidFill>
                          <a:latin typeface="Arial" pitchFamily="34" charset="0"/>
                          <a:ea typeface="Arial" pitchFamily="34" charset="-122"/>
                          <a:cs typeface="Arial" pitchFamily="34" charset="-120"/>
                        </a:rPr>
                        <a:t>Tested B5 (audit log)</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r h="0">
                <a:tc>
                  <a:txBody>
                    <a:bodyPr/>
                    <a:lstStyle/>
                    <a:p>
                      <a:pPr indent="0" marL="0">
                        <a:buNone/>
                      </a:pPr>
                      <a:r>
                        <a:rPr lang="en-US" sz="1200" dirty="0">
                          <a:solidFill>
                            <a:srgbClr val="2C2C2C"/>
                          </a:solidFill>
                          <a:latin typeface="Arial" pitchFamily="34" charset="0"/>
                          <a:ea typeface="Arial" pitchFamily="34" charset="-122"/>
                          <a:cs typeface="Arial" pitchFamily="34" charset="-120"/>
                        </a:rPr>
                        <a:t>The image (media_1717…png)</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2C2C2C"/>
                          </a:solidFill>
                          <a:latin typeface="Arial" pitchFamily="34" charset="0"/>
                          <a:ea typeface="Arial" pitchFamily="34" charset="-122"/>
                          <a:cs typeface="Arial" pitchFamily="34" charset="-120"/>
                        </a:rPr>
                        <a:t>Still served: full 5.2 MB original, also under other paths</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b="1" dirty="0">
                          <a:solidFill>
                            <a:srgbClr val="E68619"/>
                          </a:solidFill>
                          <a:latin typeface="Arial" pitchFamily="34" charset="0"/>
                          <a:ea typeface="Arial" pitchFamily="34" charset="-122"/>
                          <a:cs typeface="Arial" pitchFamily="34" charset="-120"/>
                        </a:rPr>
                        <a:t>Tested B5</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1200" dirty="0">
                          <a:solidFill>
                            <a:srgbClr val="2C2C2C"/>
                          </a:solidFill>
                          <a:latin typeface="Arial" pitchFamily="34" charset="0"/>
                          <a:ea typeface="Arial" pitchFamily="34" charset="-122"/>
                          <a:cs typeface="Arial" pitchFamily="34" charset="-120"/>
                        </a:rPr>
                        <a:t>Sitemap</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200" dirty="0">
                          <a:solidFill>
                            <a:srgbClr val="2C2C2C"/>
                          </a:solidFill>
                          <a:latin typeface="Arial" pitchFamily="34" charset="0"/>
                          <a:ea typeface="Arial" pitchFamily="34" charset="-122"/>
                          <a:cs typeface="Arial" pitchFamily="34" charset="-120"/>
                        </a:rPr>
                        <a:t>A page unpublished by schedule is removed (arctic-surfing, T5)</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200" b="1" dirty="0">
                          <a:solidFill>
                            <a:srgbClr val="2D9D78"/>
                          </a:solidFill>
                          <a:latin typeface="Arial" pitchFamily="34" charset="0"/>
                          <a:ea typeface="Arial" pitchFamily="34" charset="-122"/>
                          <a:cs typeface="Arial" pitchFamily="34" charset="-120"/>
                        </a:rPr>
                        <a:t>Tested</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r h="0">
                <a:tc>
                  <a:txBody>
                    <a:bodyPr/>
                    <a:lstStyle/>
                    <a:p>
                      <a:pPr indent="0" marL="0">
                        <a:buNone/>
                      </a:pPr>
                      <a:r>
                        <a:rPr lang="en-US" sz="1200" dirty="0">
                          <a:solidFill>
                            <a:srgbClr val="2C2C2C"/>
                          </a:solidFill>
                          <a:latin typeface="Arial" pitchFamily="34" charset="0"/>
                          <a:ea typeface="Arial" pitchFamily="34" charset="-122"/>
                          <a:cs typeface="Arial" pitchFamily="34" charset="-120"/>
                        </a:rPr>
                        <a:t>Removing the image</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2C2C2C"/>
                          </a:solidFill>
                          <a:latin typeface="Arial" pitchFamily="34" charset="0"/>
                          <a:ea typeface="Arial" pitchFamily="34" charset="-122"/>
                          <a:cs typeface="Arial" pitchFamily="34" charset="-120"/>
                        </a:rPr>
                        <a:t>No option found in the editor</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b="1" dirty="0">
                          <a:solidFill>
                            <a:srgbClr val="6E6E6E"/>
                          </a:solidFill>
                          <a:latin typeface="Arial" pitchFamily="34" charset="0"/>
                          <a:ea typeface="Arial" pitchFamily="34" charset="-122"/>
                          <a:cs typeface="Arial" pitchFamily="34" charset="-120"/>
                        </a:rPr>
                        <a:t>Unknown</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bl>
          </a:graphicData>
        </a:graphic>
      </p:graphicFrame>
      <p:sp>
        <p:nvSpPr>
          <p:cNvPr id="10" name="Text 6"/>
          <p:cNvSpPr/>
          <p:nvPr/>
        </p:nvSpPr>
        <p:spPr>
          <a:xfrm>
            <a:off x="457200" y="4480560"/>
            <a:ext cx="7315200" cy="1371600"/>
          </a:xfrm>
          <a:prstGeom prst="rect">
            <a:avLst/>
          </a:prstGeom>
          <a:noFill/>
          <a:ln/>
        </p:spPr>
        <p:txBody>
          <a:bodyPr wrap="square" rtlCol="0" anchor="t"/>
          <a:lstStyle/>
          <a:p>
            <a:pPr marL="177800" indent="-177800">
              <a:spcAft>
                <a:spcPts val="400"/>
              </a:spcAft>
              <a:buSzPct val="100000"/>
              <a:buChar char="■"/>
            </a:pPr>
            <a:r>
              <a:rPr lang="en-US" sz="1200" b="1" dirty="0">
                <a:solidFill>
                  <a:srgbClr val="2C2C2C"/>
                </a:solidFill>
                <a:latin typeface="Arial" pitchFamily="34" charset="0"/>
                <a:ea typeface="Arial" pitchFamily="34" charset="-122"/>
                <a:cs typeface="Arial" pitchFamily="34" charset="-120"/>
              </a:rPr>
              <a:t>Images are stored permanently, keyed by their content; unpublishing a page doesn't touch them</a:t>
            </a:r>
            <a:endParaRPr lang="en-US" sz="1200" dirty="0"/>
          </a:p>
          <a:p>
            <a:pPr marL="177800" indent="-177800">
              <a:spcAft>
                <a:spcPts val="400"/>
              </a:spcAft>
              <a:buSzPct val="100000"/>
              <a:buChar char="■"/>
            </a:pPr>
            <a:r>
              <a:rPr lang="en-US" sz="1200" dirty="0">
                <a:solidFill>
                  <a:srgbClr val="E68619"/>
                </a:solidFill>
                <a:latin typeface="Arial" pitchFamily="34" charset="0"/>
                <a:ea typeface="Arial" pitchFamily="34" charset="-122"/>
                <a:cs typeface="Arial" pitchFamily="34" charset="-120"/>
              </a:rPr>
              <a:t>Side finding: the sitemap still uses the old site host (edscapstoneajay) in every URL</a:t>
            </a:r>
            <a:endParaRPr lang="en-US" sz="1200" dirty="0"/>
          </a:p>
        </p:txBody>
      </p:sp>
      <p:pic>
        <p:nvPicPr>
          <p:cNvPr id="11" name="Image 1" descr="Figure 15: Page not found after Unpublish">    </p:cNvPr>
          <p:cNvPicPr>
            <a:picLocks noChangeAspect="1"/>
          </p:cNvPicPr>
          <p:nvPr/>
        </p:nvPicPr>
        <p:blipFill>
          <a:blip r:embed="rId2"/>
          <a:stretch>
            <a:fillRect/>
          </a:stretch>
        </p:blipFill>
        <p:spPr>
          <a:xfrm>
            <a:off x="8747384" y="1463040"/>
            <a:ext cx="2256272" cy="2011680"/>
          </a:xfrm>
          <a:prstGeom prst="rect">
            <a:avLst/>
          </a:prstGeom>
        </p:spPr>
      </p:pic>
      <p:sp>
        <p:nvSpPr>
          <p:cNvPr id="12" name="Shape 7"/>
          <p:cNvSpPr/>
          <p:nvPr/>
        </p:nvSpPr>
        <p:spPr>
          <a:xfrm>
            <a:off x="8747384" y="1463040"/>
            <a:ext cx="2256272" cy="2011680"/>
          </a:xfrm>
          <a:prstGeom prst="rect">
            <a:avLst/>
          </a:prstGeom>
          <a:ln w="9525">
            <a:solidFill>
              <a:srgbClr val="D9D9D9"/>
            </a:solidFill>
            <a:prstDash val="solid"/>
          </a:ln>
        </p:spPr>
      </p:sp>
      <p:sp>
        <p:nvSpPr>
          <p:cNvPr id="13" name="Text 8"/>
          <p:cNvSpPr/>
          <p:nvPr/>
        </p:nvSpPr>
        <p:spPr>
          <a:xfrm>
            <a:off x="8001000" y="3502152"/>
            <a:ext cx="3749040" cy="256032"/>
          </a:xfrm>
          <a:prstGeom prst="rect">
            <a:avLst/>
          </a:prstGeom>
          <a:noFill/>
          <a:ln/>
        </p:spPr>
        <p:txBody>
          <a:bodyPr wrap="square" rtlCol="0" anchor="ctr"/>
          <a:lstStyle/>
          <a:p>
            <a:pPr algn="ctr" indent="0" marL="0">
              <a:buNone/>
            </a:pPr>
            <a:r>
              <a:rPr lang="en-US" sz="900" i="1" dirty="0">
                <a:solidFill>
                  <a:srgbClr val="6E6E6E"/>
                </a:solidFill>
                <a:latin typeface="Arial" pitchFamily="34" charset="0"/>
                <a:ea typeface="Arial" pitchFamily="34" charset="-122"/>
                <a:cs typeface="Arial" pitchFamily="34" charset="-120"/>
              </a:rPr>
              <a:t>Figure 15: Page not found after Unpublish</a:t>
            </a:r>
            <a:endParaRPr lang="en-US" sz="900" dirty="0"/>
          </a:p>
        </p:txBody>
      </p:sp>
      <p:pic>
        <p:nvPicPr>
          <p:cNvPr id="14" name="Image 2" descr="Figure 16: The page's image still loads">    </p:cNvPr>
          <p:cNvPicPr>
            <a:picLocks noChangeAspect="1"/>
          </p:cNvPicPr>
          <p:nvPr/>
        </p:nvPicPr>
        <p:blipFill>
          <a:blip r:embed="rId3"/>
          <a:stretch>
            <a:fillRect/>
          </a:stretch>
        </p:blipFill>
        <p:spPr>
          <a:xfrm>
            <a:off x="8689599" y="3749040"/>
            <a:ext cx="2371842" cy="2011680"/>
          </a:xfrm>
          <a:prstGeom prst="rect">
            <a:avLst/>
          </a:prstGeom>
        </p:spPr>
      </p:pic>
      <p:sp>
        <p:nvSpPr>
          <p:cNvPr id="15" name="Shape 9"/>
          <p:cNvSpPr/>
          <p:nvPr/>
        </p:nvSpPr>
        <p:spPr>
          <a:xfrm>
            <a:off x="8689599" y="3749040"/>
            <a:ext cx="2371842" cy="2011680"/>
          </a:xfrm>
          <a:prstGeom prst="rect">
            <a:avLst/>
          </a:prstGeom>
          <a:ln w="9525">
            <a:solidFill>
              <a:srgbClr val="D9D9D9"/>
            </a:solidFill>
            <a:prstDash val="solid"/>
          </a:ln>
        </p:spPr>
      </p:sp>
      <p:sp>
        <p:nvSpPr>
          <p:cNvPr id="16" name="Text 10"/>
          <p:cNvSpPr/>
          <p:nvPr/>
        </p:nvSpPr>
        <p:spPr>
          <a:xfrm>
            <a:off x="8001000" y="5788152"/>
            <a:ext cx="3749040" cy="256032"/>
          </a:xfrm>
          <a:prstGeom prst="rect">
            <a:avLst/>
          </a:prstGeom>
          <a:noFill/>
          <a:ln/>
        </p:spPr>
        <p:txBody>
          <a:bodyPr wrap="square" rtlCol="0" anchor="ctr"/>
          <a:lstStyle/>
          <a:p>
            <a:pPr algn="ctr" indent="0" marL="0">
              <a:buNone/>
            </a:pPr>
            <a:r>
              <a:rPr lang="en-US" sz="900" i="1" dirty="0">
                <a:solidFill>
                  <a:srgbClr val="6E6E6E"/>
                </a:solidFill>
                <a:latin typeface="Arial" pitchFamily="34" charset="0"/>
                <a:ea typeface="Arial" pitchFamily="34" charset="-122"/>
                <a:cs typeface="Arial" pitchFamily="34" charset="-120"/>
              </a:rPr>
              <a:t>Figure 16: The page's image still loads</a:t>
            </a:r>
            <a:endParaRPr lang="en-US" sz="900" dirty="0"/>
          </a:p>
        </p:txBody>
      </p:sp>
      <p:sp>
        <p:nvSpPr>
          <p:cNvPr id="17" name="Text 11"/>
          <p:cNvSpPr/>
          <p:nvPr/>
        </p:nvSpPr>
        <p:spPr>
          <a:xfrm>
            <a:off x="457200" y="6053328"/>
            <a:ext cx="11247120" cy="292608"/>
          </a:xfrm>
          <a:prstGeom prst="rect">
            <a:avLst/>
          </a:prstGeom>
          <a:noFill/>
          <a:ln/>
        </p:spPr>
        <p:txBody>
          <a:bodyPr wrap="square" rtlCol="0" anchor="ctr"/>
          <a:lstStyle/>
          <a:p>
            <a:pPr indent="0" marL="0">
              <a:buNone/>
            </a:pPr>
            <a:r>
              <a:rPr lang="en-US" sz="1100" b="1" dirty="0">
                <a:solidFill>
                  <a:srgbClr val="EB1000"/>
                </a:solidFill>
                <a:latin typeface="Arial" pitchFamily="34" charset="0"/>
                <a:ea typeface="Arial" pitchFamily="34" charset="-122"/>
                <a:cs typeface="Arial" pitchFamily="34" charset="-120"/>
              </a:rPr>
              <a:t>LIVE  </a:t>
            </a:r>
            <a:pPr indent="0" marL="0">
              <a:buNone/>
            </a:pPr>
            <a:r>
              <a:rPr lang="en-US" sz="1100" dirty="0">
                <a:solidFill>
                  <a:srgbClr val="1473E6"/>
                </a:solidFill>
                <a:latin typeface="Arial" pitchFamily="34" charset="0"/>
                <a:ea typeface="Arial" pitchFamily="34" charset="-122"/>
                <a:cs typeface="Arial" pitchFamily="34" charset="-120"/>
              </a:rPr>
              <a:t>https://main--bv-poc-wknd-aln--araji-adobe.aem.live/us/en/media_171704bfe62ecbfe053083487fe19f22094048810.png</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Adobe">    </p:cNvPr>
          <p:cNvPicPr>
            <a:picLocks noChangeAspect="1"/>
          </p:cNvPicPr>
          <p:nvPr/>
        </p:nvPicPr>
        <p:blipFill>
          <a:blip r:embed="rId1"/>
          <a:stretch>
            <a:fillRect/>
          </a:stretch>
        </p:blipFill>
        <p:spPr>
          <a:xfrm>
            <a:off x="10588752" y="292608"/>
            <a:ext cx="1133856" cy="274320"/>
          </a:xfrm>
          <a:prstGeom prst="rect">
            <a:avLst/>
          </a:prstGeom>
        </p:spPr>
      </p:pic>
      <p:sp>
        <p:nvSpPr>
          <p:cNvPr id="3" name="Text 0"/>
          <p:cNvSpPr/>
          <p:nvPr/>
        </p:nvSpPr>
        <p:spPr>
          <a:xfrm>
            <a:off x="457200" y="274320"/>
            <a:ext cx="9144000" cy="274320"/>
          </a:xfrm>
          <a:prstGeom prst="rect">
            <a:avLst/>
          </a:prstGeom>
          <a:noFill/>
          <a:ln/>
        </p:spPr>
        <p:txBody>
          <a:bodyPr wrap="square" rtlCol="0" anchor="ctr"/>
          <a:lstStyle/>
          <a:p>
            <a:pPr indent="0" marL="0">
              <a:buNone/>
            </a:pPr>
            <a:r>
              <a:rPr lang="en-US" sz="1100" b="1" spc="100" kern="0" dirty="0">
                <a:solidFill>
                  <a:srgbClr val="EB1000"/>
                </a:solidFill>
                <a:latin typeface="Arial" pitchFamily="34" charset="0"/>
                <a:ea typeface="Arial" pitchFamily="34" charset="-122"/>
                <a:cs typeface="Arial" pitchFamily="34" charset="-120"/>
              </a:rPr>
              <a:t>7 · ADDITIONAL INVESTIGATIONS AND FINDINGS</a:t>
            </a:r>
            <a:endParaRPr lang="en-US" sz="1100" dirty="0"/>
          </a:p>
        </p:txBody>
      </p:sp>
      <p:sp>
        <p:nvSpPr>
          <p:cNvPr id="4" name="Text 1"/>
          <p:cNvSpPr/>
          <p:nvPr/>
        </p:nvSpPr>
        <p:spPr>
          <a:xfrm>
            <a:off x="457200" y="566928"/>
            <a:ext cx="10241280" cy="640080"/>
          </a:xfrm>
          <a:prstGeom prst="rect">
            <a:avLst/>
          </a:prstGeom>
          <a:noFill/>
          <a:ln/>
        </p:spPr>
        <p:txBody>
          <a:bodyPr wrap="square" rtlCol="0" anchor="ctr"/>
          <a:lstStyle/>
          <a:p>
            <a:pPr indent="0" marL="0">
              <a:buNone/>
            </a:pPr>
            <a:r>
              <a:rPr lang="en-US" sz="2600" b="1" dirty="0">
                <a:solidFill>
                  <a:srgbClr val="2C2C2C"/>
                </a:solidFill>
                <a:latin typeface="Arial" pitchFamily="34" charset="0"/>
                <a:ea typeface="Arial" pitchFamily="34" charset="-122"/>
                <a:cs typeface="Arial" pitchFamily="34" charset="-120"/>
              </a:rPr>
              <a:t>7B · Fragment and asset publishing dependencies</a:t>
            </a:r>
            <a:endParaRPr lang="en-US" sz="2600" dirty="0"/>
          </a:p>
        </p:txBody>
      </p:sp>
      <p:sp>
        <p:nvSpPr>
          <p:cNvPr id="5" name="Shape 2"/>
          <p:cNvSpPr/>
          <p:nvPr/>
        </p:nvSpPr>
        <p:spPr>
          <a:xfrm>
            <a:off x="457200" y="1243584"/>
            <a:ext cx="1097280" cy="54864"/>
          </a:xfrm>
          <a:prstGeom prst="rect">
            <a:avLst/>
          </a:prstGeom>
          <a:solidFill>
            <a:srgbClr val="EB1000"/>
          </a:solidFill>
          <a:ln w="12700">
            <a:solidFill>
              <a:srgbClr val="EB1000"/>
            </a:solidFill>
            <a:prstDash val="solid"/>
          </a:ln>
        </p:spPr>
      </p:sp>
      <p:sp>
        <p:nvSpPr>
          <p:cNvPr id="6" name="Text 3"/>
          <p:cNvSpPr/>
          <p:nvPr/>
        </p:nvSpPr>
        <p:spPr>
          <a:xfrm>
            <a:off x="457200" y="6446520"/>
            <a:ext cx="7315200" cy="274320"/>
          </a:xfrm>
          <a:prstGeom prst="rect">
            <a:avLst/>
          </a:prstGeom>
          <a:noFill/>
          <a:ln/>
        </p:spPr>
        <p:txBody>
          <a:bodyPr wrap="square" rtlCol="0" anchor="ctr"/>
          <a:lstStyle/>
          <a:p>
            <a:pPr indent="0" marL="0">
              <a:buNone/>
            </a:pPr>
            <a:r>
              <a:rPr lang="en-US" sz="900" dirty="0">
                <a:solidFill>
                  <a:srgbClr val="6E6E6E"/>
                </a:solidFill>
                <a:latin typeface="Arial" pitchFamily="34" charset="0"/>
                <a:ea typeface="Arial" pitchFamily="34" charset="-122"/>
                <a:cs typeface="Arial" pitchFamily="34" charset="-120"/>
              </a:rPr>
              <a:t>© 2026 Adobe. All Rights Reserved. Adobe Confidential.</a:t>
            </a:r>
            <a:endParaRPr lang="en-US" sz="900" dirty="0"/>
          </a:p>
        </p:txBody>
      </p:sp>
      <p:sp>
        <p:nvSpPr>
          <p:cNvPr id="7" name="Text 4"/>
          <p:cNvSpPr/>
          <p:nvPr/>
        </p:nvSpPr>
        <p:spPr>
          <a:xfrm>
            <a:off x="11274552" y="6446520"/>
            <a:ext cx="457200" cy="274320"/>
          </a:xfrm>
          <a:prstGeom prst="rect">
            <a:avLst/>
          </a:prstGeom>
          <a:noFill/>
          <a:ln/>
        </p:spPr>
        <p:txBody>
          <a:bodyPr wrap="square" rtlCol="0" anchor="ctr"/>
          <a:lstStyle/>
          <a:p>
            <a:pPr algn="r" indent="0" marL="0">
              <a:buNone/>
            </a:pPr>
            <a:r>
              <a:rPr lang="en-US" sz="900" dirty="0">
                <a:solidFill>
                  <a:srgbClr val="6E6E6E"/>
                </a:solidFill>
                <a:latin typeface="Arial" pitchFamily="34" charset="0"/>
                <a:ea typeface="Arial" pitchFamily="34" charset="-122"/>
                <a:cs typeface="Arial" pitchFamily="34" charset="-120"/>
              </a:rPr>
              <a:t>14</a:t>
            </a:r>
            <a:endParaRPr lang="en-US" sz="9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6675120" cy="914400"/>
        </p:xfrm>
        <a:graphic>
          <a:graphicData uri="http://schemas.openxmlformats.org/drawingml/2006/table">
            <a:tbl>
              <a:tblPr/>
              <a:tblGrid>
                <a:gridCol w="2103120"/>
                <a:gridCol w="3474720"/>
                <a:gridCol w="109728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Resource</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Published with the scheduled page?</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Evidence</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r>
              <a:tr h="0">
                <a:tc>
                  <a:txBody>
                    <a:bodyPr/>
                    <a:lstStyle/>
                    <a:p>
                      <a:pPr indent="0" marL="0">
                        <a:buNone/>
                      </a:pPr>
                      <a:r>
                        <a:rPr lang="en-US" sz="1200" dirty="0">
                          <a:solidFill>
                            <a:srgbClr val="2C2C2C"/>
                          </a:solidFill>
                          <a:latin typeface="Arial" pitchFamily="34" charset="0"/>
                          <a:ea typeface="Arial" pitchFamily="34" charset="-122"/>
                          <a:cs typeface="Arial" pitchFamily="34" charset="-120"/>
                        </a:rPr>
                        <a:t>EDS fragment</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b="1" dirty="0">
                          <a:solidFill>
                            <a:srgbClr val="EB1000"/>
                          </a:solidFill>
                          <a:latin typeface="Arial" pitchFamily="34" charset="0"/>
                          <a:ea typeface="Arial" pitchFamily="34" charset="-122"/>
                          <a:cs typeface="Arial" pitchFamily="34" charset="-120"/>
                        </a:rPr>
                        <a:t>No: needs its own preview and publish</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b="1" dirty="0">
                          <a:solidFill>
                            <a:srgbClr val="2D9D78"/>
                          </a:solidFill>
                          <a:latin typeface="Arial" pitchFamily="34" charset="0"/>
                          <a:ea typeface="Arial" pitchFamily="34" charset="-122"/>
                          <a:cs typeface="Arial" pitchFamily="34" charset="-120"/>
                        </a:rPr>
                        <a:t>A3–A5</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1200" dirty="0">
                          <a:solidFill>
                            <a:srgbClr val="2C2C2C"/>
                          </a:solidFill>
                          <a:latin typeface="Arial" pitchFamily="34" charset="0"/>
                          <a:ea typeface="Arial" pitchFamily="34" charset="-122"/>
                          <a:cs typeface="Arial" pitchFamily="34" charset="-120"/>
                        </a:rPr>
                        <a:t>Image inside the page</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200" b="1" dirty="0">
                          <a:solidFill>
                            <a:srgbClr val="2D9D78"/>
                          </a:solidFill>
                          <a:latin typeface="Arial" pitchFamily="34" charset="0"/>
                          <a:ea typeface="Arial" pitchFamily="34" charset="-122"/>
                          <a:cs typeface="Arial" pitchFamily="34" charset="-120"/>
                        </a:rPr>
                        <a:t>Yes, automatically</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200" b="1" dirty="0">
                          <a:solidFill>
                            <a:srgbClr val="2D9D78"/>
                          </a:solidFill>
                          <a:latin typeface="Arial" pitchFamily="34" charset="0"/>
                          <a:ea typeface="Arial" pitchFamily="34" charset="-122"/>
                          <a:cs typeface="Arial" pitchFamily="34" charset="-120"/>
                        </a:rPr>
                        <a:t>B2–B4</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r h="0">
                <a:tc>
                  <a:txBody>
                    <a:bodyPr/>
                    <a:lstStyle/>
                    <a:p>
                      <a:pPr indent="0" marL="0">
                        <a:buNone/>
                      </a:pPr>
                      <a:r>
                        <a:rPr lang="en-US" sz="1200" dirty="0">
                          <a:solidFill>
                            <a:srgbClr val="2C2C2C"/>
                          </a:solidFill>
                          <a:latin typeface="Arial" pitchFamily="34" charset="0"/>
                          <a:ea typeface="Arial" pitchFamily="34" charset="-122"/>
                          <a:cs typeface="Arial" pitchFamily="34" charset="-120"/>
                        </a:rPr>
                        <a:t>Image before the page goes live</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b="1" dirty="0">
                          <a:solidFill>
                            <a:srgbClr val="E68619"/>
                          </a:solidFill>
                          <a:latin typeface="Arial" pitchFamily="34" charset="0"/>
                          <a:ea typeface="Arial" pitchFamily="34" charset="-122"/>
                          <a:cs typeface="Arial" pitchFamily="34" charset="-120"/>
                        </a:rPr>
                        <a:t>Already reachable on live after preview</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b="1" dirty="0">
                          <a:solidFill>
                            <a:srgbClr val="2D9D78"/>
                          </a:solidFill>
                          <a:latin typeface="Arial" pitchFamily="34" charset="0"/>
                          <a:ea typeface="Arial" pitchFamily="34" charset="-122"/>
                          <a:cs typeface="Arial" pitchFamily="34" charset="-120"/>
                        </a:rPr>
                        <a:t>B3</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bl>
          </a:graphicData>
        </a:graphic>
      </p:graphicFrame>
      <p:sp>
        <p:nvSpPr>
          <p:cNvPr id="9" name="Text 5"/>
          <p:cNvSpPr/>
          <p:nvPr/>
        </p:nvSpPr>
        <p:spPr>
          <a:xfrm>
            <a:off x="457200" y="2880360"/>
            <a:ext cx="6675120" cy="3108960"/>
          </a:xfrm>
          <a:prstGeom prst="rect">
            <a:avLst/>
          </a:prstGeom>
          <a:noFill/>
          <a:ln/>
        </p:spPr>
        <p:txBody>
          <a:bodyPr wrap="square" rtlCol="0" anchor="t"/>
          <a:lstStyle/>
          <a:p>
            <a:pPr marL="177800" indent="-177800">
              <a:spcAft>
                <a:spcPts val="400"/>
              </a:spcAft>
              <a:buSzPct val="100000"/>
              <a:buChar char="■"/>
            </a:pPr>
            <a:r>
              <a:rPr lang="en-US" sz="1200" b="1" dirty="0">
                <a:solidFill>
                  <a:srgbClr val="2C2C2C"/>
                </a:solidFill>
                <a:latin typeface="Arial" pitchFamily="34" charset="0"/>
                <a:ea typeface="Arial" pitchFamily="34" charset="-122"/>
                <a:cs typeface="Arial" pitchFamily="34" charset="-120"/>
              </a:rPr>
              <a:t>Page live before its fragment: visitors see the raw fragment URL as a yellow button linking to a 404 (A5)</a:t>
            </a:r>
            <a:endParaRPr lang="en-US" sz="1200" dirty="0"/>
          </a:p>
          <a:p>
            <a:pPr marL="177800" indent="-177800">
              <a:spcAft>
                <a:spcPts val="400"/>
              </a:spcAft>
              <a:buSzPct val="100000"/>
              <a:buChar char="■"/>
            </a:pPr>
            <a:r>
              <a:rPr lang="en-US" sz="1200" dirty="0">
                <a:solidFill>
                  <a:srgbClr val="2D9D78"/>
                </a:solidFill>
                <a:latin typeface="Arial" pitchFamily="34" charset="0"/>
                <a:ea typeface="Arial" pitchFamily="34" charset="-122"/>
                <a:cs typeface="Arial" pitchFamily="34" charset="-120"/>
              </a:rPr>
              <a:t>Fragment published later: the page fixes itself, no republish needed (A8)</a:t>
            </a:r>
            <a:endParaRPr lang="en-US" sz="1200" dirty="0"/>
          </a:p>
          <a:p>
            <a:pPr marL="177800" indent="-177800">
              <a:spcAft>
                <a:spcPts val="400"/>
              </a:spcAft>
              <a:buSzPct val="100000"/>
              <a:buChar char="■"/>
            </a:pPr>
            <a:r>
              <a:rPr lang="en-US" sz="1200" dirty="0">
                <a:solidFill>
                  <a:srgbClr val="E68619"/>
                </a:solidFill>
                <a:latin typeface="Arial" pitchFamily="34" charset="0"/>
                <a:ea typeface="Arial" pitchFamily="34" charset="-122"/>
                <a:cs typeface="Arial" pitchFamily="34" charset="-120"/>
              </a:rPr>
              <a:t>Browsers that saw the broken version may keep it for up to 2 hours (cached 404) (A9)</a:t>
            </a:r>
            <a:endParaRPr lang="en-US" sz="1200" dirty="0"/>
          </a:p>
          <a:p>
            <a:pPr marL="177800" indent="-177800">
              <a:spcAft>
                <a:spcPts val="400"/>
              </a:spcAft>
              <a:buSzPct val="100000"/>
              <a:buChar char="■"/>
            </a:pPr>
            <a:r>
              <a:rPr lang="en-US" sz="1200" dirty="0">
                <a:solidFill>
                  <a:srgbClr val="E68619"/>
                </a:solidFill>
                <a:latin typeface="Arial" pitchFamily="34" charset="0"/>
                <a:ea typeface="Arial" pitchFamily="34" charset="-122"/>
                <a:cs typeface="Arial" pitchFamily="34" charset="-120"/>
              </a:rPr>
              <a:t>No dependency detection or warning in preview, the dialog or the log</a:t>
            </a:r>
            <a:endParaRPr lang="en-US" sz="1200" dirty="0"/>
          </a:p>
          <a:p>
            <a:pPr marL="177800" indent="-177800">
              <a:spcAft>
                <a:spcPts val="400"/>
              </a:spcAft>
              <a:buSzPct val="100000"/>
              <a:buChar char="■"/>
            </a:pPr>
            <a:r>
              <a:rPr lang="en-US" sz="1200" dirty="0">
                <a:solidFill>
                  <a:srgbClr val="1473E6"/>
                </a:solidFill>
                <a:latin typeface="Arial" pitchFamily="34" charset="0"/>
                <a:ea typeface="Arial" pitchFamily="34" charset="-122"/>
                <a:cs typeface="Arial" pitchFamily="34" charset="-120"/>
              </a:rPr>
              <a:t>Bundle option: Snapshots (documented); scheduling a snapshot not tested</a:t>
            </a:r>
            <a:endParaRPr lang="en-US" sz="1200" dirty="0"/>
          </a:p>
          <a:p>
            <a:pPr lvl="1" marL="457200" indent="-228600">
              <a:spcAft>
                <a:spcPts val="400"/>
              </a:spcAft>
              <a:buSzPct val="100000"/>
              <a:buChar char="•"/>
            </a:pPr>
            <a:r>
              <a:rPr lang="en-US" sz="1200" dirty="0">
                <a:solidFill>
                  <a:srgbClr val="6E6E6E"/>
                </a:solidFill>
                <a:latin typeface="Arial" pitchFamily="34" charset="0"/>
                <a:ea typeface="Arial" pitchFamily="34" charset="-122"/>
                <a:cs typeface="Arial" pitchFamily="34" charset="-120"/>
              </a:rPr>
              <a:t>Scope: EDS document fragments only; AEM Content Fragments aren't integrated in this project</a:t>
            </a:r>
            <a:endParaRPr lang="en-US" sz="1200" dirty="0"/>
          </a:p>
        </p:txBody>
      </p:sp>
      <p:pic>
        <p:nvPicPr>
          <p:cNvPr id="10" name="Image 1" descr="Figure 17: Preview: fragment not loaded">    </p:cNvPr>
          <p:cNvPicPr>
            <a:picLocks noChangeAspect="1"/>
          </p:cNvPicPr>
          <p:nvPr/>
        </p:nvPicPr>
        <p:blipFill>
          <a:blip r:embed="rId2"/>
          <a:stretch>
            <a:fillRect/>
          </a:stretch>
        </p:blipFill>
        <p:spPr>
          <a:xfrm>
            <a:off x="8131998" y="1417320"/>
            <a:ext cx="2755525" cy="1325880"/>
          </a:xfrm>
          <a:prstGeom prst="rect">
            <a:avLst/>
          </a:prstGeom>
        </p:spPr>
      </p:pic>
      <p:sp>
        <p:nvSpPr>
          <p:cNvPr id="11" name="Shape 6"/>
          <p:cNvSpPr/>
          <p:nvPr/>
        </p:nvSpPr>
        <p:spPr>
          <a:xfrm>
            <a:off x="8131998" y="1417320"/>
            <a:ext cx="2755525" cy="1325880"/>
          </a:xfrm>
          <a:prstGeom prst="rect">
            <a:avLst/>
          </a:prstGeom>
          <a:ln w="9525">
            <a:solidFill>
              <a:srgbClr val="D9D9D9"/>
            </a:solidFill>
            <a:prstDash val="solid"/>
          </a:ln>
        </p:spPr>
      </p:sp>
      <p:sp>
        <p:nvSpPr>
          <p:cNvPr id="12" name="Text 7"/>
          <p:cNvSpPr/>
          <p:nvPr/>
        </p:nvSpPr>
        <p:spPr>
          <a:xfrm>
            <a:off x="7269480" y="2770632"/>
            <a:ext cx="4480560" cy="256032"/>
          </a:xfrm>
          <a:prstGeom prst="rect">
            <a:avLst/>
          </a:prstGeom>
          <a:noFill/>
          <a:ln/>
        </p:spPr>
        <p:txBody>
          <a:bodyPr wrap="square" rtlCol="0" anchor="ctr"/>
          <a:lstStyle/>
          <a:p>
            <a:pPr algn="ctr" indent="0" marL="0">
              <a:buNone/>
            </a:pPr>
            <a:r>
              <a:rPr lang="en-US" sz="900" i="1" dirty="0">
                <a:solidFill>
                  <a:srgbClr val="6E6E6E"/>
                </a:solidFill>
                <a:latin typeface="Arial" pitchFamily="34" charset="0"/>
                <a:ea typeface="Arial" pitchFamily="34" charset="-122"/>
                <a:cs typeface="Arial" pitchFamily="34" charset="-120"/>
              </a:rPr>
              <a:t>Figure 17: Preview: fragment not loaded</a:t>
            </a:r>
            <a:endParaRPr lang="en-US" sz="900" dirty="0"/>
          </a:p>
        </p:txBody>
      </p:sp>
      <p:pic>
        <p:nvPicPr>
          <p:cNvPr id="13" name="Image 2" descr="Figure 18: Live: page published before its fragment">    </p:cNvPr>
          <p:cNvPicPr>
            <a:picLocks noChangeAspect="1"/>
          </p:cNvPicPr>
          <p:nvPr/>
        </p:nvPicPr>
        <p:blipFill>
          <a:blip r:embed="rId3"/>
          <a:stretch>
            <a:fillRect/>
          </a:stretch>
        </p:blipFill>
        <p:spPr>
          <a:xfrm>
            <a:off x="8295846" y="3063240"/>
            <a:ext cx="2427828" cy="1325880"/>
          </a:xfrm>
          <a:prstGeom prst="rect">
            <a:avLst/>
          </a:prstGeom>
        </p:spPr>
      </p:pic>
      <p:sp>
        <p:nvSpPr>
          <p:cNvPr id="14" name="Shape 8"/>
          <p:cNvSpPr/>
          <p:nvPr/>
        </p:nvSpPr>
        <p:spPr>
          <a:xfrm>
            <a:off x="8295846" y="3063240"/>
            <a:ext cx="2427828" cy="1325880"/>
          </a:xfrm>
          <a:prstGeom prst="rect">
            <a:avLst/>
          </a:prstGeom>
          <a:ln w="9525">
            <a:solidFill>
              <a:srgbClr val="D9D9D9"/>
            </a:solidFill>
            <a:prstDash val="solid"/>
          </a:ln>
        </p:spPr>
      </p:sp>
      <p:sp>
        <p:nvSpPr>
          <p:cNvPr id="15" name="Text 9"/>
          <p:cNvSpPr/>
          <p:nvPr/>
        </p:nvSpPr>
        <p:spPr>
          <a:xfrm>
            <a:off x="7269480" y="4416552"/>
            <a:ext cx="4480560" cy="256032"/>
          </a:xfrm>
          <a:prstGeom prst="rect">
            <a:avLst/>
          </a:prstGeom>
          <a:noFill/>
          <a:ln/>
        </p:spPr>
        <p:txBody>
          <a:bodyPr wrap="square" rtlCol="0" anchor="ctr"/>
          <a:lstStyle/>
          <a:p>
            <a:pPr algn="ctr" indent="0" marL="0">
              <a:buNone/>
            </a:pPr>
            <a:r>
              <a:rPr lang="en-US" sz="900" i="1" dirty="0">
                <a:solidFill>
                  <a:srgbClr val="6E6E6E"/>
                </a:solidFill>
                <a:latin typeface="Arial" pitchFamily="34" charset="0"/>
                <a:ea typeface="Arial" pitchFamily="34" charset="-122"/>
                <a:cs typeface="Arial" pitchFamily="34" charset="-120"/>
              </a:rPr>
              <a:t>Figure 18: Live: page published before its fragment</a:t>
            </a:r>
            <a:endParaRPr lang="en-US" sz="900" dirty="0"/>
          </a:p>
        </p:txBody>
      </p:sp>
      <p:pic>
        <p:nvPicPr>
          <p:cNvPr id="16" name="Image 3" descr="Figure 19: Live: fixed once the fragment was published">    </p:cNvPr>
          <p:cNvPicPr>
            <a:picLocks noChangeAspect="1"/>
          </p:cNvPicPr>
          <p:nvPr/>
        </p:nvPicPr>
        <p:blipFill>
          <a:blip r:embed="rId4"/>
          <a:stretch>
            <a:fillRect/>
          </a:stretch>
        </p:blipFill>
        <p:spPr>
          <a:xfrm>
            <a:off x="8413603" y="4709160"/>
            <a:ext cx="2192315" cy="1051560"/>
          </a:xfrm>
          <a:prstGeom prst="rect">
            <a:avLst/>
          </a:prstGeom>
        </p:spPr>
      </p:pic>
      <p:sp>
        <p:nvSpPr>
          <p:cNvPr id="17" name="Shape 10"/>
          <p:cNvSpPr/>
          <p:nvPr/>
        </p:nvSpPr>
        <p:spPr>
          <a:xfrm>
            <a:off x="8413603" y="4709160"/>
            <a:ext cx="2192315" cy="1051560"/>
          </a:xfrm>
          <a:prstGeom prst="rect">
            <a:avLst/>
          </a:prstGeom>
          <a:ln w="9525">
            <a:solidFill>
              <a:srgbClr val="D9D9D9"/>
            </a:solidFill>
            <a:prstDash val="solid"/>
          </a:ln>
        </p:spPr>
      </p:sp>
      <p:sp>
        <p:nvSpPr>
          <p:cNvPr id="18" name="Text 11"/>
          <p:cNvSpPr/>
          <p:nvPr/>
        </p:nvSpPr>
        <p:spPr>
          <a:xfrm>
            <a:off x="7269480" y="5788152"/>
            <a:ext cx="4480560" cy="256032"/>
          </a:xfrm>
          <a:prstGeom prst="rect">
            <a:avLst/>
          </a:prstGeom>
          <a:noFill/>
          <a:ln/>
        </p:spPr>
        <p:txBody>
          <a:bodyPr wrap="square" rtlCol="0" anchor="ctr"/>
          <a:lstStyle/>
          <a:p>
            <a:pPr algn="ctr" indent="0" marL="0">
              <a:buNone/>
            </a:pPr>
            <a:r>
              <a:rPr lang="en-US" sz="900" i="1" dirty="0">
                <a:solidFill>
                  <a:srgbClr val="6E6E6E"/>
                </a:solidFill>
                <a:latin typeface="Arial" pitchFamily="34" charset="0"/>
                <a:ea typeface="Arial" pitchFamily="34" charset="-122"/>
                <a:cs typeface="Arial" pitchFamily="34" charset="-120"/>
              </a:rPr>
              <a:t>Figure 19: Live: fixed once the fragment was published</a:t>
            </a:r>
            <a:endParaRPr lang="en-US" sz="900" dirty="0"/>
          </a:p>
        </p:txBody>
      </p:sp>
      <p:sp>
        <p:nvSpPr>
          <p:cNvPr id="19" name="Text 12"/>
          <p:cNvSpPr/>
          <p:nvPr/>
        </p:nvSpPr>
        <p:spPr>
          <a:xfrm>
            <a:off x="457200" y="6053328"/>
            <a:ext cx="11247120" cy="292608"/>
          </a:xfrm>
          <a:prstGeom prst="rect">
            <a:avLst/>
          </a:prstGeom>
          <a:noFill/>
          <a:ln/>
        </p:spPr>
        <p:txBody>
          <a:bodyPr wrap="square" rtlCol="0" anchor="ctr"/>
          <a:lstStyle/>
          <a:p>
            <a:pPr indent="0" marL="0">
              <a:buNone/>
            </a:pPr>
            <a:r>
              <a:rPr lang="en-US" sz="1100" b="1" dirty="0">
                <a:solidFill>
                  <a:srgbClr val="EB1000"/>
                </a:solidFill>
                <a:latin typeface="Arial" pitchFamily="34" charset="0"/>
                <a:ea typeface="Arial" pitchFamily="34" charset="-122"/>
                <a:cs typeface="Arial" pitchFamily="34" charset="-120"/>
              </a:rPr>
              <a:t>LIVE  </a:t>
            </a:r>
            <a:pPr indent="0" marL="0">
              <a:buNone/>
            </a:pPr>
            <a:r>
              <a:rPr lang="en-US" sz="1100" dirty="0">
                <a:solidFill>
                  <a:srgbClr val="1473E6"/>
                </a:solidFill>
                <a:latin typeface="Arial" pitchFamily="34" charset="0"/>
                <a:ea typeface="Arial" pitchFamily="34" charset="-122"/>
                <a:cs typeface="Arial" pitchFamily="34" charset="-120"/>
              </a:rPr>
              <a:t>https://main--bv-poc-wknd-aln--araji-adobe.aem.live/us/en/sched-frag-page</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Adobe">    </p:cNvPr>
          <p:cNvPicPr>
            <a:picLocks noChangeAspect="1"/>
          </p:cNvPicPr>
          <p:nvPr/>
        </p:nvPicPr>
        <p:blipFill>
          <a:blip r:embed="rId1"/>
          <a:stretch>
            <a:fillRect/>
          </a:stretch>
        </p:blipFill>
        <p:spPr>
          <a:xfrm>
            <a:off x="10588752" y="292608"/>
            <a:ext cx="1133856" cy="274320"/>
          </a:xfrm>
          <a:prstGeom prst="rect">
            <a:avLst/>
          </a:prstGeom>
        </p:spPr>
      </p:pic>
      <p:sp>
        <p:nvSpPr>
          <p:cNvPr id="3" name="Text 0"/>
          <p:cNvSpPr/>
          <p:nvPr/>
        </p:nvSpPr>
        <p:spPr>
          <a:xfrm>
            <a:off x="457200" y="274320"/>
            <a:ext cx="9144000" cy="274320"/>
          </a:xfrm>
          <a:prstGeom prst="rect">
            <a:avLst/>
          </a:prstGeom>
          <a:noFill/>
          <a:ln/>
        </p:spPr>
        <p:txBody>
          <a:bodyPr wrap="square" rtlCol="0" anchor="ctr"/>
          <a:lstStyle/>
          <a:p>
            <a:pPr indent="0" marL="0">
              <a:buNone/>
            </a:pPr>
            <a:r>
              <a:rPr lang="en-US" sz="1100" b="1" spc="100" kern="0" dirty="0">
                <a:solidFill>
                  <a:srgbClr val="EB1000"/>
                </a:solidFill>
                <a:latin typeface="Arial" pitchFamily="34" charset="0"/>
                <a:ea typeface="Arial" pitchFamily="34" charset="-122"/>
                <a:cs typeface="Arial" pitchFamily="34" charset="-120"/>
              </a:rPr>
              <a:t>7 · ADDITIONAL INVESTIGATIONS AND FINDINGS</a:t>
            </a:r>
            <a:endParaRPr lang="en-US" sz="1100" dirty="0"/>
          </a:p>
        </p:txBody>
      </p:sp>
      <p:sp>
        <p:nvSpPr>
          <p:cNvPr id="4" name="Text 1"/>
          <p:cNvSpPr/>
          <p:nvPr/>
        </p:nvSpPr>
        <p:spPr>
          <a:xfrm>
            <a:off x="457200" y="566928"/>
            <a:ext cx="10241280" cy="640080"/>
          </a:xfrm>
          <a:prstGeom prst="rect">
            <a:avLst/>
          </a:prstGeom>
          <a:noFill/>
          <a:ln/>
        </p:spPr>
        <p:txBody>
          <a:bodyPr wrap="square" rtlCol="0" anchor="ctr"/>
          <a:lstStyle/>
          <a:p>
            <a:pPr indent="0" marL="0">
              <a:buNone/>
            </a:pPr>
            <a:r>
              <a:rPr lang="en-US" sz="2600" b="1" dirty="0">
                <a:solidFill>
                  <a:srgbClr val="2C2C2C"/>
                </a:solidFill>
                <a:latin typeface="Arial" pitchFamily="34" charset="0"/>
                <a:ea typeface="Arial" pitchFamily="34" charset="-122"/>
                <a:cs typeface="Arial" pitchFamily="34" charset="-120"/>
              </a:rPr>
              <a:t>7C · Asset expiry and scheduled unpublishing</a:t>
            </a:r>
            <a:endParaRPr lang="en-US" sz="2600" dirty="0"/>
          </a:p>
        </p:txBody>
      </p:sp>
      <p:sp>
        <p:nvSpPr>
          <p:cNvPr id="5" name="Shape 2"/>
          <p:cNvSpPr/>
          <p:nvPr/>
        </p:nvSpPr>
        <p:spPr>
          <a:xfrm>
            <a:off x="457200" y="1243584"/>
            <a:ext cx="1097280" cy="54864"/>
          </a:xfrm>
          <a:prstGeom prst="rect">
            <a:avLst/>
          </a:prstGeom>
          <a:solidFill>
            <a:srgbClr val="EB1000"/>
          </a:solidFill>
          <a:ln w="12700">
            <a:solidFill>
              <a:srgbClr val="EB1000"/>
            </a:solidFill>
            <a:prstDash val="solid"/>
          </a:ln>
        </p:spPr>
      </p:sp>
      <p:sp>
        <p:nvSpPr>
          <p:cNvPr id="6" name="Text 3"/>
          <p:cNvSpPr/>
          <p:nvPr/>
        </p:nvSpPr>
        <p:spPr>
          <a:xfrm>
            <a:off x="457200" y="6446520"/>
            <a:ext cx="7315200" cy="274320"/>
          </a:xfrm>
          <a:prstGeom prst="rect">
            <a:avLst/>
          </a:prstGeom>
          <a:noFill/>
          <a:ln/>
        </p:spPr>
        <p:txBody>
          <a:bodyPr wrap="square" rtlCol="0" anchor="ctr"/>
          <a:lstStyle/>
          <a:p>
            <a:pPr indent="0" marL="0">
              <a:buNone/>
            </a:pPr>
            <a:r>
              <a:rPr lang="en-US" sz="900" dirty="0">
                <a:solidFill>
                  <a:srgbClr val="6E6E6E"/>
                </a:solidFill>
                <a:latin typeface="Arial" pitchFamily="34" charset="0"/>
                <a:ea typeface="Arial" pitchFamily="34" charset="-122"/>
                <a:cs typeface="Arial" pitchFamily="34" charset="-120"/>
              </a:rPr>
              <a:t>© 2026 Adobe. All Rights Reserved. Adobe Confidential.</a:t>
            </a:r>
            <a:endParaRPr lang="en-US" sz="900" dirty="0"/>
          </a:p>
        </p:txBody>
      </p:sp>
      <p:sp>
        <p:nvSpPr>
          <p:cNvPr id="7" name="Text 4"/>
          <p:cNvSpPr/>
          <p:nvPr/>
        </p:nvSpPr>
        <p:spPr>
          <a:xfrm>
            <a:off x="11274552" y="6446520"/>
            <a:ext cx="457200" cy="274320"/>
          </a:xfrm>
          <a:prstGeom prst="rect">
            <a:avLst/>
          </a:prstGeom>
          <a:noFill/>
          <a:ln/>
        </p:spPr>
        <p:txBody>
          <a:bodyPr wrap="square" rtlCol="0" anchor="ctr"/>
          <a:lstStyle/>
          <a:p>
            <a:pPr algn="r" indent="0" marL="0">
              <a:buNone/>
            </a:pPr>
            <a:r>
              <a:rPr lang="en-US" sz="900" dirty="0">
                <a:solidFill>
                  <a:srgbClr val="6E6E6E"/>
                </a:solidFill>
                <a:latin typeface="Arial" pitchFamily="34" charset="0"/>
                <a:ea typeface="Arial" pitchFamily="34" charset="-122"/>
                <a:cs typeface="Arial" pitchFamily="34" charset="-120"/>
              </a:rPr>
              <a:t>15</a:t>
            </a:r>
            <a:endParaRPr lang="en-US" sz="900" dirty="0"/>
          </a:p>
        </p:txBody>
      </p:sp>
      <p:sp>
        <p:nvSpPr>
          <p:cNvPr id="8" name="Shape 5"/>
          <p:cNvSpPr/>
          <p:nvPr/>
        </p:nvSpPr>
        <p:spPr>
          <a:xfrm>
            <a:off x="457200" y="1463040"/>
            <a:ext cx="2148840" cy="1051560"/>
          </a:xfrm>
          <a:prstGeom prst="roundRect">
            <a:avLst>
              <a:gd name="adj" fmla="val 5217"/>
            </a:avLst>
          </a:prstGeom>
          <a:solidFill>
            <a:srgbClr val="F5F5F5"/>
          </a:solidFill>
          <a:ln w="12700">
            <a:solidFill>
              <a:srgbClr val="D9D9D9"/>
            </a:solidFill>
            <a:prstDash val="solid"/>
          </a:ln>
        </p:spPr>
      </p:sp>
      <p:sp>
        <p:nvSpPr>
          <p:cNvPr id="9" name="Text 6"/>
          <p:cNvSpPr/>
          <p:nvPr/>
        </p:nvSpPr>
        <p:spPr>
          <a:xfrm>
            <a:off x="530352" y="1463040"/>
            <a:ext cx="2011680" cy="1051560"/>
          </a:xfrm>
          <a:prstGeom prst="rect">
            <a:avLst/>
          </a:prstGeom>
          <a:noFill/>
          <a:ln/>
        </p:spPr>
        <p:txBody>
          <a:bodyPr wrap="square" rtlCol="0" anchor="ctr"/>
          <a:lstStyle/>
          <a:p>
            <a:pPr algn="ctr" indent="0" marL="0">
              <a:buNone/>
            </a:pPr>
            <a:r>
              <a:rPr lang="en-US" sz="1200" b="1" dirty="0">
                <a:solidFill>
                  <a:srgbClr val="2C2C2C"/>
                </a:solidFill>
                <a:latin typeface="Arial" pitchFamily="34" charset="0"/>
                <a:ea typeface="Arial" pitchFamily="34" charset="-122"/>
                <a:cs typeface="Arial" pitchFamily="34" charset="-120"/>
              </a:rPr>
              <a:t>Expiry metadata</a:t>
            </a:r>
            <a:endParaRPr lang="en-US" sz="1200" dirty="0"/>
          </a:p>
          <a:p>
            <a:pPr algn="ctr" indent="0" marL="0">
              <a:buNone/>
            </a:pPr>
            <a:r>
              <a:rPr lang="en-US" sz="1000" dirty="0">
                <a:solidFill>
                  <a:srgbClr val="6E6E6E"/>
                </a:solidFill>
                <a:latin typeface="Arial" pitchFamily="34" charset="0"/>
                <a:ea typeface="Arial" pitchFamily="34" charset="-122"/>
                <a:cs typeface="Arial" pitchFamily="34" charset="-120"/>
              </a:rPr>
              <a:t>A label: "valid until …". No effect by itself.</a:t>
            </a:r>
            <a:endParaRPr lang="en-US" sz="1200" dirty="0"/>
          </a:p>
        </p:txBody>
      </p:sp>
      <p:sp>
        <p:nvSpPr>
          <p:cNvPr id="10" name="Shape 7"/>
          <p:cNvSpPr/>
          <p:nvPr/>
        </p:nvSpPr>
        <p:spPr>
          <a:xfrm>
            <a:off x="2743200" y="1463040"/>
            <a:ext cx="2148840" cy="1051560"/>
          </a:xfrm>
          <a:prstGeom prst="roundRect">
            <a:avLst>
              <a:gd name="adj" fmla="val 5217"/>
            </a:avLst>
          </a:prstGeom>
          <a:solidFill>
            <a:srgbClr val="F5F5F5"/>
          </a:solidFill>
          <a:ln w="12700">
            <a:solidFill>
              <a:srgbClr val="D9D9D9"/>
            </a:solidFill>
            <a:prstDash val="solid"/>
          </a:ln>
        </p:spPr>
      </p:sp>
      <p:sp>
        <p:nvSpPr>
          <p:cNvPr id="11" name="Text 8"/>
          <p:cNvSpPr/>
          <p:nvPr/>
        </p:nvSpPr>
        <p:spPr>
          <a:xfrm>
            <a:off x="2816352" y="1463040"/>
            <a:ext cx="2011680" cy="1051560"/>
          </a:xfrm>
          <a:prstGeom prst="rect">
            <a:avLst/>
          </a:prstGeom>
          <a:noFill/>
          <a:ln/>
        </p:spPr>
        <p:txBody>
          <a:bodyPr wrap="square" rtlCol="0" anchor="ctr"/>
          <a:lstStyle/>
          <a:p>
            <a:pPr algn="ctr" indent="0" marL="0">
              <a:buNone/>
            </a:pPr>
            <a:r>
              <a:rPr lang="en-US" sz="1200" b="1" dirty="0">
                <a:solidFill>
                  <a:srgbClr val="2C2C2C"/>
                </a:solidFill>
                <a:latin typeface="Arial" pitchFamily="34" charset="0"/>
                <a:ea typeface="Arial" pitchFamily="34" charset="-122"/>
                <a:cs typeface="Arial" pitchFamily="34" charset="-120"/>
              </a:rPr>
              <a:t>Publication status</a:t>
            </a:r>
            <a:endParaRPr lang="en-US" sz="1200" dirty="0"/>
          </a:p>
          <a:p>
            <a:pPr algn="ctr" indent="0" marL="0">
              <a:buNone/>
            </a:pPr>
            <a:r>
              <a:rPr lang="en-US" sz="1000" dirty="0">
                <a:solidFill>
                  <a:srgbClr val="6E6E6E"/>
                </a:solidFill>
                <a:latin typeface="Arial" pitchFamily="34" charset="0"/>
                <a:ea typeface="Arial" pitchFamily="34" charset="-122"/>
                <a:cs typeface="Arial" pitchFamily="34" charset="-120"/>
              </a:rPr>
              <a:t>What the system records as published / unpublished.</a:t>
            </a:r>
            <a:endParaRPr lang="en-US" sz="1200" dirty="0"/>
          </a:p>
        </p:txBody>
      </p:sp>
      <p:sp>
        <p:nvSpPr>
          <p:cNvPr id="12" name="Shape 9"/>
          <p:cNvSpPr/>
          <p:nvPr/>
        </p:nvSpPr>
        <p:spPr>
          <a:xfrm>
            <a:off x="5029200" y="1463040"/>
            <a:ext cx="2148840" cy="1051560"/>
          </a:xfrm>
          <a:prstGeom prst="roundRect">
            <a:avLst>
              <a:gd name="adj" fmla="val 5217"/>
            </a:avLst>
          </a:prstGeom>
          <a:solidFill>
            <a:srgbClr val="F5F5F5"/>
          </a:solidFill>
          <a:ln w="12700">
            <a:solidFill>
              <a:srgbClr val="EB1000"/>
            </a:solidFill>
            <a:prstDash val="solid"/>
          </a:ln>
        </p:spPr>
      </p:sp>
      <p:sp>
        <p:nvSpPr>
          <p:cNvPr id="13" name="Text 10"/>
          <p:cNvSpPr/>
          <p:nvPr/>
        </p:nvSpPr>
        <p:spPr>
          <a:xfrm>
            <a:off x="5102352" y="1463040"/>
            <a:ext cx="2011680" cy="1051560"/>
          </a:xfrm>
          <a:prstGeom prst="rect">
            <a:avLst/>
          </a:prstGeom>
          <a:noFill/>
          <a:ln/>
        </p:spPr>
        <p:txBody>
          <a:bodyPr wrap="square" rtlCol="0" anchor="ctr"/>
          <a:lstStyle/>
          <a:p>
            <a:pPr algn="ctr" indent="0" marL="0">
              <a:buNone/>
            </a:pPr>
            <a:r>
              <a:rPr lang="en-US" sz="1200" b="1" dirty="0">
                <a:solidFill>
                  <a:srgbClr val="2C2C2C"/>
                </a:solidFill>
                <a:latin typeface="Arial" pitchFamily="34" charset="0"/>
                <a:ea typeface="Arial" pitchFamily="34" charset="-122"/>
                <a:cs typeface="Arial" pitchFamily="34" charset="-120"/>
              </a:rPr>
              <a:t>Public availability</a:t>
            </a:r>
            <a:endParaRPr lang="en-US" sz="1200" dirty="0"/>
          </a:p>
          <a:p>
            <a:pPr algn="ctr" indent="0" marL="0">
              <a:buNone/>
            </a:pPr>
            <a:r>
              <a:rPr lang="en-US" sz="1000" dirty="0">
                <a:solidFill>
                  <a:srgbClr val="6E6E6E"/>
                </a:solidFill>
                <a:latin typeface="Arial" pitchFamily="34" charset="0"/>
                <a:ea typeface="Arial" pitchFamily="34" charset="-122"/>
                <a:cs typeface="Arial" pitchFamily="34" charset="-120"/>
              </a:rPr>
              <a:t>Does the URL still load? Can differ (see 7A).</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57200" y="2697480"/>
          <a:ext cx="6949440" cy="914400"/>
        </p:xfrm>
        <a:graphic>
          <a:graphicData uri="http://schemas.openxmlformats.org/drawingml/2006/table">
            <a:tbl>
              <a:tblPr/>
              <a:tblGrid>
                <a:gridCol w="2194560"/>
                <a:gridCol w="3108960"/>
                <a:gridCol w="1645920"/>
              </a:tblGrid>
              <a:tr h="0">
                <a:tc>
                  <a:txBody>
                    <a:bodyPr/>
                    <a:lstStyle/>
                    <a:p>
                      <a:pPr indent="0" marL="0">
                        <a:buNone/>
                      </a:pPr>
                      <a:r>
                        <a:rPr lang="en-US" sz="1100" b="1" dirty="0">
                          <a:solidFill>
                            <a:srgbClr val="FFFFFF"/>
                          </a:solidFill>
                          <a:latin typeface="Arial" pitchFamily="34" charset="0"/>
                          <a:ea typeface="Arial" pitchFamily="34" charset="-122"/>
                          <a:cs typeface="Arial" pitchFamily="34" charset="-120"/>
                        </a:rPr>
                        <a:t>Question</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Answer</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Status</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Expiry metadata on EDS assets?</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None (images or PDFs)</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473E6"/>
                          </a:solidFill>
                          <a:latin typeface="Arial" pitchFamily="34" charset="0"/>
                          <a:ea typeface="Arial" pitchFamily="34" charset="-122"/>
                          <a:cs typeface="Arial" pitchFamily="34" charset="-120"/>
                        </a:rPr>
                        <a:t>Documented + checked</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Unpublish images?</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Not possible</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100" b="1" dirty="0">
                          <a:solidFill>
                            <a:srgbClr val="2D9D78"/>
                          </a:solidFill>
                          <a:latin typeface="Arial" pitchFamily="34" charset="0"/>
                          <a:ea typeface="Arial" pitchFamily="34" charset="-122"/>
                          <a:cs typeface="Arial" pitchFamily="34" charset="-120"/>
                        </a:rPr>
                        <a:t>Tested B5</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PDFs publish / unpublish?</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Yes: own Preview / Publish / Prepare</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D9D78"/>
                          </a:solidFill>
                          <a:latin typeface="Arial" pitchFamily="34" charset="0"/>
                          <a:ea typeface="Arial" pitchFamily="34" charset="-122"/>
                          <a:cs typeface="Arial" pitchFamily="34" charset="-120"/>
                        </a:rPr>
                        <a:t>Tested X1b–X1c</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Editor options for PDFs</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Schedule Publish + immediate Unpublish; no scheduled unpublish</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100" b="1" dirty="0">
                          <a:solidFill>
                            <a:srgbClr val="2D9D78"/>
                          </a:solidFill>
                          <a:latin typeface="Arial" pitchFamily="34" charset="0"/>
                          <a:ea typeface="Arial" pitchFamily="34" charset="-122"/>
                          <a:cs typeface="Arial" pitchFamily="34" charset="-120"/>
                        </a:rPr>
                        <a:t>Tested X1c</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Time-based scheduled unpublish</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Schedule sheet "unpublish" command</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2D9D78"/>
                          </a:solidFill>
                          <a:latin typeface="Arial" pitchFamily="34" charset="0"/>
                          <a:ea typeface="Arial" pitchFamily="34" charset="-122"/>
                          <a:cs typeface="Arial" pitchFamily="34" charset="-120"/>
                        </a:rPr>
                        <a:t>Tested (page, T5); PDF not tested</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Metadata-based unpublish</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Not native: needs automation (Ema/script → schedule sheet)</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100" b="1" dirty="0">
                          <a:solidFill>
                            <a:srgbClr val="1473E6"/>
                          </a:solidFill>
                          <a:latin typeface="Arial" pitchFamily="34" charset="0"/>
                          <a:ea typeface="Arial" pitchFamily="34" charset="-122"/>
                          <a:cs typeface="Arial" pitchFamily="34" charset="-120"/>
                        </a:rPr>
                        <a:t>Documented</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AEM Assets "Off Time"</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Withdraws AEM-delivered assets; site isn't connected to AEM Assets</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100" b="1" dirty="0">
                          <a:solidFill>
                            <a:srgbClr val="1473E6"/>
                          </a:solidFill>
                          <a:latin typeface="Arial" pitchFamily="34" charset="0"/>
                          <a:ea typeface="Arial" pitchFamily="34" charset="-122"/>
                          <a:cs typeface="Arial" pitchFamily="34" charset="-120"/>
                        </a:rPr>
                        <a:t>Documented, not tested</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bl>
          </a:graphicData>
        </a:graphic>
      </p:graphicFrame>
      <p:pic>
        <p:nvPicPr>
          <p:cNvPr id="15" name="Image 1" descr="Figure 20: PDF with its own Preview / Publish">    </p:cNvPr>
          <p:cNvPicPr>
            <a:picLocks noChangeAspect="1"/>
          </p:cNvPicPr>
          <p:nvPr/>
        </p:nvPicPr>
        <p:blipFill>
          <a:blip r:embed="rId2"/>
          <a:stretch>
            <a:fillRect/>
          </a:stretch>
        </p:blipFill>
        <p:spPr>
          <a:xfrm>
            <a:off x="8264576" y="1463040"/>
            <a:ext cx="2856129" cy="2057400"/>
          </a:xfrm>
          <a:prstGeom prst="rect">
            <a:avLst/>
          </a:prstGeom>
        </p:spPr>
      </p:pic>
      <p:sp>
        <p:nvSpPr>
          <p:cNvPr id="16" name="Shape 11"/>
          <p:cNvSpPr/>
          <p:nvPr/>
        </p:nvSpPr>
        <p:spPr>
          <a:xfrm>
            <a:off x="8264576" y="1463040"/>
            <a:ext cx="2856129" cy="2057400"/>
          </a:xfrm>
          <a:prstGeom prst="rect">
            <a:avLst/>
          </a:prstGeom>
          <a:ln w="9525">
            <a:solidFill>
              <a:srgbClr val="D9D9D9"/>
            </a:solidFill>
            <a:prstDash val="solid"/>
          </a:ln>
        </p:spPr>
      </p:sp>
      <p:sp>
        <p:nvSpPr>
          <p:cNvPr id="17" name="Text 12"/>
          <p:cNvSpPr/>
          <p:nvPr/>
        </p:nvSpPr>
        <p:spPr>
          <a:xfrm>
            <a:off x="7635240" y="3547872"/>
            <a:ext cx="4114800" cy="256032"/>
          </a:xfrm>
          <a:prstGeom prst="rect">
            <a:avLst/>
          </a:prstGeom>
          <a:noFill/>
          <a:ln/>
        </p:spPr>
        <p:txBody>
          <a:bodyPr wrap="square" rtlCol="0" anchor="ctr"/>
          <a:lstStyle/>
          <a:p>
            <a:pPr algn="ctr" indent="0" marL="0">
              <a:buNone/>
            </a:pPr>
            <a:r>
              <a:rPr lang="en-US" sz="900" i="1" dirty="0">
                <a:solidFill>
                  <a:srgbClr val="6E6E6E"/>
                </a:solidFill>
                <a:latin typeface="Arial" pitchFamily="34" charset="0"/>
                <a:ea typeface="Arial" pitchFamily="34" charset="-122"/>
                <a:cs typeface="Arial" pitchFamily="34" charset="-120"/>
              </a:rPr>
              <a:t>Figure 20: PDF with its own Preview / Publish</a:t>
            </a:r>
            <a:endParaRPr lang="en-US" sz="900" dirty="0"/>
          </a:p>
        </p:txBody>
      </p:sp>
      <p:pic>
        <p:nvPicPr>
          <p:cNvPr id="18" name="Image 2" descr="Figure 21: PDF Prepare menu (no scheduled unpublish)">    </p:cNvPr>
          <p:cNvPicPr>
            <a:picLocks noChangeAspect="1"/>
          </p:cNvPicPr>
          <p:nvPr/>
        </p:nvPicPr>
        <p:blipFill>
          <a:blip r:embed="rId3"/>
          <a:stretch>
            <a:fillRect/>
          </a:stretch>
        </p:blipFill>
        <p:spPr>
          <a:xfrm>
            <a:off x="8612505" y="3840480"/>
            <a:ext cx="2160270" cy="1920240"/>
          </a:xfrm>
          <a:prstGeom prst="rect">
            <a:avLst/>
          </a:prstGeom>
        </p:spPr>
      </p:pic>
      <p:sp>
        <p:nvSpPr>
          <p:cNvPr id="19" name="Shape 13"/>
          <p:cNvSpPr/>
          <p:nvPr/>
        </p:nvSpPr>
        <p:spPr>
          <a:xfrm>
            <a:off x="8612505" y="3840480"/>
            <a:ext cx="2160270" cy="1920240"/>
          </a:xfrm>
          <a:prstGeom prst="rect">
            <a:avLst/>
          </a:prstGeom>
          <a:ln w="9525">
            <a:solidFill>
              <a:srgbClr val="D9D9D9"/>
            </a:solidFill>
            <a:prstDash val="solid"/>
          </a:ln>
        </p:spPr>
      </p:sp>
      <p:sp>
        <p:nvSpPr>
          <p:cNvPr id="20" name="Text 14"/>
          <p:cNvSpPr/>
          <p:nvPr/>
        </p:nvSpPr>
        <p:spPr>
          <a:xfrm>
            <a:off x="7635240" y="5788152"/>
            <a:ext cx="4114800" cy="256032"/>
          </a:xfrm>
          <a:prstGeom prst="rect">
            <a:avLst/>
          </a:prstGeom>
          <a:noFill/>
          <a:ln/>
        </p:spPr>
        <p:txBody>
          <a:bodyPr wrap="square" rtlCol="0" anchor="ctr"/>
          <a:lstStyle/>
          <a:p>
            <a:pPr algn="ctr" indent="0" marL="0">
              <a:buNone/>
            </a:pPr>
            <a:r>
              <a:rPr lang="en-US" sz="900" i="1" dirty="0">
                <a:solidFill>
                  <a:srgbClr val="6E6E6E"/>
                </a:solidFill>
                <a:latin typeface="Arial" pitchFamily="34" charset="0"/>
                <a:ea typeface="Arial" pitchFamily="34" charset="-122"/>
                <a:cs typeface="Arial" pitchFamily="34" charset="-120"/>
              </a:rPr>
              <a:t>Figure 21: PDF Prepare menu (no scheduled unpublish)</a:t>
            </a:r>
            <a:endParaRPr lang="en-US" sz="900" dirty="0"/>
          </a:p>
        </p:txBody>
      </p:sp>
      <p:sp>
        <p:nvSpPr>
          <p:cNvPr id="21" name="Text 15"/>
          <p:cNvSpPr/>
          <p:nvPr/>
        </p:nvSpPr>
        <p:spPr>
          <a:xfrm>
            <a:off x="457200" y="6053328"/>
            <a:ext cx="11247120" cy="292608"/>
          </a:xfrm>
          <a:prstGeom prst="rect">
            <a:avLst/>
          </a:prstGeom>
          <a:noFill/>
          <a:ln/>
        </p:spPr>
        <p:txBody>
          <a:bodyPr wrap="square" rtlCol="0" anchor="ctr"/>
          <a:lstStyle/>
          <a:p>
            <a:pPr indent="0" marL="0">
              <a:buNone/>
            </a:pPr>
            <a:r>
              <a:rPr lang="en-US" sz="1100" b="1" dirty="0">
                <a:solidFill>
                  <a:srgbClr val="EB1000"/>
                </a:solidFill>
                <a:latin typeface="Arial" pitchFamily="34" charset="0"/>
                <a:ea typeface="Arial" pitchFamily="34" charset="-122"/>
                <a:cs typeface="Arial" pitchFamily="34" charset="-120"/>
              </a:rPr>
              <a:t>LIVE  </a:t>
            </a:r>
            <a:pPr indent="0" marL="0">
              <a:buNone/>
            </a:pPr>
            <a:r>
              <a:rPr lang="en-US" sz="1100" dirty="0">
                <a:solidFill>
                  <a:srgbClr val="1473E6"/>
                </a:solidFill>
                <a:latin typeface="Arial" pitchFamily="34" charset="0"/>
                <a:ea typeface="Arial" pitchFamily="34" charset="-122"/>
                <a:cs typeface="Arial" pitchFamily="34" charset="-120"/>
              </a:rPr>
              <a:t>https://da.live/media#/araji-adobe/bv-poc-wknd-aln/us/en/expiry-test.pdf</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Adobe">    </p:cNvPr>
          <p:cNvPicPr>
            <a:picLocks noChangeAspect="1"/>
          </p:cNvPicPr>
          <p:nvPr/>
        </p:nvPicPr>
        <p:blipFill>
          <a:blip r:embed="rId1"/>
          <a:stretch>
            <a:fillRect/>
          </a:stretch>
        </p:blipFill>
        <p:spPr>
          <a:xfrm>
            <a:off x="10588752" y="292608"/>
            <a:ext cx="1133856" cy="274320"/>
          </a:xfrm>
          <a:prstGeom prst="rect">
            <a:avLst/>
          </a:prstGeom>
        </p:spPr>
      </p:pic>
      <p:sp>
        <p:nvSpPr>
          <p:cNvPr id="3" name="Text 0"/>
          <p:cNvSpPr/>
          <p:nvPr/>
        </p:nvSpPr>
        <p:spPr>
          <a:xfrm>
            <a:off x="457200" y="274320"/>
            <a:ext cx="9144000" cy="274320"/>
          </a:xfrm>
          <a:prstGeom prst="rect">
            <a:avLst/>
          </a:prstGeom>
          <a:noFill/>
          <a:ln/>
        </p:spPr>
        <p:txBody>
          <a:bodyPr wrap="square" rtlCol="0" anchor="ctr"/>
          <a:lstStyle/>
          <a:p>
            <a:pPr indent="0" marL="0">
              <a:buNone/>
            </a:pPr>
            <a:r>
              <a:rPr lang="en-US" sz="1100" b="1" spc="100" kern="0" dirty="0">
                <a:solidFill>
                  <a:srgbClr val="EB1000"/>
                </a:solidFill>
                <a:latin typeface="Arial" pitchFamily="34" charset="0"/>
                <a:ea typeface="Arial" pitchFamily="34" charset="-122"/>
                <a:cs typeface="Arial" pitchFamily="34" charset="-120"/>
              </a:rPr>
              <a:t>CONCLUSION</a:t>
            </a:r>
            <a:endParaRPr lang="en-US" sz="1100" dirty="0"/>
          </a:p>
        </p:txBody>
      </p:sp>
      <p:sp>
        <p:nvSpPr>
          <p:cNvPr id="4" name="Text 1"/>
          <p:cNvSpPr/>
          <p:nvPr/>
        </p:nvSpPr>
        <p:spPr>
          <a:xfrm>
            <a:off x="457200" y="566928"/>
            <a:ext cx="10241280" cy="640080"/>
          </a:xfrm>
          <a:prstGeom prst="rect">
            <a:avLst/>
          </a:prstGeom>
          <a:noFill/>
          <a:ln/>
        </p:spPr>
        <p:txBody>
          <a:bodyPr wrap="square" rtlCol="0" anchor="ctr"/>
          <a:lstStyle/>
          <a:p>
            <a:pPr indent="0" marL="0">
              <a:buNone/>
            </a:pPr>
            <a:r>
              <a:rPr lang="en-US" sz="2600" b="1" dirty="0">
                <a:solidFill>
                  <a:srgbClr val="2C2C2C"/>
                </a:solidFill>
                <a:latin typeface="Arial" pitchFamily="34" charset="0"/>
                <a:ea typeface="Arial" pitchFamily="34" charset="-122"/>
                <a:cs typeface="Arial" pitchFamily="34" charset="-120"/>
              </a:rPr>
              <a:t>Verified findings and recommendations</a:t>
            </a:r>
            <a:endParaRPr lang="en-US" sz="2600" dirty="0"/>
          </a:p>
        </p:txBody>
      </p:sp>
      <p:sp>
        <p:nvSpPr>
          <p:cNvPr id="5" name="Shape 2"/>
          <p:cNvSpPr/>
          <p:nvPr/>
        </p:nvSpPr>
        <p:spPr>
          <a:xfrm>
            <a:off x="457200" y="1243584"/>
            <a:ext cx="1097280" cy="54864"/>
          </a:xfrm>
          <a:prstGeom prst="rect">
            <a:avLst/>
          </a:prstGeom>
          <a:solidFill>
            <a:srgbClr val="EB1000"/>
          </a:solidFill>
          <a:ln w="12700">
            <a:solidFill>
              <a:srgbClr val="EB1000"/>
            </a:solidFill>
            <a:prstDash val="solid"/>
          </a:ln>
        </p:spPr>
      </p:sp>
      <p:sp>
        <p:nvSpPr>
          <p:cNvPr id="6" name="Text 3"/>
          <p:cNvSpPr/>
          <p:nvPr/>
        </p:nvSpPr>
        <p:spPr>
          <a:xfrm>
            <a:off x="457200" y="6446520"/>
            <a:ext cx="7315200" cy="274320"/>
          </a:xfrm>
          <a:prstGeom prst="rect">
            <a:avLst/>
          </a:prstGeom>
          <a:noFill/>
          <a:ln/>
        </p:spPr>
        <p:txBody>
          <a:bodyPr wrap="square" rtlCol="0" anchor="ctr"/>
          <a:lstStyle/>
          <a:p>
            <a:pPr indent="0" marL="0">
              <a:buNone/>
            </a:pPr>
            <a:r>
              <a:rPr lang="en-US" sz="900" dirty="0">
                <a:solidFill>
                  <a:srgbClr val="6E6E6E"/>
                </a:solidFill>
                <a:latin typeface="Arial" pitchFamily="34" charset="0"/>
                <a:ea typeface="Arial" pitchFamily="34" charset="-122"/>
                <a:cs typeface="Arial" pitchFamily="34" charset="-120"/>
              </a:rPr>
              <a:t>© 2026 Adobe. All Rights Reserved. Adobe Confidential.</a:t>
            </a:r>
            <a:endParaRPr lang="en-US" sz="900" dirty="0"/>
          </a:p>
        </p:txBody>
      </p:sp>
      <p:sp>
        <p:nvSpPr>
          <p:cNvPr id="7" name="Text 4"/>
          <p:cNvSpPr/>
          <p:nvPr/>
        </p:nvSpPr>
        <p:spPr>
          <a:xfrm>
            <a:off x="11274552" y="6446520"/>
            <a:ext cx="457200" cy="274320"/>
          </a:xfrm>
          <a:prstGeom prst="rect">
            <a:avLst/>
          </a:prstGeom>
          <a:noFill/>
          <a:ln/>
        </p:spPr>
        <p:txBody>
          <a:bodyPr wrap="square" rtlCol="0" anchor="ctr"/>
          <a:lstStyle/>
          <a:p>
            <a:pPr algn="r" indent="0" marL="0">
              <a:buNone/>
            </a:pPr>
            <a:r>
              <a:rPr lang="en-US" sz="900" dirty="0">
                <a:solidFill>
                  <a:srgbClr val="6E6E6E"/>
                </a:solidFill>
                <a:latin typeface="Arial" pitchFamily="34" charset="0"/>
                <a:ea typeface="Arial" pitchFamily="34" charset="-122"/>
                <a:cs typeface="Arial" pitchFamily="34" charset="-120"/>
              </a:rPr>
              <a:t>16</a:t>
            </a:r>
            <a:endParaRPr lang="en-US" sz="900" dirty="0"/>
          </a:p>
        </p:txBody>
      </p:sp>
      <p:sp>
        <p:nvSpPr>
          <p:cNvPr id="8" name="Text 5"/>
          <p:cNvSpPr/>
          <p:nvPr/>
        </p:nvSpPr>
        <p:spPr>
          <a:xfrm>
            <a:off x="457200" y="1417320"/>
            <a:ext cx="5486400" cy="320040"/>
          </a:xfrm>
          <a:prstGeom prst="rect">
            <a:avLst/>
          </a:prstGeom>
          <a:noFill/>
          <a:ln/>
        </p:spPr>
        <p:txBody>
          <a:bodyPr wrap="square" rtlCol="0" anchor="ctr"/>
          <a:lstStyle/>
          <a:p>
            <a:pPr indent="0" marL="0">
              <a:buNone/>
            </a:pPr>
            <a:r>
              <a:rPr lang="en-US" sz="1400" b="1" dirty="0">
                <a:solidFill>
                  <a:srgbClr val="2D9D78"/>
                </a:solidFill>
                <a:latin typeface="Arial" pitchFamily="34" charset="0"/>
                <a:ea typeface="Arial" pitchFamily="34" charset="-122"/>
                <a:cs typeface="Arial" pitchFamily="34" charset="-120"/>
              </a:rPr>
              <a:t>Verified (Tested)</a:t>
            </a:r>
            <a:endParaRPr lang="en-US" sz="1400" dirty="0"/>
          </a:p>
        </p:txBody>
      </p:sp>
      <p:sp>
        <p:nvSpPr>
          <p:cNvPr id="9" name="Text 6"/>
          <p:cNvSpPr/>
          <p:nvPr/>
        </p:nvSpPr>
        <p:spPr>
          <a:xfrm>
            <a:off x="457200" y="1737360"/>
            <a:ext cx="5486400" cy="2743200"/>
          </a:xfrm>
          <a:prstGeom prst="rect">
            <a:avLst/>
          </a:prstGeom>
          <a:noFill/>
          <a:ln/>
        </p:spPr>
        <p:txBody>
          <a:bodyPr wrap="square" rtlCol="0" anchor="t"/>
          <a:lstStyle/>
          <a:p>
            <a:pPr marL="177800" indent="-177800">
              <a:spcAft>
                <a:spcPts val="400"/>
              </a:spcAft>
              <a:buSzPct val="100000"/>
              <a:buChar char="■"/>
            </a:pPr>
            <a:r>
              <a:rPr lang="en-US" sz="1200" dirty="0">
                <a:solidFill>
                  <a:srgbClr val="2C2C2C"/>
                </a:solidFill>
                <a:latin typeface="Arial" pitchFamily="34" charset="0"/>
                <a:ea typeface="Arial" pitchFamily="34" charset="-122"/>
                <a:cs typeface="Arial" pitchFamily="34" charset="-120"/>
              </a:rPr>
              <a:t>Two switches enable Schedule Publish (config row + registration)</a:t>
            </a:r>
            <a:endParaRPr lang="en-US" sz="1200" dirty="0"/>
          </a:p>
          <a:p>
            <a:pPr marL="177800" indent="-177800">
              <a:spcAft>
                <a:spcPts val="400"/>
              </a:spcAft>
              <a:buSzPct val="100000"/>
              <a:buChar char="■"/>
            </a:pPr>
            <a:r>
              <a:rPr lang="en-US" sz="1200" dirty="0">
                <a:solidFill>
                  <a:srgbClr val="2C2C2C"/>
                </a:solidFill>
                <a:latin typeface="Arial" pitchFamily="34" charset="0"/>
                <a:ea typeface="Arial" pitchFamily="34" charset="-122"/>
                <a:cs typeface="Arial" pitchFamily="34" charset="-120"/>
              </a:rPr>
              <a:t>Scheduling auto-previews; the run publishes the preview, not later edits</a:t>
            </a:r>
            <a:endParaRPr lang="en-US" sz="1200" dirty="0"/>
          </a:p>
          <a:p>
            <a:pPr marL="177800" indent="-177800">
              <a:spcAft>
                <a:spcPts val="400"/>
              </a:spcAft>
              <a:buSzPct val="100000"/>
              <a:buChar char="■"/>
            </a:pPr>
            <a:r>
              <a:rPr lang="en-US" sz="1200" dirty="0">
                <a:solidFill>
                  <a:srgbClr val="2C2C2C"/>
                </a:solidFill>
                <a:latin typeface="Arial" pitchFamily="34" charset="0"/>
                <a:ea typeface="Arial" pitchFamily="34" charset="-122"/>
                <a:cs typeface="Arial" pitchFamily="34" charset="-120"/>
              </a:rPr>
              <a:t>Reschedule and cancel work; runs within ~8 s of the minute</a:t>
            </a:r>
            <a:endParaRPr lang="en-US" sz="1200" dirty="0"/>
          </a:p>
          <a:p>
            <a:pPr marL="177800" indent="-177800">
              <a:spcAft>
                <a:spcPts val="400"/>
              </a:spcAft>
              <a:buSzPct val="100000"/>
              <a:buChar char="■"/>
            </a:pPr>
            <a:r>
              <a:rPr lang="en-US" sz="1200" dirty="0">
                <a:solidFill>
                  <a:srgbClr val="2C2C2C"/>
                </a:solidFill>
                <a:latin typeface="Arial" pitchFamily="34" charset="0"/>
                <a:ea typeface="Arial" pitchFamily="34" charset="-122"/>
                <a:cs typeface="Arial" pitchFamily="34" charset="-120"/>
              </a:rPr>
              <a:t>Ema: 5/5 tasks including bulk publish and scheduled unpublish</a:t>
            </a:r>
            <a:endParaRPr lang="en-US" sz="1200" dirty="0"/>
          </a:p>
          <a:p>
            <a:pPr marL="177800" indent="-177800">
              <a:spcAft>
                <a:spcPts val="400"/>
              </a:spcAft>
              <a:buSzPct val="100000"/>
              <a:buChar char="■"/>
            </a:pPr>
            <a:r>
              <a:rPr lang="en-US" sz="1200" dirty="0">
                <a:solidFill>
                  <a:srgbClr val="2C2C2C"/>
                </a:solidFill>
                <a:latin typeface="Arial" pitchFamily="34" charset="0"/>
                <a:ea typeface="Arial" pitchFamily="34" charset="-122"/>
                <a:cs typeface="Arial" pitchFamily="34" charset="-120"/>
              </a:rPr>
              <a:t>Coworker: no schedule created in our environment</a:t>
            </a:r>
            <a:endParaRPr lang="en-US" sz="1200" dirty="0"/>
          </a:p>
          <a:p>
            <a:pPr marL="177800" indent="-177800">
              <a:spcAft>
                <a:spcPts val="400"/>
              </a:spcAft>
              <a:buSzPct val="100000"/>
              <a:buChar char="■"/>
            </a:pPr>
            <a:r>
              <a:rPr lang="en-US" sz="1200" dirty="0">
                <a:solidFill>
                  <a:srgbClr val="2C2C2C"/>
                </a:solidFill>
                <a:latin typeface="Arial" pitchFamily="34" charset="0"/>
                <a:ea typeface="Arial" pitchFamily="34" charset="-122"/>
                <a:cs typeface="Arial" pitchFamily="34" charset="-120"/>
              </a:rPr>
              <a:t>Fragments are not carried with a page; images are</a:t>
            </a:r>
            <a:endParaRPr lang="en-US" sz="1200" dirty="0"/>
          </a:p>
          <a:p>
            <a:pPr marL="177800" indent="-177800">
              <a:spcAft>
                <a:spcPts val="400"/>
              </a:spcAft>
              <a:buSzPct val="100000"/>
              <a:buChar char="■"/>
            </a:pPr>
            <a:r>
              <a:rPr lang="en-US" sz="1200" dirty="0">
                <a:solidFill>
                  <a:srgbClr val="2C2C2C"/>
                </a:solidFill>
                <a:latin typeface="Arial" pitchFamily="34" charset="0"/>
                <a:ea typeface="Arial" pitchFamily="34" charset="-122"/>
                <a:cs typeface="Arial" pitchFamily="34" charset="-120"/>
              </a:rPr>
              <a:t>Images remain reachable after their page is unpublished</a:t>
            </a:r>
            <a:endParaRPr lang="en-US" sz="1200" dirty="0"/>
          </a:p>
        </p:txBody>
      </p:sp>
      <p:sp>
        <p:nvSpPr>
          <p:cNvPr id="10" name="Text 7"/>
          <p:cNvSpPr/>
          <p:nvPr/>
        </p:nvSpPr>
        <p:spPr>
          <a:xfrm>
            <a:off x="6217920" y="1417320"/>
            <a:ext cx="5486400" cy="320040"/>
          </a:xfrm>
          <a:prstGeom prst="rect">
            <a:avLst/>
          </a:prstGeom>
          <a:noFill/>
          <a:ln/>
        </p:spPr>
        <p:txBody>
          <a:bodyPr wrap="square" rtlCol="0" anchor="ctr"/>
          <a:lstStyle/>
          <a:p>
            <a:pPr indent="0" marL="0">
              <a:buNone/>
            </a:pPr>
            <a:r>
              <a:rPr lang="en-US" sz="1400" b="1" dirty="0">
                <a:solidFill>
                  <a:srgbClr val="EB1000"/>
                </a:solidFill>
                <a:latin typeface="Arial" pitchFamily="34" charset="0"/>
                <a:ea typeface="Arial" pitchFamily="34" charset="-122"/>
                <a:cs typeface="Arial" pitchFamily="34" charset="-120"/>
              </a:rPr>
              <a:t>Recommendations</a:t>
            </a:r>
            <a:endParaRPr lang="en-US" sz="1400" dirty="0"/>
          </a:p>
        </p:txBody>
      </p:sp>
      <p:sp>
        <p:nvSpPr>
          <p:cNvPr id="11" name="Text 8"/>
          <p:cNvSpPr/>
          <p:nvPr/>
        </p:nvSpPr>
        <p:spPr>
          <a:xfrm>
            <a:off x="6217920" y="1737360"/>
            <a:ext cx="5486400" cy="2743200"/>
          </a:xfrm>
          <a:prstGeom prst="rect">
            <a:avLst/>
          </a:prstGeom>
          <a:noFill/>
          <a:ln/>
        </p:spPr>
        <p:txBody>
          <a:bodyPr wrap="square" rtlCol="0" anchor="t"/>
          <a:lstStyle/>
          <a:p>
            <a:pPr marL="177800" indent="-177800">
              <a:spcAft>
                <a:spcPts val="400"/>
              </a:spcAft>
              <a:buSzPct val="100000"/>
              <a:buChar char="■"/>
            </a:pPr>
            <a:r>
              <a:rPr lang="en-US" sz="1200" dirty="0">
                <a:solidFill>
                  <a:srgbClr val="2C2C2C"/>
                </a:solidFill>
                <a:latin typeface="Arial" pitchFamily="34" charset="0"/>
                <a:ea typeface="Arial" pitchFamily="34" charset="-122"/>
                <a:cs typeface="Arial" pitchFamily="34" charset="-120"/>
              </a:rPr>
              <a:t>1. Authors: edit → preview → (re)schedule</a:t>
            </a:r>
            <a:endParaRPr lang="en-US" sz="1200" dirty="0"/>
          </a:p>
          <a:p>
            <a:pPr marL="177800" indent="-177800">
              <a:spcAft>
                <a:spcPts val="400"/>
              </a:spcAft>
              <a:buSzPct val="100000"/>
              <a:buChar char="■"/>
            </a:pPr>
            <a:r>
              <a:rPr lang="en-US" sz="1200" dirty="0">
                <a:solidFill>
                  <a:srgbClr val="2C2C2C"/>
                </a:solidFill>
                <a:latin typeface="Arial" pitchFamily="34" charset="0"/>
                <a:ea typeface="Arial" pitchFamily="34" charset="-122"/>
                <a:cs typeface="Arial" pitchFamily="34" charset="-120"/>
              </a:rPr>
              <a:t>2. Publish or schedule fragments before their pages</a:t>
            </a:r>
            <a:endParaRPr lang="en-US" sz="1200" dirty="0"/>
          </a:p>
          <a:p>
            <a:pPr marL="177800" indent="-177800">
              <a:spcAft>
                <a:spcPts val="400"/>
              </a:spcAft>
              <a:buSzPct val="100000"/>
              <a:buChar char="■"/>
            </a:pPr>
            <a:r>
              <a:rPr lang="en-US" sz="1200" dirty="0">
                <a:solidFill>
                  <a:srgbClr val="2C2C2C"/>
                </a:solidFill>
                <a:latin typeface="Arial" pitchFamily="34" charset="0"/>
                <a:ea typeface="Arial" pitchFamily="34" charset="-122"/>
                <a:cs typeface="Arial" pitchFamily="34" charset="-120"/>
              </a:rPr>
              <a:t>3. Use the schedule sheet (or Ema) for bulk and unpublish; Snapshots for coordinated launches</a:t>
            </a:r>
            <a:endParaRPr lang="en-US" sz="1200" dirty="0"/>
          </a:p>
          <a:p>
            <a:pPr marL="177800" indent="-177800">
              <a:spcAft>
                <a:spcPts val="400"/>
              </a:spcAft>
              <a:buSzPct val="100000"/>
              <a:buChar char="■"/>
            </a:pPr>
            <a:r>
              <a:rPr lang="en-US" sz="1200" dirty="0">
                <a:solidFill>
                  <a:srgbClr val="2C2C2C"/>
                </a:solidFill>
                <a:latin typeface="Arial" pitchFamily="34" charset="0"/>
                <a:ea typeface="Arial" pitchFamily="34" charset="-122"/>
                <a:cs typeface="Arial" pitchFamily="34" charset="-120"/>
              </a:rPr>
              <a:t>4. Keep embargoed images off previewed pages</a:t>
            </a:r>
            <a:endParaRPr lang="en-US" sz="1200" dirty="0"/>
          </a:p>
          <a:p>
            <a:pPr marL="177800" indent="-177800">
              <a:spcAft>
                <a:spcPts val="400"/>
              </a:spcAft>
              <a:buSzPct val="100000"/>
              <a:buChar char="■"/>
            </a:pPr>
            <a:r>
              <a:rPr lang="en-US" sz="1200" dirty="0">
                <a:solidFill>
                  <a:srgbClr val="2C2C2C"/>
                </a:solidFill>
                <a:latin typeface="Arial" pitchFamily="34" charset="0"/>
                <a:ea typeface="Arial" pitchFamily="34" charset="-122"/>
                <a:cs typeface="Arial" pitchFamily="34" charset="-120"/>
              </a:rPr>
              <a:t>5. Treat expiry as a process: register → automation → scheduled unpublish</a:t>
            </a:r>
            <a:endParaRPr lang="en-US" sz="1200" dirty="0"/>
          </a:p>
        </p:txBody>
      </p:sp>
      <p:sp>
        <p:nvSpPr>
          <p:cNvPr id="12" name="Text 9"/>
          <p:cNvSpPr/>
          <p:nvPr/>
        </p:nvSpPr>
        <p:spPr>
          <a:xfrm>
            <a:off x="457200" y="4572000"/>
            <a:ext cx="11247120" cy="457200"/>
          </a:xfrm>
          <a:prstGeom prst="rect">
            <a:avLst/>
          </a:prstGeom>
          <a:noFill/>
          <a:ln/>
        </p:spPr>
        <p:txBody>
          <a:bodyPr wrap="square" rtlCol="0" anchor="ctr"/>
          <a:lstStyle/>
          <a:p>
            <a:pPr indent="0" marL="0">
              <a:buNone/>
            </a:pPr>
            <a:r>
              <a:rPr lang="en-US" sz="1200" b="1" dirty="0">
                <a:solidFill>
                  <a:srgbClr val="6E6E6E"/>
                </a:solidFill>
                <a:latin typeface="Arial" pitchFamily="34" charset="0"/>
                <a:ea typeface="Arial" pitchFamily="34" charset="-122"/>
                <a:cs typeface="Arial" pitchFamily="34" charset="-120"/>
              </a:rPr>
              <a:t>Open items (Unknown):  </a:t>
            </a:r>
            <a:pPr indent="0" marL="0">
              <a:buNone/>
            </a:pPr>
            <a:r>
              <a:rPr lang="en-US" sz="1200" dirty="0">
                <a:solidFill>
                  <a:srgbClr val="2C2C2C"/>
                </a:solidFill>
                <a:latin typeface="Arial" pitchFamily="34" charset="0"/>
                <a:ea typeface="Arial" pitchFamily="34" charset="-122"/>
                <a:cs typeface="Arial" pitchFamily="34" charset="-120"/>
              </a:rPr>
              <a:t>PDF scheduled-unpublish run · snapshot scheduling · AEM Assets integration · Coworker re-test · sitemap host fix</a:t>
            </a:r>
            <a:endParaRPr lang="en-US" sz="1200" dirty="0"/>
          </a:p>
        </p:txBody>
      </p:sp>
      <p:sp>
        <p:nvSpPr>
          <p:cNvPr id="13" name="Text 10"/>
          <p:cNvSpPr/>
          <p:nvPr/>
        </p:nvSpPr>
        <p:spPr>
          <a:xfrm>
            <a:off x="457200" y="5074920"/>
            <a:ext cx="11247120" cy="640080"/>
          </a:xfrm>
          <a:prstGeom prst="rect">
            <a:avLst/>
          </a:prstGeom>
          <a:noFill/>
          <a:ln/>
        </p:spPr>
        <p:txBody>
          <a:bodyPr wrap="square" rtlCol="0" anchor="ctr"/>
          <a:lstStyle/>
          <a:p>
            <a:pPr indent="0" marL="0">
              <a:buNone/>
            </a:pPr>
            <a:r>
              <a:rPr lang="en-US" sz="1100" b="1" dirty="0">
                <a:solidFill>
                  <a:srgbClr val="2C2C2C"/>
                </a:solidFill>
                <a:latin typeface="Arial" pitchFamily="34" charset="0"/>
                <a:ea typeface="Arial" pitchFamily="34" charset="-122"/>
                <a:cs typeface="Arial" pitchFamily="34" charset="-120"/>
              </a:rPr>
              <a:t>References:  </a:t>
            </a:r>
            <a:pPr indent="0" marL="0">
              <a:buNone/>
            </a:pPr>
            <a:r>
              <a:rPr lang="en-US" sz="1100" dirty="0">
                <a:solidFill>
                  <a:srgbClr val="1473E6"/>
                </a:solidFill>
                <a:latin typeface="Arial" pitchFamily="34" charset="0"/>
                <a:ea typeface="Arial" pitchFamily="34" charset="-122"/>
                <a:cs typeface="Arial" pitchFamily="34" charset="-120"/>
              </a:rPr>
              <a:t>aem.live/docs/ew/administering/schedule-publish · demo.bbird.live/demo-docs/usecases/how-to-schedule-publish · aem.live/docs/scheduling · aem.live/docs/snapshots-reviews · aem.live/docs/media</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Adobe">    </p:cNvPr>
          <p:cNvPicPr>
            <a:picLocks noChangeAspect="1"/>
          </p:cNvPicPr>
          <p:nvPr/>
        </p:nvPicPr>
        <p:blipFill>
          <a:blip r:embed="rId1"/>
          <a:stretch>
            <a:fillRect/>
          </a:stretch>
        </p:blipFill>
        <p:spPr>
          <a:xfrm>
            <a:off x="10588752" y="292608"/>
            <a:ext cx="1133856" cy="274320"/>
          </a:xfrm>
          <a:prstGeom prst="rect">
            <a:avLst/>
          </a:prstGeom>
        </p:spPr>
      </p:pic>
      <p:sp>
        <p:nvSpPr>
          <p:cNvPr id="3" name="Text 0"/>
          <p:cNvSpPr/>
          <p:nvPr/>
        </p:nvSpPr>
        <p:spPr>
          <a:xfrm>
            <a:off x="457200" y="566928"/>
            <a:ext cx="10241280" cy="640080"/>
          </a:xfrm>
          <a:prstGeom prst="rect">
            <a:avLst/>
          </a:prstGeom>
          <a:noFill/>
          <a:ln/>
        </p:spPr>
        <p:txBody>
          <a:bodyPr wrap="square" rtlCol="0" anchor="ctr"/>
          <a:lstStyle/>
          <a:p>
            <a:pPr indent="0" marL="0">
              <a:buNone/>
            </a:pPr>
            <a:r>
              <a:rPr lang="en-US" sz="2600" b="1" dirty="0">
                <a:solidFill>
                  <a:srgbClr val="2C2C2C"/>
                </a:solidFill>
                <a:latin typeface="Arial" pitchFamily="34" charset="0"/>
                <a:ea typeface="Arial" pitchFamily="34" charset="-122"/>
                <a:cs typeface="Arial" pitchFamily="34" charset="-120"/>
              </a:rPr>
              <a:t>Questions?</a:t>
            </a:r>
            <a:endParaRPr lang="en-US" sz="2600" dirty="0"/>
          </a:p>
        </p:txBody>
      </p:sp>
      <p:sp>
        <p:nvSpPr>
          <p:cNvPr id="4" name="Shape 1"/>
          <p:cNvSpPr/>
          <p:nvPr/>
        </p:nvSpPr>
        <p:spPr>
          <a:xfrm>
            <a:off x="457200" y="1243584"/>
            <a:ext cx="1097280" cy="54864"/>
          </a:xfrm>
          <a:prstGeom prst="rect">
            <a:avLst/>
          </a:prstGeom>
          <a:solidFill>
            <a:srgbClr val="EB1000"/>
          </a:solidFill>
          <a:ln w="12700">
            <a:solidFill>
              <a:srgbClr val="EB1000"/>
            </a:solidFill>
            <a:prstDash val="solid"/>
          </a:ln>
        </p:spPr>
      </p:sp>
      <p:sp>
        <p:nvSpPr>
          <p:cNvPr id="5" name="Text 2"/>
          <p:cNvSpPr/>
          <p:nvPr/>
        </p:nvSpPr>
        <p:spPr>
          <a:xfrm>
            <a:off x="457200" y="6446520"/>
            <a:ext cx="7315200" cy="274320"/>
          </a:xfrm>
          <a:prstGeom prst="rect">
            <a:avLst/>
          </a:prstGeom>
          <a:noFill/>
          <a:ln/>
        </p:spPr>
        <p:txBody>
          <a:bodyPr wrap="square" rtlCol="0" anchor="ctr"/>
          <a:lstStyle/>
          <a:p>
            <a:pPr indent="0" marL="0">
              <a:buNone/>
            </a:pPr>
            <a:r>
              <a:rPr lang="en-US" sz="900" dirty="0">
                <a:solidFill>
                  <a:srgbClr val="6E6E6E"/>
                </a:solidFill>
                <a:latin typeface="Arial" pitchFamily="34" charset="0"/>
                <a:ea typeface="Arial" pitchFamily="34" charset="-122"/>
                <a:cs typeface="Arial" pitchFamily="34" charset="-120"/>
              </a:rPr>
              <a:t>© 2026 Adobe. All Rights Reserved. Adobe Confidential.</a:t>
            </a:r>
            <a:endParaRPr lang="en-US" sz="900" dirty="0"/>
          </a:p>
        </p:txBody>
      </p:sp>
      <p:sp>
        <p:nvSpPr>
          <p:cNvPr id="6" name="Text 3"/>
          <p:cNvSpPr/>
          <p:nvPr/>
        </p:nvSpPr>
        <p:spPr>
          <a:xfrm>
            <a:off x="11274552" y="6446520"/>
            <a:ext cx="457200" cy="274320"/>
          </a:xfrm>
          <a:prstGeom prst="rect">
            <a:avLst/>
          </a:prstGeom>
          <a:noFill/>
          <a:ln/>
        </p:spPr>
        <p:txBody>
          <a:bodyPr wrap="square" rtlCol="0" anchor="ctr"/>
          <a:lstStyle/>
          <a:p>
            <a:pPr algn="r" indent="0" marL="0">
              <a:buNone/>
            </a:pPr>
            <a:r>
              <a:rPr lang="en-US" sz="900" dirty="0">
                <a:solidFill>
                  <a:srgbClr val="6E6E6E"/>
                </a:solidFill>
                <a:latin typeface="Arial" pitchFamily="34" charset="0"/>
                <a:ea typeface="Arial" pitchFamily="34" charset="-122"/>
                <a:cs typeface="Arial" pitchFamily="34" charset="-120"/>
              </a:rPr>
              <a:t>17</a:t>
            </a:r>
            <a:endParaRPr lang="en-US" sz="900" dirty="0"/>
          </a:p>
        </p:txBody>
      </p:sp>
      <p:sp>
        <p:nvSpPr>
          <p:cNvPr id="7" name="Text 4"/>
          <p:cNvSpPr/>
          <p:nvPr/>
        </p:nvSpPr>
        <p:spPr>
          <a:xfrm>
            <a:off x="457200" y="2194560"/>
            <a:ext cx="11247120" cy="2286000"/>
          </a:xfrm>
          <a:prstGeom prst="rect">
            <a:avLst/>
          </a:prstGeom>
          <a:noFill/>
          <a:ln/>
        </p:spPr>
        <p:txBody>
          <a:bodyPr wrap="square" rtlCol="0" anchor="ctr"/>
          <a:lstStyle/>
          <a:p>
            <a:pPr indent="0" marL="0">
              <a:buNone/>
            </a:pPr>
            <a:r>
              <a:rPr lang="en-US" sz="2200" b="1" dirty="0">
                <a:solidFill>
                  <a:srgbClr val="2C2C2C"/>
                </a:solidFill>
                <a:latin typeface="Arial" pitchFamily="34" charset="0"/>
                <a:ea typeface="Arial" pitchFamily="34" charset="-122"/>
                <a:cs typeface="Arial" pitchFamily="34" charset="-120"/>
              </a:rPr>
              <a:t>ALAN RAJI MANI</a:t>
            </a:r>
            <a:endParaRPr lang="en-US" sz="2200" dirty="0"/>
          </a:p>
          <a:p>
            <a:pPr indent="0" marL="0">
              <a:buNone/>
            </a:pPr>
            <a:r>
              <a:rPr lang="en-US" sz="1600" dirty="0">
                <a:solidFill>
                  <a:srgbClr val="1473E6"/>
                </a:solidFill>
                <a:latin typeface="Arial" pitchFamily="34" charset="0"/>
                <a:ea typeface="Arial" pitchFamily="34" charset="-122"/>
                <a:cs typeface="Arial" pitchFamily="34" charset="-120"/>
              </a:rPr>
              <a:t>araji@adobe.com</a:t>
            </a:r>
            <a:endParaRPr lang="en-US" sz="2200" dirty="0"/>
          </a:p>
          <a:p>
            <a:pPr indent="0" marL="0">
              <a:buNone/>
            </a:pPr>
            <a:r>
              <a:rPr lang="en-US" sz="2200" dirty="0">
                <a:solidFill>
                  <a:srgbClr val="2C2C2C"/>
                </a:solidFill>
                <a:latin typeface="Arial" pitchFamily="34" charset="0"/>
                <a:ea typeface="Arial" pitchFamily="34" charset="-122"/>
                <a:cs typeface="Arial" pitchFamily="34" charset="-120"/>
              </a:rPr>
              <a:t> </a:t>
            </a:r>
            <a:endParaRPr lang="en-US" sz="2200" dirty="0"/>
          </a:p>
          <a:p>
            <a:pPr indent="0" marL="0">
              <a:buNone/>
            </a:pPr>
            <a:r>
              <a:rPr lang="en-US" sz="1400" dirty="0">
                <a:solidFill>
                  <a:srgbClr val="6E6E6E"/>
                </a:solidFill>
                <a:latin typeface="Arial" pitchFamily="34" charset="0"/>
                <a:ea typeface="Arial" pitchFamily="34" charset="-122"/>
                <a:cs typeface="Arial" pitchFamily="34" charset="-120"/>
              </a:rPr>
              <a:t>Full test logs, configuration and the capability register are in the appendix (A1–A9).</a:t>
            </a:r>
            <a:endParaRPr lang="en-US" sz="2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Adobe">    </p:cNvPr>
          <p:cNvPicPr>
            <a:picLocks noChangeAspect="1"/>
          </p:cNvPicPr>
          <p:nvPr/>
        </p:nvPicPr>
        <p:blipFill>
          <a:blip r:embed="rId1"/>
          <a:stretch>
            <a:fillRect/>
          </a:stretch>
        </p:blipFill>
        <p:spPr>
          <a:xfrm>
            <a:off x="10588752" y="292608"/>
            <a:ext cx="1133856" cy="274320"/>
          </a:xfrm>
          <a:prstGeom prst="rect">
            <a:avLst/>
          </a:prstGeom>
        </p:spPr>
      </p:pic>
      <p:sp>
        <p:nvSpPr>
          <p:cNvPr id="3" name="Text 0"/>
          <p:cNvSpPr/>
          <p:nvPr/>
        </p:nvSpPr>
        <p:spPr>
          <a:xfrm>
            <a:off x="457200" y="274320"/>
            <a:ext cx="9144000" cy="274320"/>
          </a:xfrm>
          <a:prstGeom prst="rect">
            <a:avLst/>
          </a:prstGeom>
          <a:noFill/>
          <a:ln/>
        </p:spPr>
        <p:txBody>
          <a:bodyPr wrap="square" rtlCol="0" anchor="ctr"/>
          <a:lstStyle/>
          <a:p>
            <a:pPr indent="0" marL="0">
              <a:buNone/>
            </a:pPr>
            <a:r>
              <a:rPr lang="en-US" sz="1100" b="1" spc="100" kern="0" dirty="0">
                <a:solidFill>
                  <a:srgbClr val="EB1000"/>
                </a:solidFill>
                <a:latin typeface="Arial" pitchFamily="34" charset="0"/>
                <a:ea typeface="Arial" pitchFamily="34" charset="-122"/>
                <a:cs typeface="Arial" pitchFamily="34" charset="-120"/>
              </a:rPr>
              <a:t>APPENDIX A1</a:t>
            </a:r>
            <a:endParaRPr lang="en-US" sz="1100" dirty="0"/>
          </a:p>
        </p:txBody>
      </p:sp>
      <p:sp>
        <p:nvSpPr>
          <p:cNvPr id="4" name="Text 1"/>
          <p:cNvSpPr/>
          <p:nvPr/>
        </p:nvSpPr>
        <p:spPr>
          <a:xfrm>
            <a:off x="457200" y="566928"/>
            <a:ext cx="10241280" cy="640080"/>
          </a:xfrm>
          <a:prstGeom prst="rect">
            <a:avLst/>
          </a:prstGeom>
          <a:noFill/>
          <a:ln/>
        </p:spPr>
        <p:txBody>
          <a:bodyPr wrap="square" rtlCol="0" anchor="ctr"/>
          <a:lstStyle/>
          <a:p>
            <a:pPr indent="0" marL="0">
              <a:buNone/>
            </a:pPr>
            <a:r>
              <a:rPr lang="en-US" sz="2600" b="1" dirty="0">
                <a:solidFill>
                  <a:srgbClr val="2C2C2C"/>
                </a:solidFill>
                <a:latin typeface="Arial" pitchFamily="34" charset="0"/>
                <a:ea typeface="Arial" pitchFamily="34" charset="-122"/>
                <a:cs typeface="Arial" pitchFamily="34" charset="-120"/>
              </a:rPr>
              <a:t>Environment and key links</a:t>
            </a:r>
            <a:endParaRPr lang="en-US" sz="2600" dirty="0"/>
          </a:p>
        </p:txBody>
      </p:sp>
      <p:sp>
        <p:nvSpPr>
          <p:cNvPr id="5" name="Shape 2"/>
          <p:cNvSpPr/>
          <p:nvPr/>
        </p:nvSpPr>
        <p:spPr>
          <a:xfrm>
            <a:off x="457200" y="1243584"/>
            <a:ext cx="1097280" cy="54864"/>
          </a:xfrm>
          <a:prstGeom prst="rect">
            <a:avLst/>
          </a:prstGeom>
          <a:solidFill>
            <a:srgbClr val="EB1000"/>
          </a:solidFill>
          <a:ln w="12700">
            <a:solidFill>
              <a:srgbClr val="EB1000"/>
            </a:solidFill>
            <a:prstDash val="solid"/>
          </a:ln>
        </p:spPr>
      </p:sp>
      <p:sp>
        <p:nvSpPr>
          <p:cNvPr id="6" name="Text 3"/>
          <p:cNvSpPr/>
          <p:nvPr/>
        </p:nvSpPr>
        <p:spPr>
          <a:xfrm>
            <a:off x="457200" y="6446520"/>
            <a:ext cx="7315200" cy="274320"/>
          </a:xfrm>
          <a:prstGeom prst="rect">
            <a:avLst/>
          </a:prstGeom>
          <a:noFill/>
          <a:ln/>
        </p:spPr>
        <p:txBody>
          <a:bodyPr wrap="square" rtlCol="0" anchor="ctr"/>
          <a:lstStyle/>
          <a:p>
            <a:pPr indent="0" marL="0">
              <a:buNone/>
            </a:pPr>
            <a:r>
              <a:rPr lang="en-US" sz="900" dirty="0">
                <a:solidFill>
                  <a:srgbClr val="6E6E6E"/>
                </a:solidFill>
                <a:latin typeface="Arial" pitchFamily="34" charset="0"/>
                <a:ea typeface="Arial" pitchFamily="34" charset="-122"/>
                <a:cs typeface="Arial" pitchFamily="34" charset="-120"/>
              </a:rPr>
              <a:t>© 2026 Adobe. All Rights Reserved. Adobe Confidential.</a:t>
            </a:r>
            <a:endParaRPr lang="en-US" sz="900" dirty="0"/>
          </a:p>
        </p:txBody>
      </p:sp>
      <p:sp>
        <p:nvSpPr>
          <p:cNvPr id="7" name="Text 4"/>
          <p:cNvSpPr/>
          <p:nvPr/>
        </p:nvSpPr>
        <p:spPr>
          <a:xfrm>
            <a:off x="11274552" y="6446520"/>
            <a:ext cx="457200" cy="274320"/>
          </a:xfrm>
          <a:prstGeom prst="rect">
            <a:avLst/>
          </a:prstGeom>
          <a:noFill/>
          <a:ln/>
        </p:spPr>
        <p:txBody>
          <a:bodyPr wrap="square" rtlCol="0" anchor="ctr"/>
          <a:lstStyle/>
          <a:p>
            <a:pPr algn="r" indent="0" marL="0">
              <a:buNone/>
            </a:pPr>
            <a:r>
              <a:rPr lang="en-US" sz="900" dirty="0">
                <a:solidFill>
                  <a:srgbClr val="6E6E6E"/>
                </a:solidFill>
                <a:latin typeface="Arial" pitchFamily="34" charset="0"/>
                <a:ea typeface="Arial" pitchFamily="34" charset="-122"/>
                <a:cs typeface="Arial" pitchFamily="34" charset="-120"/>
              </a:rPr>
              <a:t>18</a:t>
            </a:r>
            <a:endParaRPr lang="en-US" sz="9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11247120" cy="914400"/>
        </p:xfrm>
        <a:graphic>
          <a:graphicData uri="http://schemas.openxmlformats.org/drawingml/2006/table">
            <a:tbl>
              <a:tblPr/>
              <a:tblGrid>
                <a:gridCol w="2743200"/>
                <a:gridCol w="8503920"/>
              </a:tblGrid>
              <a:tr h="0">
                <a:tc>
                  <a:txBody>
                    <a:bodyPr/>
                    <a:lstStyle/>
                    <a:p>
                      <a:pPr indent="0" marL="0">
                        <a:buNone/>
                      </a:pPr>
                      <a:r>
                        <a:rPr lang="en-US" sz="1200" b="1" dirty="0">
                          <a:solidFill>
                            <a:srgbClr val="FFFFFF"/>
                          </a:solidFill>
                          <a:latin typeface="Arial" pitchFamily="34" charset="0"/>
                          <a:ea typeface="Arial" pitchFamily="34" charset="-122"/>
                          <a:cs typeface="Arial" pitchFamily="34" charset="-120"/>
                        </a:rPr>
                        <a:t>Item</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Value</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r>
              <a:tr h="0">
                <a:tc>
                  <a:txBody>
                    <a:bodyPr/>
                    <a:lstStyle/>
                    <a:p>
                      <a:pPr indent="0" marL="0">
                        <a:buNone/>
                      </a:pPr>
                      <a:r>
                        <a:rPr lang="en-US" sz="1200" dirty="0">
                          <a:solidFill>
                            <a:srgbClr val="2C2C2C"/>
                          </a:solidFill>
                          <a:latin typeface="Arial" pitchFamily="34" charset="0"/>
                          <a:ea typeface="Arial" pitchFamily="34" charset="-122"/>
                          <a:cs typeface="Arial" pitchFamily="34" charset="-120"/>
                        </a:rPr>
                        <a:t>Org / site / branch</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2C2C2C"/>
                          </a:solidFill>
                          <a:latin typeface="Arial" pitchFamily="34" charset="0"/>
                          <a:ea typeface="Arial" pitchFamily="34" charset="-122"/>
                          <a:cs typeface="Arial" pitchFamily="34" charset="-120"/>
                        </a:rPr>
                        <a:t>araji-adobe / bv-poc-wknd-aln / main; content source: Document Authoring</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1200" dirty="0">
                          <a:solidFill>
                            <a:srgbClr val="2C2C2C"/>
                          </a:solidFill>
                          <a:latin typeface="Arial" pitchFamily="34" charset="0"/>
                          <a:ea typeface="Arial" pitchFamily="34" charset="-122"/>
                          <a:cs typeface="Arial" pitchFamily="34" charset="-120"/>
                        </a:rPr>
                        <a:t>Preview / live</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200" dirty="0">
                          <a:solidFill>
                            <a:srgbClr val="2C2C2C"/>
                          </a:solidFill>
                          <a:latin typeface="Arial" pitchFamily="34" charset="0"/>
                          <a:ea typeface="Arial" pitchFamily="34" charset="-122"/>
                          <a:cs typeface="Arial" pitchFamily="34" charset="-120"/>
                        </a:rPr>
                        <a:t>main--bv-poc-wknd-aln--araji-adobe.aem.page · …aem.live (home page /us/en)</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r h="0">
                <a:tc>
                  <a:txBody>
                    <a:bodyPr/>
                    <a:lstStyle/>
                    <a:p>
                      <a:pPr indent="0" marL="0">
                        <a:buNone/>
                      </a:pPr>
                      <a:r>
                        <a:rPr lang="en-US" sz="1200" dirty="0">
                          <a:solidFill>
                            <a:srgbClr val="2C2C2C"/>
                          </a:solidFill>
                          <a:latin typeface="Arial" pitchFamily="34" charset="0"/>
                          <a:ea typeface="Arial" pitchFamily="34" charset="-122"/>
                          <a:cs typeface="Arial" pitchFamily="34" charset="-120"/>
                        </a:rPr>
                        <a:t>Site config</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2C2C2C"/>
                          </a:solidFill>
                          <a:latin typeface="Arial" pitchFamily="34" charset="0"/>
                          <a:ea typeface="Arial" pitchFamily="34" charset="-122"/>
                          <a:cs typeface="Arial" pitchFamily="34" charset="-120"/>
                        </a:rPr>
                        <a:t>da.live/config#/araji-adobe/bv-poc-wknd-aln/ ("prepare" tab: title = Schedule Publish)</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1200" dirty="0">
                          <a:solidFill>
                            <a:srgbClr val="2C2C2C"/>
                          </a:solidFill>
                          <a:latin typeface="Arial" pitchFamily="34" charset="0"/>
                          <a:ea typeface="Arial" pitchFamily="34" charset="-122"/>
                          <a:cs typeface="Arial" pitchFamily="34" charset="-120"/>
                        </a:rPr>
                        <a:t>Scheduler app</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200" dirty="0">
                          <a:solidFill>
                            <a:srgbClr val="2C2C2C"/>
                          </a:solidFill>
                          <a:latin typeface="Arial" pitchFamily="34" charset="0"/>
                          <a:ea typeface="Arial" pitchFamily="34" charset="-122"/>
                          <a:cs typeface="Arial" pitchFamily="34" charset="-120"/>
                        </a:rPr>
                        <a:t>da.live/apps/scheduler → /araji-adobe/bv-poc-wknd-aln/ (registered 22 Oct)</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r h="0">
                <a:tc>
                  <a:txBody>
                    <a:bodyPr/>
                    <a:lstStyle/>
                    <a:p>
                      <a:pPr indent="0" marL="0">
                        <a:buNone/>
                      </a:pPr>
                      <a:r>
                        <a:rPr lang="en-US" sz="1200" dirty="0">
                          <a:solidFill>
                            <a:srgbClr val="2C2C2C"/>
                          </a:solidFill>
                          <a:latin typeface="Arial" pitchFamily="34" charset="0"/>
                          <a:ea typeface="Arial" pitchFamily="34" charset="-122"/>
                          <a:cs typeface="Arial" pitchFamily="34" charset="-120"/>
                        </a:rPr>
                        <a:t>Schedule sheet</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2C2C2C"/>
                          </a:solidFill>
                          <a:latin typeface="Arial" pitchFamily="34" charset="0"/>
                          <a:ea typeface="Arial" pitchFamily="34" charset="-122"/>
                          <a:cs typeface="Arial" pitchFamily="34" charset="-120"/>
                        </a:rPr>
                        <a:t>/.helix/crontab (DA sheet; activated by preview; UTC; 5-minute ticks)</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1200" dirty="0">
                          <a:solidFill>
                            <a:srgbClr val="2C2C2C"/>
                          </a:solidFill>
                          <a:latin typeface="Arial" pitchFamily="34" charset="0"/>
                          <a:ea typeface="Arial" pitchFamily="34" charset="-122"/>
                          <a:cs typeface="Arial" pitchFamily="34" charset="-120"/>
                        </a:rPr>
                        <a:t>Code</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200" dirty="0">
                          <a:solidFill>
                            <a:srgbClr val="2C2C2C"/>
                          </a:solidFill>
                          <a:latin typeface="Arial" pitchFamily="34" charset="0"/>
                          <a:ea typeface="Arial" pitchFamily="34" charset="-122"/>
                          <a:cs typeface="Arial" pitchFamily="34" charset="-120"/>
                        </a:rPr>
                        <a:t>github.com/araji-adobe/bv-poc-wknd-aln</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r h="0">
                <a:tc>
                  <a:txBody>
                    <a:bodyPr/>
                    <a:lstStyle/>
                    <a:p>
                      <a:pPr indent="0" marL="0">
                        <a:buNone/>
                      </a:pPr>
                      <a:r>
                        <a:rPr lang="en-US" sz="1200" dirty="0">
                          <a:solidFill>
                            <a:srgbClr val="2C2C2C"/>
                          </a:solidFill>
                          <a:latin typeface="Arial" pitchFamily="34" charset="0"/>
                          <a:ea typeface="Arial" pitchFamily="34" charset="-122"/>
                          <a:cs typeface="Arial" pitchFamily="34" charset="-120"/>
                        </a:rPr>
                        <a:t>Evidence</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2C2C2C"/>
                          </a:solidFill>
                          <a:latin typeface="Arial" pitchFamily="34" charset="0"/>
                          <a:ea typeface="Arial" pitchFamily="34" charset="-122"/>
                          <a:cs typeface="Arial" pitchFamily="34" charset="-120"/>
                        </a:rPr>
                        <a:t>testing/scheduler/: demo-progress.md, scheduler-test-log-2026-10-19.xlsx, evidence/ screenshots</a:t>
                      </a:r>
                      <a:endParaRPr lang="en-US" sz="12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Adobe">    </p:cNvPr>
          <p:cNvPicPr>
            <a:picLocks noChangeAspect="1"/>
          </p:cNvPicPr>
          <p:nvPr/>
        </p:nvPicPr>
        <p:blipFill>
          <a:blip r:embed="rId1"/>
          <a:stretch>
            <a:fillRect/>
          </a:stretch>
        </p:blipFill>
        <p:spPr>
          <a:xfrm>
            <a:off x="10588752" y="292608"/>
            <a:ext cx="1133856" cy="274320"/>
          </a:xfrm>
          <a:prstGeom prst="rect">
            <a:avLst/>
          </a:prstGeom>
        </p:spPr>
      </p:pic>
      <p:sp>
        <p:nvSpPr>
          <p:cNvPr id="3" name="Text 0"/>
          <p:cNvSpPr/>
          <p:nvPr/>
        </p:nvSpPr>
        <p:spPr>
          <a:xfrm>
            <a:off x="457200" y="274320"/>
            <a:ext cx="9144000" cy="274320"/>
          </a:xfrm>
          <a:prstGeom prst="rect">
            <a:avLst/>
          </a:prstGeom>
          <a:noFill/>
          <a:ln/>
        </p:spPr>
        <p:txBody>
          <a:bodyPr wrap="square" rtlCol="0" anchor="ctr"/>
          <a:lstStyle/>
          <a:p>
            <a:pPr indent="0" marL="0">
              <a:buNone/>
            </a:pPr>
            <a:r>
              <a:rPr lang="en-US" sz="1100" b="1" spc="100" kern="0" dirty="0">
                <a:solidFill>
                  <a:srgbClr val="EB1000"/>
                </a:solidFill>
                <a:latin typeface="Arial" pitchFamily="34" charset="0"/>
                <a:ea typeface="Arial" pitchFamily="34" charset="-122"/>
                <a:cs typeface="Arial" pitchFamily="34" charset="-120"/>
              </a:rPr>
              <a:t>APPENDIX A2</a:t>
            </a:r>
            <a:endParaRPr lang="en-US" sz="1100" dirty="0"/>
          </a:p>
        </p:txBody>
      </p:sp>
      <p:sp>
        <p:nvSpPr>
          <p:cNvPr id="4" name="Text 1"/>
          <p:cNvSpPr/>
          <p:nvPr/>
        </p:nvSpPr>
        <p:spPr>
          <a:xfrm>
            <a:off x="457200" y="566928"/>
            <a:ext cx="10241280" cy="640080"/>
          </a:xfrm>
          <a:prstGeom prst="rect">
            <a:avLst/>
          </a:prstGeom>
          <a:noFill/>
          <a:ln/>
        </p:spPr>
        <p:txBody>
          <a:bodyPr wrap="square" rtlCol="0" anchor="ctr"/>
          <a:lstStyle/>
          <a:p>
            <a:pPr indent="0" marL="0">
              <a:buNone/>
            </a:pPr>
            <a:r>
              <a:rPr lang="en-US" sz="2600" b="1" dirty="0">
                <a:solidFill>
                  <a:srgbClr val="2C2C2C"/>
                </a:solidFill>
                <a:latin typeface="Arial" pitchFamily="34" charset="0"/>
                <a:ea typeface="Arial" pitchFamily="34" charset="-122"/>
                <a:cs typeface="Arial" pitchFamily="34" charset="-120"/>
              </a:rPr>
              <a:t>Manual test log (22 Oct, IST)</a:t>
            </a:r>
            <a:endParaRPr lang="en-US" sz="2600" dirty="0"/>
          </a:p>
        </p:txBody>
      </p:sp>
      <p:sp>
        <p:nvSpPr>
          <p:cNvPr id="5" name="Shape 2"/>
          <p:cNvSpPr/>
          <p:nvPr/>
        </p:nvSpPr>
        <p:spPr>
          <a:xfrm>
            <a:off x="457200" y="1243584"/>
            <a:ext cx="1097280" cy="54864"/>
          </a:xfrm>
          <a:prstGeom prst="rect">
            <a:avLst/>
          </a:prstGeom>
          <a:solidFill>
            <a:srgbClr val="EB1000"/>
          </a:solidFill>
          <a:ln w="12700">
            <a:solidFill>
              <a:srgbClr val="EB1000"/>
            </a:solidFill>
            <a:prstDash val="solid"/>
          </a:ln>
        </p:spPr>
      </p:sp>
      <p:sp>
        <p:nvSpPr>
          <p:cNvPr id="6" name="Text 3"/>
          <p:cNvSpPr/>
          <p:nvPr/>
        </p:nvSpPr>
        <p:spPr>
          <a:xfrm>
            <a:off x="457200" y="6446520"/>
            <a:ext cx="7315200" cy="274320"/>
          </a:xfrm>
          <a:prstGeom prst="rect">
            <a:avLst/>
          </a:prstGeom>
          <a:noFill/>
          <a:ln/>
        </p:spPr>
        <p:txBody>
          <a:bodyPr wrap="square" rtlCol="0" anchor="ctr"/>
          <a:lstStyle/>
          <a:p>
            <a:pPr indent="0" marL="0">
              <a:buNone/>
            </a:pPr>
            <a:r>
              <a:rPr lang="en-US" sz="900" dirty="0">
                <a:solidFill>
                  <a:srgbClr val="6E6E6E"/>
                </a:solidFill>
                <a:latin typeface="Arial" pitchFamily="34" charset="0"/>
                <a:ea typeface="Arial" pitchFamily="34" charset="-122"/>
                <a:cs typeface="Arial" pitchFamily="34" charset="-120"/>
              </a:rPr>
              <a:t>© 2026 Adobe. All Rights Reserved. Adobe Confidential.</a:t>
            </a:r>
            <a:endParaRPr lang="en-US" sz="900" dirty="0"/>
          </a:p>
        </p:txBody>
      </p:sp>
      <p:sp>
        <p:nvSpPr>
          <p:cNvPr id="7" name="Text 4"/>
          <p:cNvSpPr/>
          <p:nvPr/>
        </p:nvSpPr>
        <p:spPr>
          <a:xfrm>
            <a:off x="11274552" y="6446520"/>
            <a:ext cx="457200" cy="274320"/>
          </a:xfrm>
          <a:prstGeom prst="rect">
            <a:avLst/>
          </a:prstGeom>
          <a:noFill/>
          <a:ln/>
        </p:spPr>
        <p:txBody>
          <a:bodyPr wrap="square" rtlCol="0" anchor="ctr"/>
          <a:lstStyle/>
          <a:p>
            <a:pPr algn="r" indent="0" marL="0">
              <a:buNone/>
            </a:pPr>
            <a:r>
              <a:rPr lang="en-US" sz="900" dirty="0">
                <a:solidFill>
                  <a:srgbClr val="6E6E6E"/>
                </a:solidFill>
                <a:latin typeface="Arial" pitchFamily="34" charset="0"/>
                <a:ea typeface="Arial" pitchFamily="34" charset="-122"/>
                <a:cs typeface="Arial" pitchFamily="34" charset="-120"/>
              </a:rPr>
              <a:t>19</a:t>
            </a:r>
            <a:endParaRPr lang="en-US" sz="9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11247120" cy="914400"/>
        </p:xfrm>
        <a:graphic>
          <a:graphicData uri="http://schemas.openxmlformats.org/drawingml/2006/table">
            <a:tbl>
              <a:tblPr/>
              <a:tblGrid>
                <a:gridCol w="1280160"/>
                <a:gridCol w="4480560"/>
                <a:gridCol w="5486400"/>
              </a:tblGrid>
              <a:tr h="0">
                <a:tc>
                  <a:txBody>
                    <a:bodyPr/>
                    <a:lstStyle/>
                    <a:p>
                      <a:pPr indent="0" marL="0">
                        <a:buNone/>
                      </a:pPr>
                      <a:r>
                        <a:rPr lang="en-US" sz="1100" b="1" dirty="0">
                          <a:solidFill>
                            <a:srgbClr val="FFFFFF"/>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Test</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Result</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M0</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Is Schedule Publish enabled?</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No: site and org config absent</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M1</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Add "prepare" row</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Pass: config saved and read back</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M2a / M2b</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Load / register in the scheduler app</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"Not registered" → registered; empty queue; API key created</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M3</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Prepare menu</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Pass: icon-only; Preflight, Unpublish, Schedule Publish</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M4–M6</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Never-previewed page, then schedule for 12:00</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Auto-preview 11:50:56; "Schedule (Asia/Calcutta)"</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M7–M9</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Edit V2 after scheduling, no preview</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Published 12:00:08 by helix@adobe.com; live = V1 only</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M10–M12</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Schedule 12:25, reschedule to 12:30</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Re-preview each time; nothing at 12:25; live V1 + V2 at 12:30:07</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M13–M14</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New page for 12:45; Delete in the list</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No confirmation; deleted-scheduled-publish 12:40:07; still 404</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Adobe">    </p:cNvPr>
          <p:cNvPicPr>
            <a:picLocks noChangeAspect="1"/>
          </p:cNvPicPr>
          <p:nvPr/>
        </p:nvPicPr>
        <p:blipFill>
          <a:blip r:embed="rId1"/>
          <a:stretch>
            <a:fillRect/>
          </a:stretch>
        </p:blipFill>
        <p:spPr>
          <a:xfrm>
            <a:off x="10588752" y="292608"/>
            <a:ext cx="1133856" cy="274320"/>
          </a:xfrm>
          <a:prstGeom prst="rect">
            <a:avLst/>
          </a:prstGeom>
        </p:spPr>
      </p:pic>
      <p:sp>
        <p:nvSpPr>
          <p:cNvPr id="3" name="Text 0"/>
          <p:cNvSpPr/>
          <p:nvPr/>
        </p:nvSpPr>
        <p:spPr>
          <a:xfrm>
            <a:off x="457200" y="274320"/>
            <a:ext cx="9144000" cy="274320"/>
          </a:xfrm>
          <a:prstGeom prst="rect">
            <a:avLst/>
          </a:prstGeom>
          <a:noFill/>
          <a:ln/>
        </p:spPr>
        <p:txBody>
          <a:bodyPr wrap="square" rtlCol="0" anchor="ctr"/>
          <a:lstStyle/>
          <a:p>
            <a:pPr indent="0" marL="0">
              <a:buNone/>
            </a:pPr>
            <a:r>
              <a:rPr lang="en-US" sz="1100" b="1" spc="100" kern="0" dirty="0">
                <a:solidFill>
                  <a:srgbClr val="EB1000"/>
                </a:solidFill>
                <a:latin typeface="Arial" pitchFamily="34" charset="0"/>
                <a:ea typeface="Arial" pitchFamily="34" charset="-122"/>
                <a:cs typeface="Arial" pitchFamily="34" charset="-120"/>
              </a:rPr>
              <a:t>APPENDIX A3</a:t>
            </a:r>
            <a:endParaRPr lang="en-US" sz="1100" dirty="0"/>
          </a:p>
        </p:txBody>
      </p:sp>
      <p:sp>
        <p:nvSpPr>
          <p:cNvPr id="4" name="Text 1"/>
          <p:cNvSpPr/>
          <p:nvPr/>
        </p:nvSpPr>
        <p:spPr>
          <a:xfrm>
            <a:off x="457200" y="566928"/>
            <a:ext cx="10241280" cy="640080"/>
          </a:xfrm>
          <a:prstGeom prst="rect">
            <a:avLst/>
          </a:prstGeom>
          <a:noFill/>
          <a:ln/>
        </p:spPr>
        <p:txBody>
          <a:bodyPr wrap="square" rtlCol="0" anchor="ctr"/>
          <a:lstStyle/>
          <a:p>
            <a:pPr indent="0" marL="0">
              <a:buNone/>
            </a:pPr>
            <a:r>
              <a:rPr lang="en-US" sz="2600" b="1" dirty="0">
                <a:solidFill>
                  <a:srgbClr val="2C2C2C"/>
                </a:solidFill>
                <a:latin typeface="Arial" pitchFamily="34" charset="0"/>
                <a:ea typeface="Arial" pitchFamily="34" charset="-122"/>
                <a:cs typeface="Arial" pitchFamily="34" charset="-120"/>
              </a:rPr>
              <a:t>Ema test log (19 Oct) and schedule-sheet format</a:t>
            </a:r>
            <a:endParaRPr lang="en-US" sz="2600" dirty="0"/>
          </a:p>
        </p:txBody>
      </p:sp>
      <p:sp>
        <p:nvSpPr>
          <p:cNvPr id="5" name="Shape 2"/>
          <p:cNvSpPr/>
          <p:nvPr/>
        </p:nvSpPr>
        <p:spPr>
          <a:xfrm>
            <a:off x="457200" y="1243584"/>
            <a:ext cx="1097280" cy="54864"/>
          </a:xfrm>
          <a:prstGeom prst="rect">
            <a:avLst/>
          </a:prstGeom>
          <a:solidFill>
            <a:srgbClr val="EB1000"/>
          </a:solidFill>
          <a:ln w="12700">
            <a:solidFill>
              <a:srgbClr val="EB1000"/>
            </a:solidFill>
            <a:prstDash val="solid"/>
          </a:ln>
        </p:spPr>
      </p:sp>
      <p:sp>
        <p:nvSpPr>
          <p:cNvPr id="6" name="Text 3"/>
          <p:cNvSpPr/>
          <p:nvPr/>
        </p:nvSpPr>
        <p:spPr>
          <a:xfrm>
            <a:off x="457200" y="6446520"/>
            <a:ext cx="7315200" cy="274320"/>
          </a:xfrm>
          <a:prstGeom prst="rect">
            <a:avLst/>
          </a:prstGeom>
          <a:noFill/>
          <a:ln/>
        </p:spPr>
        <p:txBody>
          <a:bodyPr wrap="square" rtlCol="0" anchor="ctr"/>
          <a:lstStyle/>
          <a:p>
            <a:pPr indent="0" marL="0">
              <a:buNone/>
            </a:pPr>
            <a:r>
              <a:rPr lang="en-US" sz="900" dirty="0">
                <a:solidFill>
                  <a:srgbClr val="6E6E6E"/>
                </a:solidFill>
                <a:latin typeface="Arial" pitchFamily="34" charset="0"/>
                <a:ea typeface="Arial" pitchFamily="34" charset="-122"/>
                <a:cs typeface="Arial" pitchFamily="34" charset="-120"/>
              </a:rPr>
              <a:t>© 2026 Adobe. All Rights Reserved. Adobe Confidential.</a:t>
            </a:r>
            <a:endParaRPr lang="en-US" sz="900" dirty="0"/>
          </a:p>
        </p:txBody>
      </p:sp>
      <p:sp>
        <p:nvSpPr>
          <p:cNvPr id="7" name="Text 4"/>
          <p:cNvSpPr/>
          <p:nvPr/>
        </p:nvSpPr>
        <p:spPr>
          <a:xfrm>
            <a:off x="11274552" y="6446520"/>
            <a:ext cx="457200" cy="274320"/>
          </a:xfrm>
          <a:prstGeom prst="rect">
            <a:avLst/>
          </a:prstGeom>
          <a:noFill/>
          <a:ln/>
        </p:spPr>
        <p:txBody>
          <a:bodyPr wrap="square" rtlCol="0" anchor="ctr"/>
          <a:lstStyle/>
          <a:p>
            <a:pPr algn="r" indent="0" marL="0">
              <a:buNone/>
            </a:pPr>
            <a:r>
              <a:rPr lang="en-US" sz="900" dirty="0">
                <a:solidFill>
                  <a:srgbClr val="6E6E6E"/>
                </a:solidFill>
                <a:latin typeface="Arial" pitchFamily="34" charset="0"/>
                <a:ea typeface="Arial" pitchFamily="34" charset="-122"/>
                <a:cs typeface="Arial" pitchFamily="34" charset="-120"/>
              </a:rPr>
              <a:t>20</a:t>
            </a:r>
            <a:endParaRPr lang="en-US" sz="9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11247120" cy="914400"/>
        </p:xfrm>
        <a:graphic>
          <a:graphicData uri="http://schemas.openxmlformats.org/drawingml/2006/table">
            <a:tbl>
              <a:tblPr/>
              <a:tblGrid>
                <a:gridCol w="1828800"/>
                <a:gridCol w="9418320"/>
              </a:tblGrid>
              <a:tr h="0">
                <a:tc>
                  <a:txBody>
                    <a:bodyPr/>
                    <a:lstStyle/>
                    <a:p>
                      <a:pPr indent="0" marL="0">
                        <a:buNone/>
                      </a:pPr>
                      <a:r>
                        <a:rPr lang="en-US" sz="1100" b="1" dirty="0">
                          <a:solidFill>
                            <a:srgbClr val="FFFFFF"/>
                          </a:solidFill>
                          <a:latin typeface="Arial" pitchFamily="34" charset="0"/>
                          <a:ea typeface="Arial" pitchFamily="34" charset="-122"/>
                          <a:cs typeface="Arial" pitchFamily="34" charset="-120"/>
                        </a:rPr>
                        <a:t>Item</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Detail</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Format</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"when" e.g. "at 10:30 am on the 19th day of October in 2026" (UTC) · "command" e.g. "publish /path" / "unpublish /path"; several commands per cell, separated by line breaks</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Activation</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Preview /.helix/crontab.json (5 activations, all HTTP 200)</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T1–T5</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Publish 16:00:04 · cancel (never live) · reschedule 16:20:04 · bulk 4/4 16:25:04–06 · publish 16:25 + unpublish 16:40</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L1–L3</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Sheet must be created · 5-minute UTC ticks · no API to list queued jobs</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L4–L7</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Ema can't monitor between turns · one syntax error disables all · no parse feedback on activation</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O1–O3</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Runs not attributed in the audit log · ~1 min log lag · unpublish time only via the indexer entry</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Interactions</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20 user entries, 24 Ema entries; window 15:32–16:46 IST (≈74 min, set by the schedule)</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Adobe">    </p:cNvPr>
          <p:cNvPicPr>
            <a:picLocks noChangeAspect="1"/>
          </p:cNvPicPr>
          <p:nvPr/>
        </p:nvPicPr>
        <p:blipFill>
          <a:blip r:embed="rId1"/>
          <a:stretch>
            <a:fillRect/>
          </a:stretch>
        </p:blipFill>
        <p:spPr>
          <a:xfrm>
            <a:off x="10588752" y="292608"/>
            <a:ext cx="1133856" cy="274320"/>
          </a:xfrm>
          <a:prstGeom prst="rect">
            <a:avLst/>
          </a:prstGeom>
        </p:spPr>
      </p:pic>
      <p:sp>
        <p:nvSpPr>
          <p:cNvPr id="3" name="Text 0"/>
          <p:cNvSpPr/>
          <p:nvPr/>
        </p:nvSpPr>
        <p:spPr>
          <a:xfrm>
            <a:off x="457200" y="274320"/>
            <a:ext cx="9144000" cy="274320"/>
          </a:xfrm>
          <a:prstGeom prst="rect">
            <a:avLst/>
          </a:prstGeom>
          <a:noFill/>
          <a:ln/>
        </p:spPr>
        <p:txBody>
          <a:bodyPr wrap="square" rtlCol="0" anchor="ctr"/>
          <a:lstStyle/>
          <a:p>
            <a:pPr indent="0" marL="0">
              <a:buNone/>
            </a:pPr>
            <a:r>
              <a:rPr lang="en-US" sz="1100" b="1" spc="100" kern="0" dirty="0">
                <a:solidFill>
                  <a:srgbClr val="EB1000"/>
                </a:solidFill>
                <a:latin typeface="Arial" pitchFamily="34" charset="0"/>
                <a:ea typeface="Arial" pitchFamily="34" charset="-122"/>
                <a:cs typeface="Arial" pitchFamily="34" charset="-120"/>
              </a:rPr>
              <a:t>APPENDIX A4</a:t>
            </a:r>
            <a:endParaRPr lang="en-US" sz="1100" dirty="0"/>
          </a:p>
        </p:txBody>
      </p:sp>
      <p:sp>
        <p:nvSpPr>
          <p:cNvPr id="4" name="Text 1"/>
          <p:cNvSpPr/>
          <p:nvPr/>
        </p:nvSpPr>
        <p:spPr>
          <a:xfrm>
            <a:off x="457200" y="566928"/>
            <a:ext cx="10241280" cy="640080"/>
          </a:xfrm>
          <a:prstGeom prst="rect">
            <a:avLst/>
          </a:prstGeom>
          <a:noFill/>
          <a:ln/>
        </p:spPr>
        <p:txBody>
          <a:bodyPr wrap="square" rtlCol="0" anchor="ctr"/>
          <a:lstStyle/>
          <a:p>
            <a:pPr indent="0" marL="0">
              <a:buNone/>
            </a:pPr>
            <a:r>
              <a:rPr lang="en-US" sz="2600" b="1" dirty="0">
                <a:solidFill>
                  <a:srgbClr val="2C2C2C"/>
                </a:solidFill>
                <a:latin typeface="Arial" pitchFamily="34" charset="0"/>
                <a:ea typeface="Arial" pitchFamily="34" charset="-122"/>
                <a:cs typeface="Arial" pitchFamily="34" charset="-120"/>
              </a:rPr>
              <a:t>Experience Workspace (Coworker) test log (22 Oct)</a:t>
            </a:r>
            <a:endParaRPr lang="en-US" sz="2600" dirty="0"/>
          </a:p>
        </p:txBody>
      </p:sp>
      <p:sp>
        <p:nvSpPr>
          <p:cNvPr id="5" name="Shape 2"/>
          <p:cNvSpPr/>
          <p:nvPr/>
        </p:nvSpPr>
        <p:spPr>
          <a:xfrm>
            <a:off x="457200" y="1243584"/>
            <a:ext cx="1097280" cy="54864"/>
          </a:xfrm>
          <a:prstGeom prst="rect">
            <a:avLst/>
          </a:prstGeom>
          <a:solidFill>
            <a:srgbClr val="EB1000"/>
          </a:solidFill>
          <a:ln w="12700">
            <a:solidFill>
              <a:srgbClr val="EB1000"/>
            </a:solidFill>
            <a:prstDash val="solid"/>
          </a:ln>
        </p:spPr>
      </p:sp>
      <p:sp>
        <p:nvSpPr>
          <p:cNvPr id="6" name="Text 3"/>
          <p:cNvSpPr/>
          <p:nvPr/>
        </p:nvSpPr>
        <p:spPr>
          <a:xfrm>
            <a:off x="457200" y="6446520"/>
            <a:ext cx="7315200" cy="274320"/>
          </a:xfrm>
          <a:prstGeom prst="rect">
            <a:avLst/>
          </a:prstGeom>
          <a:noFill/>
          <a:ln/>
        </p:spPr>
        <p:txBody>
          <a:bodyPr wrap="square" rtlCol="0" anchor="ctr"/>
          <a:lstStyle/>
          <a:p>
            <a:pPr indent="0" marL="0">
              <a:buNone/>
            </a:pPr>
            <a:r>
              <a:rPr lang="en-US" sz="900" dirty="0">
                <a:solidFill>
                  <a:srgbClr val="6E6E6E"/>
                </a:solidFill>
                <a:latin typeface="Arial" pitchFamily="34" charset="0"/>
                <a:ea typeface="Arial" pitchFamily="34" charset="-122"/>
                <a:cs typeface="Arial" pitchFamily="34" charset="-120"/>
              </a:rPr>
              <a:t>© 2026 Adobe. All Rights Reserved. Adobe Confidential.</a:t>
            </a:r>
            <a:endParaRPr lang="en-US" sz="900" dirty="0"/>
          </a:p>
        </p:txBody>
      </p:sp>
      <p:sp>
        <p:nvSpPr>
          <p:cNvPr id="7" name="Text 4"/>
          <p:cNvSpPr/>
          <p:nvPr/>
        </p:nvSpPr>
        <p:spPr>
          <a:xfrm>
            <a:off x="11274552" y="6446520"/>
            <a:ext cx="457200" cy="274320"/>
          </a:xfrm>
          <a:prstGeom prst="rect">
            <a:avLst/>
          </a:prstGeom>
          <a:noFill/>
          <a:ln/>
        </p:spPr>
        <p:txBody>
          <a:bodyPr wrap="square" rtlCol="0" anchor="ctr"/>
          <a:lstStyle/>
          <a:p>
            <a:pPr algn="r" indent="0" marL="0">
              <a:buNone/>
            </a:pPr>
            <a:r>
              <a:rPr lang="en-US" sz="900" dirty="0">
                <a:solidFill>
                  <a:srgbClr val="6E6E6E"/>
                </a:solidFill>
                <a:latin typeface="Arial" pitchFamily="34" charset="0"/>
                <a:ea typeface="Arial" pitchFamily="34" charset="-122"/>
                <a:cs typeface="Arial" pitchFamily="34" charset="-120"/>
              </a:rPr>
              <a:t>21</a:t>
            </a:r>
            <a:endParaRPr lang="en-US" sz="9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11247120" cy="914400"/>
        </p:xfrm>
        <a:graphic>
          <a:graphicData uri="http://schemas.openxmlformats.org/drawingml/2006/table">
            <a:tbl>
              <a:tblPr/>
              <a:tblGrid>
                <a:gridCol w="1280160"/>
                <a:gridCol w="9966960"/>
              </a:tblGrid>
              <a:tr h="0">
                <a:tc>
                  <a:txBody>
                    <a:bodyPr/>
                    <a:lstStyle/>
                    <a:p>
                      <a:pPr indent="0" marL="0">
                        <a:buNone/>
                      </a:pPr>
                      <a:r>
                        <a:rPr lang="en-US" sz="1100" b="1" dirty="0">
                          <a:solidFill>
                            <a:srgbClr val="FFFFFF"/>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Observation</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W1</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content_preview ×8 in the "no changes" pre-check re-previewed all 8 pages twice (12:33 and 12:37 UTC)</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W2</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content_read Bad Request ×3, then read the 5 crontab rows correctly; promised append-only</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W3–W4</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"No real-time clock"; "I cannot schedule a publish action"; scheduler-app option contradicts the docs</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W5</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Exact time 6:45 PM IST: Bad Request ×3; "cannot read or write" the sheet (contradicts W2)</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W6</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Fallback row dated 14 Jul 2025 (past); "open the .aem.page URL to activate" (activation requires Preview)</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W7</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No schedule created, no page published; crontab preview unchanged since 19 Oct</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W8</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Row 6 (6:47 PM, empty command) added manually by the user while trying the fallback; never activated; since removed</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Prompt</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5-task superprompt (W1–W5 = T1–T5 on 8 adventure pages), REFERENCE hints kept; 4 user messages</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Adobe">    </p:cNvPr>
          <p:cNvPicPr>
            <a:picLocks noChangeAspect="1"/>
          </p:cNvPicPr>
          <p:nvPr/>
        </p:nvPicPr>
        <p:blipFill>
          <a:blip r:embed="rId1"/>
          <a:stretch>
            <a:fillRect/>
          </a:stretch>
        </p:blipFill>
        <p:spPr>
          <a:xfrm>
            <a:off x="10588752" y="292608"/>
            <a:ext cx="1133856" cy="274320"/>
          </a:xfrm>
          <a:prstGeom prst="rect">
            <a:avLst/>
          </a:prstGeom>
        </p:spPr>
      </p:pic>
      <p:sp>
        <p:nvSpPr>
          <p:cNvPr id="3" name="Text 0"/>
          <p:cNvSpPr/>
          <p:nvPr/>
        </p:nvSpPr>
        <p:spPr>
          <a:xfrm>
            <a:off x="457200" y="274320"/>
            <a:ext cx="9144000" cy="274320"/>
          </a:xfrm>
          <a:prstGeom prst="rect">
            <a:avLst/>
          </a:prstGeom>
          <a:noFill/>
          <a:ln/>
        </p:spPr>
        <p:txBody>
          <a:bodyPr wrap="square" rtlCol="0" anchor="ctr"/>
          <a:lstStyle/>
          <a:p>
            <a:pPr indent="0" marL="0">
              <a:buNone/>
            </a:pPr>
            <a:r>
              <a:rPr lang="en-US" sz="1100" b="1" spc="100" kern="0" dirty="0">
                <a:solidFill>
                  <a:srgbClr val="EB1000"/>
                </a:solidFill>
                <a:latin typeface="Arial" pitchFamily="34" charset="0"/>
                <a:ea typeface="Arial" pitchFamily="34" charset="-122"/>
                <a:cs typeface="Arial" pitchFamily="34" charset="-120"/>
              </a:rPr>
              <a:t>APPENDIX A5</a:t>
            </a:r>
            <a:endParaRPr lang="en-US" sz="1100" dirty="0"/>
          </a:p>
        </p:txBody>
      </p:sp>
      <p:sp>
        <p:nvSpPr>
          <p:cNvPr id="4" name="Text 1"/>
          <p:cNvSpPr/>
          <p:nvPr/>
        </p:nvSpPr>
        <p:spPr>
          <a:xfrm>
            <a:off x="457200" y="566928"/>
            <a:ext cx="10241280" cy="640080"/>
          </a:xfrm>
          <a:prstGeom prst="rect">
            <a:avLst/>
          </a:prstGeom>
          <a:noFill/>
          <a:ln/>
        </p:spPr>
        <p:txBody>
          <a:bodyPr wrap="square" rtlCol="0" anchor="ctr"/>
          <a:lstStyle/>
          <a:p>
            <a:pPr indent="0" marL="0">
              <a:buNone/>
            </a:pPr>
            <a:r>
              <a:rPr lang="en-US" sz="2600" b="1" dirty="0">
                <a:solidFill>
                  <a:srgbClr val="2C2C2C"/>
                </a:solidFill>
                <a:latin typeface="Arial" pitchFamily="34" charset="0"/>
                <a:ea typeface="Arial" pitchFamily="34" charset="-122"/>
                <a:cs typeface="Arial" pitchFamily="34" charset="-120"/>
              </a:rPr>
              <a:t>7B: fragment test log (22 Oct, IST)</a:t>
            </a:r>
            <a:endParaRPr lang="en-US" sz="2600" dirty="0"/>
          </a:p>
        </p:txBody>
      </p:sp>
      <p:sp>
        <p:nvSpPr>
          <p:cNvPr id="5" name="Shape 2"/>
          <p:cNvSpPr/>
          <p:nvPr/>
        </p:nvSpPr>
        <p:spPr>
          <a:xfrm>
            <a:off x="457200" y="1243584"/>
            <a:ext cx="1097280" cy="54864"/>
          </a:xfrm>
          <a:prstGeom prst="rect">
            <a:avLst/>
          </a:prstGeom>
          <a:solidFill>
            <a:srgbClr val="EB1000"/>
          </a:solidFill>
          <a:ln w="12700">
            <a:solidFill>
              <a:srgbClr val="EB1000"/>
            </a:solidFill>
            <a:prstDash val="solid"/>
          </a:ln>
        </p:spPr>
      </p:sp>
      <p:sp>
        <p:nvSpPr>
          <p:cNvPr id="6" name="Text 3"/>
          <p:cNvSpPr/>
          <p:nvPr/>
        </p:nvSpPr>
        <p:spPr>
          <a:xfrm>
            <a:off x="457200" y="6446520"/>
            <a:ext cx="7315200" cy="274320"/>
          </a:xfrm>
          <a:prstGeom prst="rect">
            <a:avLst/>
          </a:prstGeom>
          <a:noFill/>
          <a:ln/>
        </p:spPr>
        <p:txBody>
          <a:bodyPr wrap="square" rtlCol="0" anchor="ctr"/>
          <a:lstStyle/>
          <a:p>
            <a:pPr indent="0" marL="0">
              <a:buNone/>
            </a:pPr>
            <a:r>
              <a:rPr lang="en-US" sz="900" dirty="0">
                <a:solidFill>
                  <a:srgbClr val="6E6E6E"/>
                </a:solidFill>
                <a:latin typeface="Arial" pitchFamily="34" charset="0"/>
                <a:ea typeface="Arial" pitchFamily="34" charset="-122"/>
                <a:cs typeface="Arial" pitchFamily="34" charset="-120"/>
              </a:rPr>
              <a:t>© 2026 Adobe. All Rights Reserved. Adobe Confidential.</a:t>
            </a:r>
            <a:endParaRPr lang="en-US" sz="900" dirty="0"/>
          </a:p>
        </p:txBody>
      </p:sp>
      <p:sp>
        <p:nvSpPr>
          <p:cNvPr id="7" name="Text 4"/>
          <p:cNvSpPr/>
          <p:nvPr/>
        </p:nvSpPr>
        <p:spPr>
          <a:xfrm>
            <a:off x="11274552" y="6446520"/>
            <a:ext cx="457200" cy="274320"/>
          </a:xfrm>
          <a:prstGeom prst="rect">
            <a:avLst/>
          </a:prstGeom>
          <a:noFill/>
          <a:ln/>
        </p:spPr>
        <p:txBody>
          <a:bodyPr wrap="square" rtlCol="0" anchor="ctr"/>
          <a:lstStyle/>
          <a:p>
            <a:pPr algn="r" indent="0" marL="0">
              <a:buNone/>
            </a:pPr>
            <a:r>
              <a:rPr lang="en-US" sz="900" dirty="0">
                <a:solidFill>
                  <a:srgbClr val="6E6E6E"/>
                </a:solidFill>
                <a:latin typeface="Arial" pitchFamily="34" charset="0"/>
                <a:ea typeface="Arial" pitchFamily="34" charset="-122"/>
                <a:cs typeface="Arial" pitchFamily="34" charset="-120"/>
              </a:rPr>
              <a:t>22</a:t>
            </a:r>
            <a:endParaRPr lang="en-US" sz="9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11247120" cy="914400"/>
        </p:xfrm>
        <a:graphic>
          <a:graphicData uri="http://schemas.openxmlformats.org/drawingml/2006/table">
            <a:tbl>
              <a:tblPr/>
              <a:tblGrid>
                <a:gridCol w="1280160"/>
                <a:gridCol w="4480560"/>
                <a:gridCol w="5486400"/>
              </a:tblGrid>
              <a:tr h="0">
                <a:tc>
                  <a:txBody>
                    <a:bodyPr/>
                    <a:lstStyle/>
                    <a:p>
                      <a:pPr indent="0" marL="0">
                        <a:buNone/>
                      </a:pPr>
                      <a:r>
                        <a:rPr lang="en-US" sz="1100" b="1" dirty="0">
                          <a:solidFill>
                            <a:srgbClr val="FFFFFF"/>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Step</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Result</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A1–A2</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Fragment "FRAG-V1" + page "PAGE-A1" linking to it</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Both unpreviewed, not live</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A3</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Preview the page only</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Fragment not previewed; raw link shown</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A4–A5</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Schedule the page (7:36 PM)</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Page live 7:36:04; fragment 404; yellow CTA to a 404; console 404</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A7</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Schedule the fragment alone (8:16 PM)</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Auto-preview: preview fixed, live still broken</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A8</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Fragment live 8:16:12</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Page fixed without republish</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A9</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Browser cache</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404 cached (max-age 7200); forced refresh fixed it</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A10</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Normal + incognito windows</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Both showed the fragment</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Adobe">    </p:cNvPr>
          <p:cNvPicPr>
            <a:picLocks noChangeAspect="1"/>
          </p:cNvPicPr>
          <p:nvPr/>
        </p:nvPicPr>
        <p:blipFill>
          <a:blip r:embed="rId1"/>
          <a:stretch>
            <a:fillRect/>
          </a:stretch>
        </p:blipFill>
        <p:spPr>
          <a:xfrm>
            <a:off x="10588752" y="292608"/>
            <a:ext cx="1133856" cy="274320"/>
          </a:xfrm>
          <a:prstGeom prst="rect">
            <a:avLst/>
          </a:prstGeom>
        </p:spPr>
      </p:pic>
      <p:sp>
        <p:nvSpPr>
          <p:cNvPr id="3" name="Text 0"/>
          <p:cNvSpPr/>
          <p:nvPr/>
        </p:nvSpPr>
        <p:spPr>
          <a:xfrm>
            <a:off x="457200" y="274320"/>
            <a:ext cx="9144000" cy="274320"/>
          </a:xfrm>
          <a:prstGeom prst="rect">
            <a:avLst/>
          </a:prstGeom>
          <a:noFill/>
          <a:ln/>
        </p:spPr>
        <p:txBody>
          <a:bodyPr wrap="square" rtlCol="0" anchor="ctr"/>
          <a:lstStyle/>
          <a:p>
            <a:pPr indent="0" marL="0">
              <a:buNone/>
            </a:pPr>
            <a:r>
              <a:rPr lang="en-US" sz="1100" b="1" spc="100" kern="0" dirty="0">
                <a:solidFill>
                  <a:srgbClr val="EB1000"/>
                </a:solidFill>
                <a:latin typeface="Arial" pitchFamily="34" charset="0"/>
                <a:ea typeface="Arial" pitchFamily="34" charset="-122"/>
                <a:cs typeface="Arial" pitchFamily="34" charset="-120"/>
              </a:rPr>
              <a:t>APPENDIX A6</a:t>
            </a:r>
            <a:endParaRPr lang="en-US" sz="1100" dirty="0"/>
          </a:p>
        </p:txBody>
      </p:sp>
      <p:sp>
        <p:nvSpPr>
          <p:cNvPr id="4" name="Text 1"/>
          <p:cNvSpPr/>
          <p:nvPr/>
        </p:nvSpPr>
        <p:spPr>
          <a:xfrm>
            <a:off x="457200" y="566928"/>
            <a:ext cx="10241280" cy="640080"/>
          </a:xfrm>
          <a:prstGeom prst="rect">
            <a:avLst/>
          </a:prstGeom>
          <a:noFill/>
          <a:ln/>
        </p:spPr>
        <p:txBody>
          <a:bodyPr wrap="square" rtlCol="0" anchor="ctr"/>
          <a:lstStyle/>
          <a:p>
            <a:pPr indent="0" marL="0">
              <a:buNone/>
            </a:pPr>
            <a:r>
              <a:rPr lang="en-US" sz="2600" b="1" dirty="0">
                <a:solidFill>
                  <a:srgbClr val="2C2C2C"/>
                </a:solidFill>
                <a:latin typeface="Arial" pitchFamily="34" charset="0"/>
                <a:ea typeface="Arial" pitchFamily="34" charset="-122"/>
                <a:cs typeface="Arial" pitchFamily="34" charset="-120"/>
              </a:rPr>
              <a:t>7A / 7B: image test log and sitemap evidence</a:t>
            </a:r>
            <a:endParaRPr lang="en-US" sz="2600" dirty="0"/>
          </a:p>
        </p:txBody>
      </p:sp>
      <p:sp>
        <p:nvSpPr>
          <p:cNvPr id="5" name="Shape 2"/>
          <p:cNvSpPr/>
          <p:nvPr/>
        </p:nvSpPr>
        <p:spPr>
          <a:xfrm>
            <a:off x="457200" y="1243584"/>
            <a:ext cx="1097280" cy="54864"/>
          </a:xfrm>
          <a:prstGeom prst="rect">
            <a:avLst/>
          </a:prstGeom>
          <a:solidFill>
            <a:srgbClr val="EB1000"/>
          </a:solidFill>
          <a:ln w="12700">
            <a:solidFill>
              <a:srgbClr val="EB1000"/>
            </a:solidFill>
            <a:prstDash val="solid"/>
          </a:ln>
        </p:spPr>
      </p:sp>
      <p:sp>
        <p:nvSpPr>
          <p:cNvPr id="6" name="Text 3"/>
          <p:cNvSpPr/>
          <p:nvPr/>
        </p:nvSpPr>
        <p:spPr>
          <a:xfrm>
            <a:off x="457200" y="6446520"/>
            <a:ext cx="7315200" cy="274320"/>
          </a:xfrm>
          <a:prstGeom prst="rect">
            <a:avLst/>
          </a:prstGeom>
          <a:noFill/>
          <a:ln/>
        </p:spPr>
        <p:txBody>
          <a:bodyPr wrap="square" rtlCol="0" anchor="ctr"/>
          <a:lstStyle/>
          <a:p>
            <a:pPr indent="0" marL="0">
              <a:buNone/>
            </a:pPr>
            <a:r>
              <a:rPr lang="en-US" sz="900" dirty="0">
                <a:solidFill>
                  <a:srgbClr val="6E6E6E"/>
                </a:solidFill>
                <a:latin typeface="Arial" pitchFamily="34" charset="0"/>
                <a:ea typeface="Arial" pitchFamily="34" charset="-122"/>
                <a:cs typeface="Arial" pitchFamily="34" charset="-120"/>
              </a:rPr>
              <a:t>© 2026 Adobe. All Rights Reserved. Adobe Confidential.</a:t>
            </a:r>
            <a:endParaRPr lang="en-US" sz="900" dirty="0"/>
          </a:p>
        </p:txBody>
      </p:sp>
      <p:sp>
        <p:nvSpPr>
          <p:cNvPr id="7" name="Text 4"/>
          <p:cNvSpPr/>
          <p:nvPr/>
        </p:nvSpPr>
        <p:spPr>
          <a:xfrm>
            <a:off x="11274552" y="6446520"/>
            <a:ext cx="457200" cy="274320"/>
          </a:xfrm>
          <a:prstGeom prst="rect">
            <a:avLst/>
          </a:prstGeom>
          <a:noFill/>
          <a:ln/>
        </p:spPr>
        <p:txBody>
          <a:bodyPr wrap="square" rtlCol="0" anchor="ctr"/>
          <a:lstStyle/>
          <a:p>
            <a:pPr algn="r" indent="0" marL="0">
              <a:buNone/>
            </a:pPr>
            <a:r>
              <a:rPr lang="en-US" sz="900" dirty="0">
                <a:solidFill>
                  <a:srgbClr val="6E6E6E"/>
                </a:solidFill>
                <a:latin typeface="Arial" pitchFamily="34" charset="0"/>
                <a:ea typeface="Arial" pitchFamily="34" charset="-122"/>
                <a:cs typeface="Arial" pitchFamily="34" charset="-120"/>
              </a:rPr>
              <a:t>23</a:t>
            </a:r>
            <a:endParaRPr lang="en-US" sz="9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11247120" cy="914400"/>
        </p:xfrm>
        <a:graphic>
          <a:graphicData uri="http://schemas.openxmlformats.org/drawingml/2006/table">
            <a:tbl>
              <a:tblPr/>
              <a:tblGrid>
                <a:gridCol w="1280160"/>
                <a:gridCol w="4480560"/>
                <a:gridCol w="5486400"/>
              </a:tblGrid>
              <a:tr h="0">
                <a:tc>
                  <a:txBody>
                    <a:bodyPr/>
                    <a:lstStyle/>
                    <a:p>
                      <a:pPr indent="0" marL="0">
                        <a:buNone/>
                      </a:pPr>
                      <a:r>
                        <a:rPr lang="en-US" sz="1100" b="1" dirty="0">
                          <a:solidFill>
                            <a:srgbClr val="FFFFFF"/>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Step</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Result</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B1</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New image in a new page (rick copy.png)</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Stored beside the doc in a hidden folder; private (401)</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B2</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Schedule without manual preview</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Auto-preview copied it to the media bus (media_1717…png)</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B3</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Image on live before the page publishes</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Reachable: 200 on aem.live while the page is 404</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B4</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Scheduled run 8:56 PM</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Page live with the image loaded</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B5</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Unpublish from the editor</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Preview + live deleted; image still 200 (5.2 MB), any path</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Sitemap</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19 Oct scheduled pages</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Added; arctic-surfing removed after its scheduled unpublish</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Sitemap</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Config</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Origin still the old host (edscapstoneajay); index covers adventures/magazine only</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Adobe">    </p:cNvPr>
          <p:cNvPicPr>
            <a:picLocks noChangeAspect="1"/>
          </p:cNvPicPr>
          <p:nvPr/>
        </p:nvPicPr>
        <p:blipFill>
          <a:blip r:embed="rId1"/>
          <a:stretch>
            <a:fillRect/>
          </a:stretch>
        </p:blipFill>
        <p:spPr>
          <a:xfrm>
            <a:off x="10588752" y="292608"/>
            <a:ext cx="1133856" cy="274320"/>
          </a:xfrm>
          <a:prstGeom prst="rect">
            <a:avLst/>
          </a:prstGeom>
        </p:spPr>
      </p:pic>
      <p:sp>
        <p:nvSpPr>
          <p:cNvPr id="3" name="Text 0"/>
          <p:cNvSpPr/>
          <p:nvPr/>
        </p:nvSpPr>
        <p:spPr>
          <a:xfrm>
            <a:off x="457200" y="274320"/>
            <a:ext cx="9144000" cy="274320"/>
          </a:xfrm>
          <a:prstGeom prst="rect">
            <a:avLst/>
          </a:prstGeom>
          <a:noFill/>
          <a:ln/>
        </p:spPr>
        <p:txBody>
          <a:bodyPr wrap="square" rtlCol="0" anchor="ctr"/>
          <a:lstStyle/>
          <a:p>
            <a:pPr indent="0" marL="0">
              <a:buNone/>
            </a:pPr>
            <a:r>
              <a:rPr lang="en-US" sz="1100" b="1" spc="100" kern="0" dirty="0">
                <a:solidFill>
                  <a:srgbClr val="EB1000"/>
                </a:solidFill>
                <a:latin typeface="Arial" pitchFamily="34" charset="0"/>
                <a:ea typeface="Arial" pitchFamily="34" charset="-122"/>
                <a:cs typeface="Arial" pitchFamily="34" charset="-120"/>
              </a:rPr>
              <a:t>APPENDIX A7</a:t>
            </a:r>
            <a:endParaRPr lang="en-US" sz="1100" dirty="0"/>
          </a:p>
        </p:txBody>
      </p:sp>
      <p:sp>
        <p:nvSpPr>
          <p:cNvPr id="4" name="Text 1"/>
          <p:cNvSpPr/>
          <p:nvPr/>
        </p:nvSpPr>
        <p:spPr>
          <a:xfrm>
            <a:off x="457200" y="566928"/>
            <a:ext cx="10241280" cy="640080"/>
          </a:xfrm>
          <a:prstGeom prst="rect">
            <a:avLst/>
          </a:prstGeom>
          <a:noFill/>
          <a:ln/>
        </p:spPr>
        <p:txBody>
          <a:bodyPr wrap="square" rtlCol="0" anchor="ctr"/>
          <a:lstStyle/>
          <a:p>
            <a:pPr indent="0" marL="0">
              <a:buNone/>
            </a:pPr>
            <a:r>
              <a:rPr lang="en-US" sz="2600" b="1" dirty="0">
                <a:solidFill>
                  <a:srgbClr val="2C2C2C"/>
                </a:solidFill>
                <a:latin typeface="Arial" pitchFamily="34" charset="0"/>
                <a:ea typeface="Arial" pitchFamily="34" charset="-122"/>
                <a:cs typeface="Arial" pitchFamily="34" charset="-120"/>
              </a:rPr>
              <a:t>7C: expiry tests and mechanisms</a:t>
            </a:r>
            <a:endParaRPr lang="en-US" sz="2600" dirty="0"/>
          </a:p>
        </p:txBody>
      </p:sp>
      <p:sp>
        <p:nvSpPr>
          <p:cNvPr id="5" name="Shape 2"/>
          <p:cNvSpPr/>
          <p:nvPr/>
        </p:nvSpPr>
        <p:spPr>
          <a:xfrm>
            <a:off x="457200" y="1243584"/>
            <a:ext cx="1097280" cy="54864"/>
          </a:xfrm>
          <a:prstGeom prst="rect">
            <a:avLst/>
          </a:prstGeom>
          <a:solidFill>
            <a:srgbClr val="EB1000"/>
          </a:solidFill>
          <a:ln w="12700">
            <a:solidFill>
              <a:srgbClr val="EB1000"/>
            </a:solidFill>
            <a:prstDash val="solid"/>
          </a:ln>
        </p:spPr>
      </p:sp>
      <p:sp>
        <p:nvSpPr>
          <p:cNvPr id="6" name="Text 3"/>
          <p:cNvSpPr/>
          <p:nvPr/>
        </p:nvSpPr>
        <p:spPr>
          <a:xfrm>
            <a:off x="457200" y="6446520"/>
            <a:ext cx="7315200" cy="274320"/>
          </a:xfrm>
          <a:prstGeom prst="rect">
            <a:avLst/>
          </a:prstGeom>
          <a:noFill/>
          <a:ln/>
        </p:spPr>
        <p:txBody>
          <a:bodyPr wrap="square" rtlCol="0" anchor="ctr"/>
          <a:lstStyle/>
          <a:p>
            <a:pPr indent="0" marL="0">
              <a:buNone/>
            </a:pPr>
            <a:r>
              <a:rPr lang="en-US" sz="900" dirty="0">
                <a:solidFill>
                  <a:srgbClr val="6E6E6E"/>
                </a:solidFill>
                <a:latin typeface="Arial" pitchFamily="34" charset="0"/>
                <a:ea typeface="Arial" pitchFamily="34" charset="-122"/>
                <a:cs typeface="Arial" pitchFamily="34" charset="-120"/>
              </a:rPr>
              <a:t>© 2026 Adobe. All Rights Reserved. Adobe Confidential.</a:t>
            </a:r>
            <a:endParaRPr lang="en-US" sz="900" dirty="0"/>
          </a:p>
        </p:txBody>
      </p:sp>
      <p:sp>
        <p:nvSpPr>
          <p:cNvPr id="7" name="Text 4"/>
          <p:cNvSpPr/>
          <p:nvPr/>
        </p:nvSpPr>
        <p:spPr>
          <a:xfrm>
            <a:off x="11274552" y="6446520"/>
            <a:ext cx="457200" cy="274320"/>
          </a:xfrm>
          <a:prstGeom prst="rect">
            <a:avLst/>
          </a:prstGeom>
          <a:noFill/>
          <a:ln/>
        </p:spPr>
        <p:txBody>
          <a:bodyPr wrap="square" rtlCol="0" anchor="ctr"/>
          <a:lstStyle/>
          <a:p>
            <a:pPr algn="r" indent="0" marL="0">
              <a:buNone/>
            </a:pPr>
            <a:r>
              <a:rPr lang="en-US" sz="900" dirty="0">
                <a:solidFill>
                  <a:srgbClr val="6E6E6E"/>
                </a:solidFill>
                <a:latin typeface="Arial" pitchFamily="34" charset="0"/>
                <a:ea typeface="Arial" pitchFamily="34" charset="-122"/>
                <a:cs typeface="Arial" pitchFamily="34" charset="-120"/>
              </a:rPr>
              <a:t>24</a:t>
            </a:r>
            <a:endParaRPr lang="en-US" sz="9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11247120" cy="914400"/>
        </p:xfrm>
        <a:graphic>
          <a:graphicData uri="http://schemas.openxmlformats.org/drawingml/2006/table">
            <a:tbl>
              <a:tblPr/>
              <a:tblGrid>
                <a:gridCol w="1463040"/>
                <a:gridCol w="7863840"/>
                <a:gridCol w="1920240"/>
              </a:tblGrid>
              <a:tr h="0">
                <a:tc>
                  <a:txBody>
                    <a:bodyPr/>
                    <a:lstStyle/>
                    <a:p>
                      <a:pPr indent="0" marL="0">
                        <a:buNone/>
                      </a:pPr>
                      <a:r>
                        <a:rPr lang="en-US" sz="1100" b="1" dirty="0">
                          <a:solidFill>
                            <a:srgbClr val="FFFFFF"/>
                          </a:solidFill>
                          <a:latin typeface="Arial" pitchFamily="34" charset="0"/>
                          <a:ea typeface="Arial" pitchFamily="34" charset="-122"/>
                          <a:cs typeface="Arial" pitchFamily="34" charset="-120"/>
                        </a:rPr>
                        <a:t>Item</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Detail</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Status</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X1</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Test PDF (EXPIRY-PDF-V1, "Created by ALAN RAJI MANI") uploaded to /us/en/expiry-test.pdf</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Tested</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X1b</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Opens in the DA media viewer with Prepare / Preview / Publish</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Tested</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X1c</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Preview works (byte-identical); Prepare menu: Preflight, Unpublish (immediate), Schedule Publish; no scheduled unpublish</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Tested</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Not run</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Scheduled unpublish of the PDF via the sheet; page link after unpublish</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To validate</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EDS docs</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Media bus immutable; PDF/SVG follow the preview/publish lifecycle; crontab is time-based only</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Documented</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AEM Assets</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"Off Time" withdraws assets from delivery; Unpublish Later</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Documented</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Governance</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Ema DA/admin writes required a typed user request; preview calls stayed blocked</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Tested</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Adobe">    </p:cNvPr>
          <p:cNvPicPr>
            <a:picLocks noChangeAspect="1"/>
          </p:cNvPicPr>
          <p:nvPr/>
        </p:nvPicPr>
        <p:blipFill>
          <a:blip r:embed="rId1"/>
          <a:stretch>
            <a:fillRect/>
          </a:stretch>
        </p:blipFill>
        <p:spPr>
          <a:xfrm>
            <a:off x="10588752" y="292608"/>
            <a:ext cx="1133856" cy="274320"/>
          </a:xfrm>
          <a:prstGeom prst="rect">
            <a:avLst/>
          </a:prstGeom>
        </p:spPr>
      </p:pic>
      <p:sp>
        <p:nvSpPr>
          <p:cNvPr id="3" name="Text 0"/>
          <p:cNvSpPr/>
          <p:nvPr/>
        </p:nvSpPr>
        <p:spPr>
          <a:xfrm>
            <a:off x="457200" y="274320"/>
            <a:ext cx="9144000" cy="274320"/>
          </a:xfrm>
          <a:prstGeom prst="rect">
            <a:avLst/>
          </a:prstGeom>
          <a:noFill/>
          <a:ln/>
        </p:spPr>
        <p:txBody>
          <a:bodyPr wrap="square" rtlCol="0" anchor="ctr"/>
          <a:lstStyle/>
          <a:p>
            <a:pPr indent="0" marL="0">
              <a:buNone/>
            </a:pPr>
            <a:r>
              <a:rPr lang="en-US" sz="1100" b="1" spc="100" kern="0" dirty="0">
                <a:solidFill>
                  <a:srgbClr val="EB1000"/>
                </a:solidFill>
                <a:latin typeface="Arial" pitchFamily="34" charset="0"/>
                <a:ea typeface="Arial" pitchFamily="34" charset="-122"/>
                <a:cs typeface="Arial" pitchFamily="34" charset="-120"/>
              </a:rPr>
              <a:t>APPENDIX A8</a:t>
            </a:r>
            <a:endParaRPr lang="en-US" sz="1100" dirty="0"/>
          </a:p>
        </p:txBody>
      </p:sp>
      <p:sp>
        <p:nvSpPr>
          <p:cNvPr id="4" name="Text 1"/>
          <p:cNvSpPr/>
          <p:nvPr/>
        </p:nvSpPr>
        <p:spPr>
          <a:xfrm>
            <a:off x="457200" y="566928"/>
            <a:ext cx="10241280" cy="640080"/>
          </a:xfrm>
          <a:prstGeom prst="rect">
            <a:avLst/>
          </a:prstGeom>
          <a:noFill/>
          <a:ln/>
        </p:spPr>
        <p:txBody>
          <a:bodyPr wrap="square" rtlCol="0" anchor="ctr"/>
          <a:lstStyle/>
          <a:p>
            <a:pPr indent="0" marL="0">
              <a:buNone/>
            </a:pPr>
            <a:r>
              <a:rPr lang="en-US" sz="2600" b="1" dirty="0">
                <a:solidFill>
                  <a:srgbClr val="2C2C2C"/>
                </a:solidFill>
                <a:latin typeface="Arial" pitchFamily="34" charset="0"/>
                <a:ea typeface="Arial" pitchFamily="34" charset="-122"/>
                <a:cs typeface="Arial" pitchFamily="34" charset="-120"/>
              </a:rPr>
              <a:t>Capability register</a:t>
            </a:r>
            <a:endParaRPr lang="en-US" sz="2600" dirty="0"/>
          </a:p>
        </p:txBody>
      </p:sp>
      <p:sp>
        <p:nvSpPr>
          <p:cNvPr id="5" name="Shape 2"/>
          <p:cNvSpPr/>
          <p:nvPr/>
        </p:nvSpPr>
        <p:spPr>
          <a:xfrm>
            <a:off x="457200" y="1243584"/>
            <a:ext cx="1097280" cy="54864"/>
          </a:xfrm>
          <a:prstGeom prst="rect">
            <a:avLst/>
          </a:prstGeom>
          <a:solidFill>
            <a:srgbClr val="EB1000"/>
          </a:solidFill>
          <a:ln w="12700">
            <a:solidFill>
              <a:srgbClr val="EB1000"/>
            </a:solidFill>
            <a:prstDash val="solid"/>
          </a:ln>
        </p:spPr>
      </p:sp>
      <p:sp>
        <p:nvSpPr>
          <p:cNvPr id="6" name="Text 3"/>
          <p:cNvSpPr/>
          <p:nvPr/>
        </p:nvSpPr>
        <p:spPr>
          <a:xfrm>
            <a:off x="457200" y="6446520"/>
            <a:ext cx="7315200" cy="274320"/>
          </a:xfrm>
          <a:prstGeom prst="rect">
            <a:avLst/>
          </a:prstGeom>
          <a:noFill/>
          <a:ln/>
        </p:spPr>
        <p:txBody>
          <a:bodyPr wrap="square" rtlCol="0" anchor="ctr"/>
          <a:lstStyle/>
          <a:p>
            <a:pPr indent="0" marL="0">
              <a:buNone/>
            </a:pPr>
            <a:r>
              <a:rPr lang="en-US" sz="900" dirty="0">
                <a:solidFill>
                  <a:srgbClr val="6E6E6E"/>
                </a:solidFill>
                <a:latin typeface="Arial" pitchFamily="34" charset="0"/>
                <a:ea typeface="Arial" pitchFamily="34" charset="-122"/>
                <a:cs typeface="Arial" pitchFamily="34" charset="-120"/>
              </a:rPr>
              <a:t>© 2026 Adobe. All Rights Reserved. Adobe Confidential.</a:t>
            </a:r>
            <a:endParaRPr lang="en-US" sz="900" dirty="0"/>
          </a:p>
        </p:txBody>
      </p:sp>
      <p:sp>
        <p:nvSpPr>
          <p:cNvPr id="7" name="Text 4"/>
          <p:cNvSpPr/>
          <p:nvPr/>
        </p:nvSpPr>
        <p:spPr>
          <a:xfrm>
            <a:off x="11274552" y="6446520"/>
            <a:ext cx="457200" cy="274320"/>
          </a:xfrm>
          <a:prstGeom prst="rect">
            <a:avLst/>
          </a:prstGeom>
          <a:noFill/>
          <a:ln/>
        </p:spPr>
        <p:txBody>
          <a:bodyPr wrap="square" rtlCol="0" anchor="ctr"/>
          <a:lstStyle/>
          <a:p>
            <a:pPr algn="r" indent="0" marL="0">
              <a:buNone/>
            </a:pPr>
            <a:r>
              <a:rPr lang="en-US" sz="900" dirty="0">
                <a:solidFill>
                  <a:srgbClr val="6E6E6E"/>
                </a:solidFill>
                <a:latin typeface="Arial" pitchFamily="34" charset="0"/>
                <a:ea typeface="Arial" pitchFamily="34" charset="-122"/>
                <a:cs typeface="Arial" pitchFamily="34" charset="-120"/>
              </a:rPr>
              <a:t>25</a:t>
            </a:r>
            <a:endParaRPr lang="en-US" sz="9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11247120" cy="914400"/>
        </p:xfrm>
        <a:graphic>
          <a:graphicData uri="http://schemas.openxmlformats.org/drawingml/2006/table">
            <a:tbl>
              <a:tblPr/>
              <a:tblGrid>
                <a:gridCol w="7589520"/>
                <a:gridCol w="3657600"/>
              </a:tblGrid>
              <a:tr h="0">
                <a:tc>
                  <a:txBody>
                    <a:bodyPr/>
                    <a:lstStyle/>
                    <a:p>
                      <a:pPr indent="0" marL="0">
                        <a:buNone/>
                      </a:pPr>
                      <a:r>
                        <a:rPr lang="en-US" sz="1100" b="1" dirty="0">
                          <a:solidFill>
                            <a:srgbClr val="FFFFFF"/>
                          </a:solidFill>
                          <a:latin typeface="Arial" pitchFamily="34" charset="0"/>
                          <a:ea typeface="Arial" pitchFamily="34" charset="-122"/>
                          <a:cs typeface="Arial" pitchFamily="34" charset="-120"/>
                        </a:rPr>
                        <a:t>Capability</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Status</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Editor Schedule Publish (enable, schedule, reschedule, delete)</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Tested</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Auto-preview on schedule / reschedule</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Tested</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Publishes preview, not later editor changes</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Tested</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Crontab publish, cancel, reschedule, bulk, unpublish</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Tested (Ema)</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Fragment carried with page / image carried with page</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Tested: No / Yes</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Image removal after unpublish</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Unknown</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Snapshot bundle publishing / scheduling a snapshot</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Documented / Unknown</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Scheduled unpublish in editor dialog / metadata-based unpublish</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Not available / Not native</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AEM Assets Off Time · Coworker scheduling</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Documented, not tested · Unsuccessful in our environment</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Adobe">    </p:cNvPr>
          <p:cNvPicPr>
            <a:picLocks noChangeAspect="1"/>
          </p:cNvPicPr>
          <p:nvPr/>
        </p:nvPicPr>
        <p:blipFill>
          <a:blip r:embed="rId1"/>
          <a:stretch>
            <a:fillRect/>
          </a:stretch>
        </p:blipFill>
        <p:spPr>
          <a:xfrm>
            <a:off x="10588752" y="292608"/>
            <a:ext cx="1133856" cy="274320"/>
          </a:xfrm>
          <a:prstGeom prst="rect">
            <a:avLst/>
          </a:prstGeom>
        </p:spPr>
      </p:pic>
      <p:sp>
        <p:nvSpPr>
          <p:cNvPr id="3" name="Text 0"/>
          <p:cNvSpPr/>
          <p:nvPr/>
        </p:nvSpPr>
        <p:spPr>
          <a:xfrm>
            <a:off x="457200" y="274320"/>
            <a:ext cx="9144000" cy="274320"/>
          </a:xfrm>
          <a:prstGeom prst="rect">
            <a:avLst/>
          </a:prstGeom>
          <a:noFill/>
          <a:ln/>
        </p:spPr>
        <p:txBody>
          <a:bodyPr wrap="square" rtlCol="0" anchor="ctr"/>
          <a:lstStyle/>
          <a:p>
            <a:pPr indent="0" marL="0">
              <a:buNone/>
            </a:pPr>
            <a:r>
              <a:rPr lang="en-US" sz="1100" b="1" spc="100" kern="0" dirty="0">
                <a:solidFill>
                  <a:srgbClr val="EB1000"/>
                </a:solidFill>
                <a:latin typeface="Arial" pitchFamily="34" charset="0"/>
                <a:ea typeface="Arial" pitchFamily="34" charset="-122"/>
                <a:cs typeface="Arial" pitchFamily="34" charset="-120"/>
              </a:rPr>
              <a:t>APPENDIX A9</a:t>
            </a:r>
            <a:endParaRPr lang="en-US" sz="1100" dirty="0"/>
          </a:p>
        </p:txBody>
      </p:sp>
      <p:sp>
        <p:nvSpPr>
          <p:cNvPr id="4" name="Text 1"/>
          <p:cNvSpPr/>
          <p:nvPr/>
        </p:nvSpPr>
        <p:spPr>
          <a:xfrm>
            <a:off x="457200" y="566928"/>
            <a:ext cx="10241280" cy="640080"/>
          </a:xfrm>
          <a:prstGeom prst="rect">
            <a:avLst/>
          </a:prstGeom>
          <a:noFill/>
          <a:ln/>
        </p:spPr>
        <p:txBody>
          <a:bodyPr wrap="square" rtlCol="0" anchor="ctr"/>
          <a:lstStyle/>
          <a:p>
            <a:pPr indent="0" marL="0">
              <a:buNone/>
            </a:pPr>
            <a:r>
              <a:rPr lang="en-US" sz="2600" b="1" dirty="0">
                <a:solidFill>
                  <a:srgbClr val="2C2C2C"/>
                </a:solidFill>
                <a:latin typeface="Arial" pitchFamily="34" charset="0"/>
                <a:ea typeface="Arial" pitchFamily="34" charset="-122"/>
                <a:cs typeface="Arial" pitchFamily="34" charset="-120"/>
              </a:rPr>
              <a:t>Open items and sandbox state</a:t>
            </a:r>
            <a:endParaRPr lang="en-US" sz="2600" dirty="0"/>
          </a:p>
        </p:txBody>
      </p:sp>
      <p:sp>
        <p:nvSpPr>
          <p:cNvPr id="5" name="Shape 2"/>
          <p:cNvSpPr/>
          <p:nvPr/>
        </p:nvSpPr>
        <p:spPr>
          <a:xfrm>
            <a:off x="457200" y="1243584"/>
            <a:ext cx="1097280" cy="54864"/>
          </a:xfrm>
          <a:prstGeom prst="rect">
            <a:avLst/>
          </a:prstGeom>
          <a:solidFill>
            <a:srgbClr val="EB1000"/>
          </a:solidFill>
          <a:ln w="12700">
            <a:solidFill>
              <a:srgbClr val="EB1000"/>
            </a:solidFill>
            <a:prstDash val="solid"/>
          </a:ln>
        </p:spPr>
      </p:sp>
      <p:sp>
        <p:nvSpPr>
          <p:cNvPr id="6" name="Text 3"/>
          <p:cNvSpPr/>
          <p:nvPr/>
        </p:nvSpPr>
        <p:spPr>
          <a:xfrm>
            <a:off x="457200" y="6446520"/>
            <a:ext cx="7315200" cy="274320"/>
          </a:xfrm>
          <a:prstGeom prst="rect">
            <a:avLst/>
          </a:prstGeom>
          <a:noFill/>
          <a:ln/>
        </p:spPr>
        <p:txBody>
          <a:bodyPr wrap="square" rtlCol="0" anchor="ctr"/>
          <a:lstStyle/>
          <a:p>
            <a:pPr indent="0" marL="0">
              <a:buNone/>
            </a:pPr>
            <a:r>
              <a:rPr lang="en-US" sz="900" dirty="0">
                <a:solidFill>
                  <a:srgbClr val="6E6E6E"/>
                </a:solidFill>
                <a:latin typeface="Arial" pitchFamily="34" charset="0"/>
                <a:ea typeface="Arial" pitchFamily="34" charset="-122"/>
                <a:cs typeface="Arial" pitchFamily="34" charset="-120"/>
              </a:rPr>
              <a:t>© 2026 Adobe. All Rights Reserved. Adobe Confidential.</a:t>
            </a:r>
            <a:endParaRPr lang="en-US" sz="900" dirty="0"/>
          </a:p>
        </p:txBody>
      </p:sp>
      <p:sp>
        <p:nvSpPr>
          <p:cNvPr id="7" name="Text 4"/>
          <p:cNvSpPr/>
          <p:nvPr/>
        </p:nvSpPr>
        <p:spPr>
          <a:xfrm>
            <a:off x="11274552" y="6446520"/>
            <a:ext cx="457200" cy="274320"/>
          </a:xfrm>
          <a:prstGeom prst="rect">
            <a:avLst/>
          </a:prstGeom>
          <a:noFill/>
          <a:ln/>
        </p:spPr>
        <p:txBody>
          <a:bodyPr wrap="square" rtlCol="0" anchor="ctr"/>
          <a:lstStyle/>
          <a:p>
            <a:pPr algn="r" indent="0" marL="0">
              <a:buNone/>
            </a:pPr>
            <a:r>
              <a:rPr lang="en-US" sz="900" dirty="0">
                <a:solidFill>
                  <a:srgbClr val="6E6E6E"/>
                </a:solidFill>
                <a:latin typeface="Arial" pitchFamily="34" charset="0"/>
                <a:ea typeface="Arial" pitchFamily="34" charset="-122"/>
                <a:cs typeface="Arial" pitchFamily="34" charset="-120"/>
              </a:rPr>
              <a:t>26</a:t>
            </a:r>
            <a:endParaRPr lang="en-US" sz="9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11247120" cy="914400"/>
        </p:xfrm>
        <a:graphic>
          <a:graphicData uri="http://schemas.openxmlformats.org/drawingml/2006/table">
            <a:tbl>
              <a:tblPr/>
              <a:tblGrid>
                <a:gridCol w="2377440"/>
                <a:gridCol w="8869680"/>
              </a:tblGrid>
              <a:tr h="0">
                <a:tc>
                  <a:txBody>
                    <a:bodyPr/>
                    <a:lstStyle/>
                    <a:p>
                      <a:pPr indent="0" marL="0">
                        <a:buNone/>
                      </a:pPr>
                      <a:r>
                        <a:rPr lang="en-US" sz="1100" b="1" dirty="0">
                          <a:solidFill>
                            <a:srgbClr val="FFFFFF"/>
                          </a:solidFill>
                          <a:latin typeface="Arial" pitchFamily="34" charset="0"/>
                          <a:ea typeface="Arial" pitchFamily="34" charset="-122"/>
                          <a:cs typeface="Arial" pitchFamily="34" charset="-120"/>
                        </a:rPr>
                        <a:t>Item</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c>
                  <a:txBody>
                    <a:bodyPr/>
                    <a:lstStyle/>
                    <a:p>
                      <a:pPr indent="0" marL="0">
                        <a:buNone/>
                      </a:pPr>
                      <a:r>
                        <a:rPr lang="en-US" sz="1100" b="1" dirty="0">
                          <a:solidFill>
                            <a:srgbClr val="FFFFFF"/>
                          </a:solidFill>
                          <a:latin typeface="Arial" pitchFamily="34" charset="0"/>
                          <a:ea typeface="Arial" pitchFamily="34" charset="-122"/>
                          <a:cs typeface="Arial" pitchFamily="34" charset="-120"/>
                        </a:rPr>
                        <a:t>State / action</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Test pages</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scheduled-publish-test (live), scheduled-cancel-test (preview), sched-frag-page + fragment (live), sched-asset-page (unpublished), expiry-test.pdf (preview), expiry-test-page (not previewed)</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Schedule sheet</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5 past Ema rows (row 6 removed by the user, 22 Oct): clear before real use</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Coworker side effect</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8 adventure pages re-previewed (no live change)</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Sitemap</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Update the origin to the correct host</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r h="0">
                <a:tc>
                  <a:txBody>
                    <a:bodyPr/>
                    <a:lstStyle/>
                    <a:p>
                      <a:pPr indent="0" marL="0">
                        <a:buNone/>
                      </a:pPr>
                      <a:r>
                        <a:rPr lang="en-US" sz="1100" dirty="0">
                          <a:solidFill>
                            <a:srgbClr val="2C2C2C"/>
                          </a:solidFill>
                          <a:latin typeface="Arial" pitchFamily="34" charset="0"/>
                          <a:ea typeface="Arial" pitchFamily="34" charset="-122"/>
                          <a:cs typeface="Arial" pitchFamily="34" charset="-120"/>
                        </a:rPr>
                        <a:t>To validate</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1100" dirty="0">
                          <a:solidFill>
                            <a:srgbClr val="2C2C2C"/>
                          </a:solidFill>
                          <a:latin typeface="Arial" pitchFamily="34" charset="0"/>
                          <a:ea typeface="Arial" pitchFamily="34" charset="-122"/>
                          <a:cs typeface="Arial" pitchFamily="34" charset="-120"/>
                        </a:rPr>
                        <a:t>PDF scheduled unpublish · snapshot scheduling · AEM Assets integration · Coworker re-test</a:t>
                      </a:r>
                      <a:endParaRPr lang="en-US" sz="11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Adobe">    </p:cNvPr>
          <p:cNvPicPr>
            <a:picLocks noChangeAspect="1"/>
          </p:cNvPicPr>
          <p:nvPr/>
        </p:nvPicPr>
        <p:blipFill>
          <a:blip r:embed="rId1"/>
          <a:stretch>
            <a:fillRect/>
          </a:stretch>
        </p:blipFill>
        <p:spPr>
          <a:xfrm>
            <a:off x="10588752" y="292608"/>
            <a:ext cx="1133856" cy="274320"/>
          </a:xfrm>
          <a:prstGeom prst="rect">
            <a:avLst/>
          </a:prstGeom>
        </p:spPr>
      </p:pic>
      <p:sp>
        <p:nvSpPr>
          <p:cNvPr id="3" name="Text 0"/>
          <p:cNvSpPr/>
          <p:nvPr/>
        </p:nvSpPr>
        <p:spPr>
          <a:xfrm>
            <a:off x="457200" y="274320"/>
            <a:ext cx="9144000" cy="274320"/>
          </a:xfrm>
          <a:prstGeom prst="rect">
            <a:avLst/>
          </a:prstGeom>
          <a:noFill/>
          <a:ln/>
        </p:spPr>
        <p:txBody>
          <a:bodyPr wrap="square" rtlCol="0" anchor="ctr"/>
          <a:lstStyle/>
          <a:p>
            <a:pPr indent="0" marL="0">
              <a:buNone/>
            </a:pPr>
            <a:r>
              <a:rPr lang="en-US" sz="1100" b="1" spc="100" kern="0" dirty="0">
                <a:solidFill>
                  <a:srgbClr val="EB1000"/>
                </a:solidFill>
                <a:latin typeface="Arial" pitchFamily="34" charset="0"/>
                <a:ea typeface="Arial" pitchFamily="34" charset="-122"/>
                <a:cs typeface="Arial" pitchFamily="34" charset="-120"/>
              </a:rPr>
              <a:t>APPENDIX A10</a:t>
            </a:r>
            <a:endParaRPr lang="en-US" sz="1100" dirty="0"/>
          </a:p>
        </p:txBody>
      </p:sp>
      <p:sp>
        <p:nvSpPr>
          <p:cNvPr id="4" name="Text 1"/>
          <p:cNvSpPr/>
          <p:nvPr/>
        </p:nvSpPr>
        <p:spPr>
          <a:xfrm>
            <a:off x="457200" y="566928"/>
            <a:ext cx="10241280" cy="640080"/>
          </a:xfrm>
          <a:prstGeom prst="rect">
            <a:avLst/>
          </a:prstGeom>
          <a:noFill/>
          <a:ln/>
        </p:spPr>
        <p:txBody>
          <a:bodyPr wrap="square" rtlCol="0" anchor="ctr"/>
          <a:lstStyle/>
          <a:p>
            <a:pPr indent="0" marL="0">
              <a:buNone/>
            </a:pPr>
            <a:r>
              <a:rPr lang="en-US" sz="2600" b="1" dirty="0">
                <a:solidFill>
                  <a:srgbClr val="2C2C2C"/>
                </a:solidFill>
                <a:latin typeface="Arial" pitchFamily="34" charset="0"/>
                <a:ea typeface="Arial" pitchFamily="34" charset="-122"/>
                <a:cs typeface="Arial" pitchFamily="34" charset="-120"/>
              </a:rPr>
              <a:t>Figure index: screenshots to evidence files and tests</a:t>
            </a:r>
            <a:endParaRPr lang="en-US" sz="2600" dirty="0"/>
          </a:p>
        </p:txBody>
      </p:sp>
      <p:sp>
        <p:nvSpPr>
          <p:cNvPr id="5" name="Shape 2"/>
          <p:cNvSpPr/>
          <p:nvPr/>
        </p:nvSpPr>
        <p:spPr>
          <a:xfrm>
            <a:off x="457200" y="1243584"/>
            <a:ext cx="1097280" cy="54864"/>
          </a:xfrm>
          <a:prstGeom prst="rect">
            <a:avLst/>
          </a:prstGeom>
          <a:solidFill>
            <a:srgbClr val="EB1000"/>
          </a:solidFill>
          <a:ln w="12700">
            <a:solidFill>
              <a:srgbClr val="EB1000"/>
            </a:solidFill>
            <a:prstDash val="solid"/>
          </a:ln>
        </p:spPr>
      </p:sp>
      <p:sp>
        <p:nvSpPr>
          <p:cNvPr id="6" name="Text 3"/>
          <p:cNvSpPr/>
          <p:nvPr/>
        </p:nvSpPr>
        <p:spPr>
          <a:xfrm>
            <a:off x="457200" y="6446520"/>
            <a:ext cx="7315200" cy="274320"/>
          </a:xfrm>
          <a:prstGeom prst="rect">
            <a:avLst/>
          </a:prstGeom>
          <a:noFill/>
          <a:ln/>
        </p:spPr>
        <p:txBody>
          <a:bodyPr wrap="square" rtlCol="0" anchor="ctr"/>
          <a:lstStyle/>
          <a:p>
            <a:pPr indent="0" marL="0">
              <a:buNone/>
            </a:pPr>
            <a:r>
              <a:rPr lang="en-US" sz="900" dirty="0">
                <a:solidFill>
                  <a:srgbClr val="6E6E6E"/>
                </a:solidFill>
                <a:latin typeface="Arial" pitchFamily="34" charset="0"/>
                <a:ea typeface="Arial" pitchFamily="34" charset="-122"/>
                <a:cs typeface="Arial" pitchFamily="34" charset="-120"/>
              </a:rPr>
              <a:t>© 2026 Adobe. All Rights Reserved. Adobe Confidential.</a:t>
            </a:r>
            <a:endParaRPr lang="en-US" sz="900" dirty="0"/>
          </a:p>
        </p:txBody>
      </p:sp>
      <p:sp>
        <p:nvSpPr>
          <p:cNvPr id="7" name="Text 4"/>
          <p:cNvSpPr/>
          <p:nvPr/>
        </p:nvSpPr>
        <p:spPr>
          <a:xfrm>
            <a:off x="11274552" y="6446520"/>
            <a:ext cx="457200" cy="274320"/>
          </a:xfrm>
          <a:prstGeom prst="rect">
            <a:avLst/>
          </a:prstGeom>
          <a:noFill/>
          <a:ln/>
        </p:spPr>
        <p:txBody>
          <a:bodyPr wrap="square" rtlCol="0" anchor="ctr"/>
          <a:lstStyle/>
          <a:p>
            <a:pPr algn="r" indent="0" marL="0">
              <a:buNone/>
            </a:pPr>
            <a:r>
              <a:rPr lang="en-US" sz="900" dirty="0">
                <a:solidFill>
                  <a:srgbClr val="6E6E6E"/>
                </a:solidFill>
                <a:latin typeface="Arial" pitchFamily="34" charset="0"/>
                <a:ea typeface="Arial" pitchFamily="34" charset="-122"/>
                <a:cs typeface="Arial" pitchFamily="34" charset="-120"/>
              </a:rPr>
              <a:t>27</a:t>
            </a:r>
            <a:endParaRPr lang="en-US" sz="9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457200" y="1463040"/>
          <a:ext cx="5532120" cy="914400"/>
        </p:xfrm>
        <a:graphic>
          <a:graphicData uri="http://schemas.openxmlformats.org/drawingml/2006/table">
            <a:tbl>
              <a:tblPr/>
              <a:tblGrid>
                <a:gridCol w="457200"/>
                <a:gridCol w="502920"/>
                <a:gridCol w="3794760"/>
                <a:gridCol w="777240"/>
              </a:tblGrid>
              <a:tr h="0">
                <a:tc>
                  <a:txBody>
                    <a:bodyPr/>
                    <a:lstStyle/>
                    <a:p>
                      <a:pPr indent="0" marL="0">
                        <a:buNone/>
                      </a:pPr>
                      <a:r>
                        <a:rPr lang="en-US" sz="900" b="1" dirty="0">
                          <a:solidFill>
                            <a:srgbClr val="FFFFFF"/>
                          </a:solidFill>
                          <a:latin typeface="Arial" pitchFamily="34" charset="0"/>
                          <a:ea typeface="Arial" pitchFamily="34" charset="-122"/>
                          <a:cs typeface="Arial" pitchFamily="34" charset="-120"/>
                        </a:rPr>
                        <a:t>Fig.</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Slide</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Shows</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Test</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r>
              <a:tr h="0">
                <a:tc>
                  <a:txBody>
                    <a:bodyPr/>
                    <a:lstStyle/>
                    <a:p>
                      <a:pPr indent="0" marL="0">
                        <a:buNone/>
                      </a:pPr>
                      <a:r>
                        <a:rPr lang="en-US" sz="900" dirty="0">
                          <a:solidFill>
                            <a:srgbClr val="2C2C2C"/>
                          </a:solidFill>
                          <a:latin typeface="Arial" pitchFamily="34" charset="0"/>
                          <a:ea typeface="Arial" pitchFamily="34" charset="-122"/>
                          <a:cs typeface="Arial" pitchFamily="34" charset="-120"/>
                        </a:rPr>
                        <a:t>1</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Site config before setup (empty)</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M0</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900" dirty="0">
                          <a:solidFill>
                            <a:srgbClr val="2C2C2C"/>
                          </a:solidFill>
                          <a:latin typeface="Arial" pitchFamily="34" charset="0"/>
                          <a:ea typeface="Arial" pitchFamily="34" charset="-122"/>
                          <a:cs typeface="Arial" pitchFamily="34" charset="-120"/>
                        </a:rPr>
                        <a:t>2</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Switch 1: "prepare" row added</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M1</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r h="0">
                <a:tc>
                  <a:txBody>
                    <a:bodyPr/>
                    <a:lstStyle/>
                    <a:p>
                      <a:pPr indent="0" marL="0">
                        <a:buNone/>
                      </a:pPr>
                      <a:r>
                        <a:rPr lang="en-US" sz="900" dirty="0">
                          <a:solidFill>
                            <a:srgbClr val="2C2C2C"/>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Scheduler app: site not registered</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M2a</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900" dirty="0">
                          <a:solidFill>
                            <a:srgbClr val="2C2C2C"/>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4</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Switch 2: site registered (empty queue)</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M2b</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r h="0">
                <a:tc>
                  <a:txBody>
                    <a:bodyPr/>
                    <a:lstStyle/>
                    <a:p>
                      <a:pPr indent="0" marL="0">
                        <a:buNone/>
                      </a:pPr>
                      <a:r>
                        <a:rPr lang="en-US" sz="900" dirty="0">
                          <a:solidFill>
                            <a:srgbClr val="2C2C2C"/>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Prepare menu with Schedule Publish</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M3</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900" dirty="0">
                          <a:solidFill>
                            <a:srgbClr val="2C2C2C"/>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Schedule dialog with browser time zone</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M5</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r h="0">
                <a:tc>
                  <a:txBody>
                    <a:bodyPr/>
                    <a:lstStyle/>
                    <a:p>
                      <a:pPr indent="0" marL="0">
                        <a:buNone/>
                      </a:pPr>
                      <a:r>
                        <a:rPr lang="en-US" sz="900" dirty="0">
                          <a:solidFill>
                            <a:srgbClr val="2C2C2C"/>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Editor: V1 + V2 (V2 not previewed)</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M7</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900" dirty="0">
                          <a:solidFill>
                            <a:srgbClr val="2C2C2C"/>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Live page: V1 only</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M9</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r h="0">
                <a:tc>
                  <a:txBody>
                    <a:bodyPr/>
                    <a:lstStyle/>
                    <a:p>
                      <a:pPr indent="0" marL="0">
                        <a:buNone/>
                      </a:pPr>
                      <a:r>
                        <a:rPr lang="en-US" sz="900" dirty="0">
                          <a:solidFill>
                            <a:srgbClr val="2C2C2C"/>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Queue with the pending job</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M11</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900" dirty="0">
                          <a:solidFill>
                            <a:srgbClr val="2C2C2C"/>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Queue empty after Delete</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M14</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r h="0">
                <a:tc>
                  <a:txBody>
                    <a:bodyPr/>
                    <a:lstStyle/>
                    <a:p>
                      <a:pPr indent="0" marL="0">
                        <a:buNone/>
                      </a:pPr>
                      <a:r>
                        <a:rPr lang="en-US" sz="900" dirty="0">
                          <a:solidFill>
                            <a:srgbClr val="2C2C2C"/>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7</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Cancelled page still not live (404)</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M14</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bl>
          </a:graphicData>
        </a:graphic>
      </p:graphicFrame>
      <p:graphicFrame>
        <p:nvGraphicFramePr>
          <p:cNvPr id="55" name="Table 1"/>
          <p:cNvGraphicFramePr>
            <a:graphicFrameLocks noGrp="1"/>
          </p:cNvGraphicFramePr>
          <p:nvPr>
            <p:extLst>
              <p:ext uri="{D42A27DB-BD31-4B8C-83A1-F6EECF244321}">
                <p14:modId xmlns:p14="http://schemas.microsoft.com/office/powerpoint/2010/main" val="1579011935"/>
              </p:ext>
            </p:extLst>
          </p:nvPr>
        </p:nvGraphicFramePr>
        <p:xfrm>
          <a:off x="6217920" y="1463040"/>
          <a:ext cx="5532120" cy="914400"/>
        </p:xfrm>
        <a:graphic>
          <a:graphicData uri="http://schemas.openxmlformats.org/drawingml/2006/table">
            <a:tbl>
              <a:tblPr/>
              <a:tblGrid>
                <a:gridCol w="457200"/>
                <a:gridCol w="502920"/>
                <a:gridCol w="3794760"/>
                <a:gridCol w="777240"/>
              </a:tblGrid>
              <a:tr h="0">
                <a:tc>
                  <a:txBody>
                    <a:bodyPr/>
                    <a:lstStyle/>
                    <a:p>
                      <a:pPr indent="0" marL="0">
                        <a:buNone/>
                      </a:pPr>
                      <a:r>
                        <a:rPr lang="en-US" sz="900" b="1" dirty="0">
                          <a:solidFill>
                            <a:srgbClr val="FFFFFF"/>
                          </a:solidFill>
                          <a:latin typeface="Arial" pitchFamily="34" charset="0"/>
                          <a:ea typeface="Arial" pitchFamily="34" charset="-122"/>
                          <a:cs typeface="Arial" pitchFamily="34" charset="-120"/>
                        </a:rPr>
                        <a:t>Fig.</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Slide</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Shows</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Test</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B1000"/>
                    </a:solidFill>
                  </a:tcPr>
                </a:tc>
              </a:tr>
              <a:tr h="0">
                <a:tc>
                  <a:txBody>
                    <a:bodyPr/>
                    <a:lstStyle/>
                    <a:p>
                      <a:pPr indent="0" marL="0">
                        <a:buNone/>
                      </a:pPr>
                      <a:r>
                        <a:rPr lang="en-US" sz="900" dirty="0">
                          <a:solidFill>
                            <a:srgbClr val="2C2C2C"/>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Schedule sheet with Ema's 5 rows</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T1–T5</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900" dirty="0">
                          <a:solidFill>
                            <a:srgbClr val="2C2C2C"/>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Coworker: "I cannot schedule"</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W3–W4</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r h="0">
                <a:tc>
                  <a:txBody>
                    <a:bodyPr/>
                    <a:lstStyle/>
                    <a:p>
                      <a:pPr indent="0" marL="0">
                        <a:buNone/>
                      </a:pPr>
                      <a:r>
                        <a:rPr lang="en-US" sz="900" dirty="0">
                          <a:solidFill>
                            <a:srgbClr val="2C2C2C"/>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11</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Coworker: sheet errors and a past date</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W5–W6</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900" dirty="0">
                          <a:solidFill>
                            <a:srgbClr val="2C2C2C"/>
                          </a:solidFill>
                          <a:latin typeface="Arial" pitchFamily="34" charset="0"/>
                          <a:ea typeface="Arial" pitchFamily="34" charset="-122"/>
                          <a:cs typeface="Arial" pitchFamily="34" charset="-120"/>
                        </a:rPr>
                        <a:t>15</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Page not found after Unpublish</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B5</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r h="0">
                <a:tc>
                  <a:txBody>
                    <a:bodyPr/>
                    <a:lstStyle/>
                    <a:p>
                      <a:pPr indent="0" marL="0">
                        <a:buNone/>
                      </a:pPr>
                      <a:r>
                        <a:rPr lang="en-US" sz="900" dirty="0">
                          <a:solidFill>
                            <a:srgbClr val="2C2C2C"/>
                          </a:solidFill>
                          <a:latin typeface="Arial" pitchFamily="34" charset="0"/>
                          <a:ea typeface="Arial" pitchFamily="34" charset="-122"/>
                          <a:cs typeface="Arial" pitchFamily="34" charset="-120"/>
                        </a:rPr>
                        <a:t>16</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13</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The page's image still loads</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B5</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900" dirty="0">
                          <a:solidFill>
                            <a:srgbClr val="2C2C2C"/>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Preview: fragment not loaded</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A3</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r h="0">
                <a:tc>
                  <a:txBody>
                    <a:bodyPr/>
                    <a:lstStyle/>
                    <a:p>
                      <a:pPr indent="0" marL="0">
                        <a:buNone/>
                      </a:pPr>
                      <a:r>
                        <a:rPr lang="en-US" sz="900" dirty="0">
                          <a:solidFill>
                            <a:srgbClr val="2C2C2C"/>
                          </a:solidFill>
                          <a:latin typeface="Arial" pitchFamily="34" charset="0"/>
                          <a:ea typeface="Arial" pitchFamily="34" charset="-122"/>
                          <a:cs typeface="Arial" pitchFamily="34" charset="-120"/>
                        </a:rPr>
                        <a:t>18</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Live: page published before its fragment</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A5</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900" dirty="0">
                          <a:solidFill>
                            <a:srgbClr val="2C2C2C"/>
                          </a:solidFill>
                          <a:latin typeface="Arial" pitchFamily="34" charset="0"/>
                          <a:ea typeface="Arial" pitchFamily="34" charset="-122"/>
                          <a:cs typeface="Arial" pitchFamily="34" charset="-120"/>
                        </a:rPr>
                        <a:t>19</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Live: fixed once the fragment was published</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A10</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r h="0">
                <a:tc>
                  <a:txBody>
                    <a:bodyPr/>
                    <a:lstStyle/>
                    <a:p>
                      <a:pPr indent="0" marL="0">
                        <a:buNone/>
                      </a:pPr>
                      <a:r>
                        <a:rPr lang="en-US" sz="900" dirty="0">
                          <a:solidFill>
                            <a:srgbClr val="2C2C2C"/>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15</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PDF with its own Preview / Publish</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X1b</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tcPr>
                </a:tc>
              </a:tr>
              <a:tr h="0">
                <a:tc>
                  <a:txBody>
                    <a:bodyPr/>
                    <a:lstStyle/>
                    <a:p>
                      <a:pPr indent="0" marL="0">
                        <a:buNone/>
                      </a:pPr>
                      <a:r>
                        <a:rPr lang="en-US" sz="900" dirty="0">
                          <a:solidFill>
                            <a:srgbClr val="2C2C2C"/>
                          </a:solidFill>
                          <a:latin typeface="Arial" pitchFamily="34" charset="0"/>
                          <a:ea typeface="Arial" pitchFamily="34" charset="-122"/>
                          <a:cs typeface="Arial" pitchFamily="34" charset="-120"/>
                        </a:rPr>
                        <a:t>21</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15</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PDF Prepare menu (no scheduled unpublish)</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c>
                  <a:txBody>
                    <a:bodyPr/>
                    <a:lstStyle/>
                    <a:p>
                      <a:pPr indent="0" marL="0">
                        <a:buNone/>
                      </a:pPr>
                      <a:r>
                        <a:rPr lang="en-US" sz="900" dirty="0">
                          <a:solidFill>
                            <a:srgbClr val="2C2C2C"/>
                          </a:solidFill>
                          <a:latin typeface="Arial" pitchFamily="34" charset="0"/>
                          <a:ea typeface="Arial" pitchFamily="34" charset="-122"/>
                          <a:cs typeface="Arial" pitchFamily="34" charset="-120"/>
                        </a:rPr>
                        <a:t>X1c</a:t>
                      </a:r>
                      <a:endParaRPr lang="en-US" sz="900" dirty="0">
                        <a:latin typeface="Arial" charset="0"/>
                        <a:ea typeface="Arial" charset="0"/>
                        <a:cs typeface="Arial" charset="0"/>
                      </a:endParaRPr>
                    </a:p>
                  </a:txBody>
                  <a:tcPr marL="63500" marR="635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5F5F5"/>
                    </a:solidFill>
                  </a:tcPr>
                </a:tc>
              </a:tr>
            </a:tbl>
          </a:graphicData>
        </a:graphic>
      </p:graphicFrame>
      <p:sp>
        <p:nvSpPr>
          <p:cNvPr id="10" name="Text 5"/>
          <p:cNvSpPr/>
          <p:nvPr/>
        </p:nvSpPr>
        <p:spPr>
          <a:xfrm>
            <a:off x="457200" y="6035040"/>
            <a:ext cx="11247120" cy="274320"/>
          </a:xfrm>
          <a:prstGeom prst="rect">
            <a:avLst/>
          </a:prstGeom>
          <a:noFill/>
          <a:ln/>
        </p:spPr>
        <p:txBody>
          <a:bodyPr wrap="square" rtlCol="0" anchor="ctr"/>
          <a:lstStyle/>
          <a:p>
            <a:pPr indent="0" marL="0">
              <a:buNone/>
            </a:pPr>
            <a:r>
              <a:rPr lang="en-US" sz="900" dirty="0">
                <a:solidFill>
                  <a:srgbClr val="6E6E6E"/>
                </a:solidFill>
                <a:latin typeface="Arial" pitchFamily="34" charset="0"/>
                <a:ea typeface="Arial" pitchFamily="34" charset="-122"/>
                <a:cs typeface="Arial" pitchFamily="34" charset="-120"/>
              </a:rPr>
              <a:t>Evidence files: testing/scheduler/evidence/ · Test IDs: M = manual, T = Ema, W = Workspace, A = fragment, B = image, X = expiry (see A2–A7)</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Adobe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Scheduled Publishing in Edge Delivery Services</dc:title>
  <dc:subject>EDS scheduled publishing: manual, Ema and Experience Workspace, tested 19–22 Oct 2026</dc:subject>
  <dc:creator>ALAN RAJI MANI</dc:creator>
  <cp:lastModifiedBy>ALAN RAJI MANI</cp:lastModifiedBy>
  <cp:revision>1</cp:revision>
  <dcterms:created xsi:type="dcterms:W3CDTF">2026-10-22T19:19:51Z</dcterms:created>
  <dcterms:modified xsi:type="dcterms:W3CDTF">2026-10-22T19:19:51Z</dcterms:modified>
</cp:coreProperties>
</file>